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g499cJR1prZeQkuWnjZ7o5HYmN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B1848E-5290-4C2E-B867-DF8F752D7E5F}">
  <a:tblStyle styleId="{36B1848E-5290-4C2E-B867-DF8F752D7E5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Splash como proyecto Capstone de Ingeniería en Informática.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Logo Duoc UC e información del proyecto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6" name="Google Shape;106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08" name="Google Shape;108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5" name="Google Shape;145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6" name="Google Shape;146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48" name="Google Shape;148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9" name="Google Shape;149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4" name="Google Shape;19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5" name="Google Shape;19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97" name="Google Shape;19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8" name="Google Shape;19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3" name="Google Shape;243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4" name="Google Shape;244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246" name="Google Shape;246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7" name="Google Shape;247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2" name="Google Shape;292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3" name="Google Shape;293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295" name="Google Shape;295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6" name="Google Shape;296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2" name="Google Shape;542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43" name="Google Shape;543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Leer el flujo como una serpiente: fila superior de izquierda a derecha, bajar desde el paso 5 al 6 y continuar de derecha a izquierda hasta el paso 10.</a:t>
            </a:r>
            <a:endParaRPr/>
          </a:p>
        </p:txBody>
      </p:sp>
      <p:sp>
        <p:nvSpPr>
          <p:cNvPr id="545" name="Google Shape;545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6" name="Google Shape;546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7" name="Google Shape;597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98" name="Google Shape;598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600" name="Google Shape;600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1" name="Google Shape;601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6" name="Google Shape;636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37" name="Google Shape;637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639" name="Google Shape;639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40" name="Google Shape;640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09" name="Google Shape;709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10" name="Google Shape;710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712" name="Google Shape;712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3" name="Google Shape;713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61" name="Google Shape;761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62" name="Google Shape;762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764" name="Google Shape;764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65" name="Google Shape;765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40" name="Google Shape;840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41" name="Google Shape;841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Documentación Técnica Splash proporcionada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843" name="Google Shape;843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44" name="Google Shape;844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86" name="Google Shape;886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87" name="Google Shape;887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Ley N° 21.719, Biblioteca del Congreso Nacional de Chile: https://www.bcn.cl/leychile/navegar?idNorma=1209272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Decreto N° 12, Diario Oficial, 17-06-2025: confirma entrada en vigencia el 01-12-2026.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889" name="Google Shape;889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90" name="Google Shape;890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38" name="Google Shape;938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39" name="Google Shape;939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941" name="Google Shape;941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42" name="Google Shape;942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54" name="Google Shape;954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55" name="Google Shape;955;p1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6" name="Google Shape;956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957" name="Google Shape;957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58" name="Google Shape;958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06" name="Google Shape;1006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07" name="Google Shape;1007;p1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009" name="Google Shape;1009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10" name="Google Shape;1010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f9b34f8030_3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23" name="Google Shape;1023;g3f9b34f8030_3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24" name="Google Shape;1024;g3f9b34f8030_3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5" name="Google Shape;1025;g3f9b34f8030_3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026" name="Google Shape;1026;g3f9b34f8030_3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27" name="Google Shape;1027;g3f9b34f8030_3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33" name="Google Shape;1033;p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34" name="Google Shape;1034;p1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5" name="Google Shape;1035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036" name="Google Shape;1036;p1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37" name="Google Shape;1037;p1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f9b34f8030_3_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0" name="Google Shape;1050;g3f9b34f8030_3_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51" name="Google Shape;1051;g3f9b34f8030_3_17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g3f9b34f8030_3_1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053" name="Google Shape;1053;g3f9b34f8030_3_17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4" name="Google Shape;1054;g3f9b34f8030_3_1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67" name="Google Shape;1067;p2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68" name="Google Shape;1068;p2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9" name="Google Shape;1069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070" name="Google Shape;1070;p2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71" name="Google Shape;1071;p2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f9b34f8030_3_3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84" name="Google Shape;1084;g3f9b34f8030_3_3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85" name="Google Shape;1085;g3f9b34f8030_3_34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6" name="Google Shape;1086;g3f9b34f8030_3_34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087" name="Google Shape;1087;g3f9b34f8030_3_34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88" name="Google Shape;1088;g3f9b34f8030_3_34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2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01" name="Google Shape;1101;p2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2" name="Google Shape;1102;p2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104" name="Google Shape;1104;p2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05" name="Google Shape;1105;p2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f9b34f8030_3_5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18" name="Google Shape;1118;g3f9b34f8030_3_5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19" name="Google Shape;1119;g3f9b34f8030_3_5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0" name="Google Shape;1120;g3f9b34f8030_3_5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121" name="Google Shape;1121;g3f9b34f8030_3_5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22" name="Google Shape;1122;g3f9b34f8030_3_5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35" name="Google Shape;1135;p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36" name="Google Shape;1136;p2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" name="Google Shape;1137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138" name="Google Shape;1138;p2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39" name="Google Shape;1139;p2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f9b34f8030_3_6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52" name="Google Shape;1152;g3f9b34f8030_3_6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53" name="Google Shape;1153;g3f9b34f8030_3_6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4" name="Google Shape;1154;g3f9b34f8030_3_6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155" name="Google Shape;1155;g3f9b34f8030_3_6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56" name="Google Shape;1156;g3f9b34f8030_3_6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69" name="Google Shape;1169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70" name="Google Shape;1170;p2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Plan del Proyecto Splash, Documentación Técnica y caso de negocio proporcionados por el equipo.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172" name="Google Shape;1172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73" name="Google Shape;1173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2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314325" cy="10287000"/>
          </a:xfrm>
          <a:custGeom>
            <a:rect b="b" l="l" r="r" t="t"/>
            <a:pathLst>
              <a:path extrusionOk="0" h="13716000" w="419100">
                <a:moveTo>
                  <a:pt x="0" y="0"/>
                </a:moveTo>
                <a:lnTo>
                  <a:pt x="419100" y="0"/>
                </a:lnTo>
                <a:lnTo>
                  <a:pt x="4191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14325" y="0"/>
            <a:ext cx="100012" cy="10287000"/>
          </a:xfrm>
          <a:custGeom>
            <a:rect b="b" l="l" r="r" t="t"/>
            <a:pathLst>
              <a:path extrusionOk="0" h="13716000" w="133350">
                <a:moveTo>
                  <a:pt x="0" y="0"/>
                </a:moveTo>
                <a:lnTo>
                  <a:pt x="133350" y="0"/>
                </a:lnTo>
                <a:lnTo>
                  <a:pt x="1333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9B71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114425" y="830161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263015" y="2436495"/>
            <a:ext cx="8389620" cy="446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PROPUESTA DE PROYECTO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205865" y="2974658"/>
            <a:ext cx="11961495" cy="155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Splash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263015" y="4632008"/>
            <a:ext cx="13818870" cy="751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Plataforma digital escalable para gestionar servicios a domicilio</a:t>
            </a:r>
            <a:endParaRPr/>
          </a:p>
        </p:txBody>
      </p:sp>
      <p:cxnSp>
        <p:nvCxnSpPr>
          <p:cNvPr id="98" name="Google Shape;98;p1"/>
          <p:cNvCxnSpPr/>
          <p:nvPr/>
        </p:nvCxnSpPr>
        <p:spPr>
          <a:xfrm rot="3120">
            <a:off x="1164431" y="5810250"/>
            <a:ext cx="15873422" cy="0"/>
          </a:xfrm>
          <a:prstGeom prst="straightConnector1">
            <a:avLst/>
          </a:prstGeom>
          <a:noFill/>
          <a:ln cap="rnd" cmpd="sng" w="9525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"/>
          <p:cNvSpPr txBox="1"/>
          <p:nvPr/>
        </p:nvSpPr>
        <p:spPr>
          <a:xfrm>
            <a:off x="1263015" y="6408420"/>
            <a:ext cx="10675620" cy="446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 ·  Capstone PTY4614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263015" y="7375207"/>
            <a:ext cx="253174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263015" y="7880032"/>
            <a:ext cx="143903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Paul Carrillo · Kevin Iturra · Daniel Elgueta · Diego Cortes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263015" y="8970645"/>
            <a:ext cx="6960870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29 de agosto 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720215" y="871496"/>
            <a:ext cx="9818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B5A91"/>
                </a:solidFill>
              </a:rPr>
              <a:t>ÍNDICE</a:t>
            </a:r>
            <a:endParaRPr sz="1850"/>
          </a:p>
        </p:txBody>
      </p:sp>
      <p:sp>
        <p:nvSpPr>
          <p:cNvPr id="113" name="Google Shape;113;p2"/>
          <p:cNvSpPr txBox="1"/>
          <p:nvPr/>
        </p:nvSpPr>
        <p:spPr>
          <a:xfrm>
            <a:off x="1120140" y="1322070"/>
            <a:ext cx="1410462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Estructura de la presentación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120140" y="2098358"/>
            <a:ext cx="15247620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Cada sección desarrolla un aspecto requerido para evaluar la propuesta y su ejecución.</a:t>
            </a:r>
            <a:endParaRPr/>
          </a:p>
        </p:txBody>
      </p:sp>
      <p:cxnSp>
        <p:nvCxnSpPr>
          <p:cNvPr id="115" name="Google Shape;115;p2"/>
          <p:cNvCxnSpPr/>
          <p:nvPr/>
        </p:nvCxnSpPr>
        <p:spPr>
          <a:xfrm rot="5390580">
            <a:off x="6500803" y="5603081"/>
            <a:ext cx="5229244" cy="0"/>
          </a:xfrm>
          <a:prstGeom prst="straightConnector1">
            <a:avLst/>
          </a:prstGeom>
          <a:noFill/>
          <a:ln cap="rnd" cmpd="sng" w="9525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2"/>
          <p:cNvSpPr txBox="1"/>
          <p:nvPr/>
        </p:nvSpPr>
        <p:spPr>
          <a:xfrm>
            <a:off x="1405890" y="300799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2191702" y="2993708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405890" y="386524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2191702" y="3850958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405890" y="472249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2191702" y="4708208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1405890" y="557974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2191702" y="5565458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405890" y="643699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2191702" y="6422708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Alcance MVP / Flujo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1405890" y="729424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2191702" y="7279957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Metodología / Arquitectura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9806940" y="300799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0592752" y="2993708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Competencias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9806940" y="386524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592752" y="3850958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Modelo de Negocio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9806940" y="472249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0592752" y="4708208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9806940" y="557974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0592752" y="5565458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9806940" y="643699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10592752" y="6422708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9806940" y="7294245"/>
            <a:ext cx="47434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9B71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0592752" y="7279957"/>
            <a:ext cx="6246495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Conclusión / Proyección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120140" y="9661207"/>
            <a:ext cx="1124712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15950565" y="9661207"/>
            <a:ext cx="1102995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42" name="Google Shape;142;p2"/>
          <p:cNvSpPr/>
          <p:nvPr/>
        </p:nvSpPr>
        <p:spPr>
          <a:xfrm>
            <a:off x="13863923" y="551555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p3"/>
          <p:cNvGrpSpPr/>
          <p:nvPr/>
        </p:nvGrpSpPr>
        <p:grpSpPr>
          <a:xfrm>
            <a:off x="1865376" y="850392"/>
            <a:ext cx="8229600" cy="480060"/>
            <a:chOff x="0" y="0"/>
            <a:chExt cx="10972800" cy="640080"/>
          </a:xfrm>
        </p:grpSpPr>
        <p:sp>
          <p:nvSpPr>
            <p:cNvPr id="153" name="Google Shape;153;p3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 txBox="1"/>
            <p:nvPr/>
          </p:nvSpPr>
          <p:spPr>
            <a:xfrm>
              <a:off x="0" y="0"/>
              <a:ext cx="10972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INTRODUCCIÓN</a:t>
              </a:r>
              <a:endParaRPr/>
            </a:p>
          </p:txBody>
        </p:sp>
      </p:grpSp>
      <p:sp>
        <p:nvSpPr>
          <p:cNvPr id="155" name="Google Shape;155;p3"/>
          <p:cNvSpPr txBox="1"/>
          <p:nvPr/>
        </p:nvSpPr>
        <p:spPr>
          <a:xfrm>
            <a:off x="1234440" y="1389507"/>
            <a:ext cx="15773400" cy="1518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Splash valida un modelo escalable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1234440" y="2352675"/>
            <a:ext cx="15636240" cy="1282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El lavado de vehículos es la primera vertical para probar una operación digital que después puede reutilizarse en otros servicios bajo demanda.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1224915" y="3762375"/>
            <a:ext cx="5135118" cy="2076450"/>
          </a:xfrm>
          <a:custGeom>
            <a:rect b="b" l="l" r="r" t="t"/>
            <a:pathLst>
              <a:path extrusionOk="0" h="2768600" w="6846824">
                <a:moveTo>
                  <a:pt x="0" y="249174"/>
                </a:moveTo>
                <a:cubicBezTo>
                  <a:pt x="0" y="111506"/>
                  <a:pt x="111506" y="0"/>
                  <a:pt x="249174" y="0"/>
                </a:cubicBezTo>
                <a:lnTo>
                  <a:pt x="6597650" y="0"/>
                </a:lnTo>
                <a:cubicBezTo>
                  <a:pt x="6735318" y="0"/>
                  <a:pt x="6846824" y="111506"/>
                  <a:pt x="6846824" y="249174"/>
                </a:cubicBezTo>
                <a:lnTo>
                  <a:pt x="6846824" y="2519426"/>
                </a:lnTo>
                <a:cubicBezTo>
                  <a:pt x="6846824" y="2657094"/>
                  <a:pt x="6735318" y="2768600"/>
                  <a:pt x="6597650" y="2768600"/>
                </a:cubicBezTo>
                <a:lnTo>
                  <a:pt x="249174" y="2768600"/>
                </a:lnTo>
                <a:cubicBezTo>
                  <a:pt x="111506" y="2768600"/>
                  <a:pt x="0" y="2657094"/>
                  <a:pt x="0" y="2519426"/>
                </a:cubicBezTo>
                <a:close/>
              </a:path>
            </a:pathLst>
          </a:custGeom>
          <a:solidFill>
            <a:srgbClr val="F5F8FC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645920" y="404622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2674620" y="40873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Visión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1645920" y="4859655"/>
            <a:ext cx="432054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Conectar clientes y prestadores en una experiencia simple, segura y trazable.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6574155" y="3762375"/>
            <a:ext cx="5135118" cy="2076450"/>
          </a:xfrm>
          <a:custGeom>
            <a:rect b="b" l="l" r="r" t="t"/>
            <a:pathLst>
              <a:path extrusionOk="0" h="2768600" w="6846824">
                <a:moveTo>
                  <a:pt x="0" y="249174"/>
                </a:moveTo>
                <a:cubicBezTo>
                  <a:pt x="0" y="111506"/>
                  <a:pt x="111506" y="0"/>
                  <a:pt x="249174" y="0"/>
                </a:cubicBezTo>
                <a:lnTo>
                  <a:pt x="6597650" y="0"/>
                </a:lnTo>
                <a:cubicBezTo>
                  <a:pt x="6735318" y="0"/>
                  <a:pt x="6846824" y="111506"/>
                  <a:pt x="6846824" y="249174"/>
                </a:cubicBezTo>
                <a:lnTo>
                  <a:pt x="6846824" y="2519426"/>
                </a:lnTo>
                <a:cubicBezTo>
                  <a:pt x="6846824" y="2657094"/>
                  <a:pt x="6735318" y="2768600"/>
                  <a:pt x="6597650" y="2768600"/>
                </a:cubicBezTo>
                <a:lnTo>
                  <a:pt x="249174" y="2768600"/>
                </a:lnTo>
                <a:cubicBezTo>
                  <a:pt x="111506" y="2768600"/>
                  <a:pt x="0" y="2657094"/>
                  <a:pt x="0" y="2519426"/>
                </a:cubicBezTo>
                <a:close/>
              </a:path>
            </a:pathLst>
          </a:custGeom>
          <a:solidFill>
            <a:srgbClr val="F5F8FC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6995160" y="404622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8023860" y="40873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Piloto inicial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6995160" y="4859655"/>
            <a:ext cx="432054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Validar el modelo con lavado de vehículos a domicilio en zonas acotadas.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11923395" y="3762375"/>
            <a:ext cx="5135118" cy="2076450"/>
          </a:xfrm>
          <a:custGeom>
            <a:rect b="b" l="l" r="r" t="t"/>
            <a:pathLst>
              <a:path extrusionOk="0" h="2768600" w="6846824">
                <a:moveTo>
                  <a:pt x="0" y="249174"/>
                </a:moveTo>
                <a:cubicBezTo>
                  <a:pt x="0" y="111506"/>
                  <a:pt x="111506" y="0"/>
                  <a:pt x="249174" y="0"/>
                </a:cubicBezTo>
                <a:lnTo>
                  <a:pt x="6597650" y="0"/>
                </a:lnTo>
                <a:cubicBezTo>
                  <a:pt x="6735318" y="0"/>
                  <a:pt x="6846824" y="111506"/>
                  <a:pt x="6846824" y="249174"/>
                </a:cubicBezTo>
                <a:lnTo>
                  <a:pt x="6846824" y="2519426"/>
                </a:lnTo>
                <a:cubicBezTo>
                  <a:pt x="6846824" y="2657094"/>
                  <a:pt x="6735318" y="2768600"/>
                  <a:pt x="6597650" y="2768600"/>
                </a:cubicBezTo>
                <a:lnTo>
                  <a:pt x="249174" y="2768600"/>
                </a:lnTo>
                <a:cubicBezTo>
                  <a:pt x="111506" y="2768600"/>
                  <a:pt x="0" y="2657094"/>
                  <a:pt x="0" y="2519426"/>
                </a:cubicBezTo>
                <a:close/>
              </a:path>
            </a:pathLst>
          </a:custGeom>
          <a:solidFill>
            <a:srgbClr val="F5F8FC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12344400" y="404622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13373100" y="40873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12344400" y="4859655"/>
            <a:ext cx="432054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Comprobar adopción, operación, pagos digitales y calidad antes de escalar.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1234440" y="6436995"/>
            <a:ext cx="1508760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64E86"/>
                </a:solidFill>
                <a:latin typeface="Arial"/>
                <a:ea typeface="Arial"/>
                <a:cs typeface="Arial"/>
                <a:sym typeface="Arial"/>
              </a:rPr>
              <a:t>Hipótesis del proyecto</a:t>
            </a:r>
            <a:endParaRPr/>
          </a:p>
        </p:txBody>
      </p:sp>
      <p:grpSp>
        <p:nvGrpSpPr>
          <p:cNvPr id="170" name="Google Shape;170;p3"/>
          <p:cNvGrpSpPr/>
          <p:nvPr/>
        </p:nvGrpSpPr>
        <p:grpSpPr>
          <a:xfrm>
            <a:off x="1234440" y="7132320"/>
            <a:ext cx="3497580" cy="1577340"/>
            <a:chOff x="0" y="0"/>
            <a:chExt cx="4663440" cy="2103120"/>
          </a:xfrm>
        </p:grpSpPr>
        <p:sp>
          <p:nvSpPr>
            <p:cNvPr id="171" name="Google Shape;171;p3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Necesidad</a:t>
              </a:r>
              <a:endParaRPr/>
            </a:p>
          </p:txBody>
        </p:sp>
      </p:grpSp>
      <p:sp>
        <p:nvSpPr>
          <p:cNvPr id="173" name="Google Shape;173;p3"/>
          <p:cNvSpPr/>
          <p:nvPr/>
        </p:nvSpPr>
        <p:spPr>
          <a:xfrm>
            <a:off x="4704588" y="7722108"/>
            <a:ext cx="576072" cy="411480"/>
          </a:xfrm>
          <a:custGeom>
            <a:rect b="b" l="l" r="r" t="t"/>
            <a:pathLst>
              <a:path extrusionOk="0" h="548640" w="768096">
                <a:moveTo>
                  <a:pt x="0" y="123444"/>
                </a:moveTo>
                <a:lnTo>
                  <a:pt x="466344" y="123444"/>
                </a:lnTo>
                <a:lnTo>
                  <a:pt x="466344" y="0"/>
                </a:lnTo>
                <a:lnTo>
                  <a:pt x="768096" y="274320"/>
                </a:lnTo>
                <a:lnTo>
                  <a:pt x="466344" y="548640"/>
                </a:lnTo>
                <a:lnTo>
                  <a:pt x="466344" y="425196"/>
                </a:lnTo>
                <a:lnTo>
                  <a:pt x="0" y="425196"/>
                </a:ln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3"/>
          <p:cNvGrpSpPr/>
          <p:nvPr/>
        </p:nvGrpSpPr>
        <p:grpSpPr>
          <a:xfrm>
            <a:off x="5349240" y="7132320"/>
            <a:ext cx="3497580" cy="1577340"/>
            <a:chOff x="0" y="0"/>
            <a:chExt cx="4663440" cy="2103120"/>
          </a:xfrm>
        </p:grpSpPr>
        <p:sp>
          <p:nvSpPr>
            <p:cNvPr id="175" name="Google Shape;175;p3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164E8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3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Plataforma</a:t>
              </a:r>
              <a:endParaRPr/>
            </a:p>
          </p:txBody>
        </p:sp>
      </p:grpSp>
      <p:sp>
        <p:nvSpPr>
          <p:cNvPr id="177" name="Google Shape;177;p3"/>
          <p:cNvSpPr/>
          <p:nvPr/>
        </p:nvSpPr>
        <p:spPr>
          <a:xfrm>
            <a:off x="8819388" y="7722108"/>
            <a:ext cx="576072" cy="411480"/>
          </a:xfrm>
          <a:custGeom>
            <a:rect b="b" l="l" r="r" t="t"/>
            <a:pathLst>
              <a:path extrusionOk="0" h="548640" w="768096">
                <a:moveTo>
                  <a:pt x="0" y="123444"/>
                </a:moveTo>
                <a:lnTo>
                  <a:pt x="466344" y="123444"/>
                </a:lnTo>
                <a:lnTo>
                  <a:pt x="466344" y="0"/>
                </a:lnTo>
                <a:lnTo>
                  <a:pt x="768096" y="274320"/>
                </a:lnTo>
                <a:lnTo>
                  <a:pt x="466344" y="548640"/>
                </a:lnTo>
                <a:lnTo>
                  <a:pt x="466344" y="425196"/>
                </a:lnTo>
                <a:lnTo>
                  <a:pt x="0" y="425196"/>
                </a:ln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3"/>
          <p:cNvGrpSpPr/>
          <p:nvPr/>
        </p:nvGrpSpPr>
        <p:grpSpPr>
          <a:xfrm>
            <a:off x="9464040" y="7132320"/>
            <a:ext cx="3497580" cy="1577340"/>
            <a:chOff x="0" y="0"/>
            <a:chExt cx="4663440" cy="2103120"/>
          </a:xfrm>
        </p:grpSpPr>
        <p:sp>
          <p:nvSpPr>
            <p:cNvPr id="179" name="Google Shape;179;p3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Validación</a:t>
              </a:r>
              <a:endParaRPr/>
            </a:p>
          </p:txBody>
        </p:sp>
      </p:grpSp>
      <p:sp>
        <p:nvSpPr>
          <p:cNvPr id="181" name="Google Shape;181;p3"/>
          <p:cNvSpPr/>
          <p:nvPr/>
        </p:nvSpPr>
        <p:spPr>
          <a:xfrm>
            <a:off x="12934188" y="7722108"/>
            <a:ext cx="576072" cy="411480"/>
          </a:xfrm>
          <a:custGeom>
            <a:rect b="b" l="l" r="r" t="t"/>
            <a:pathLst>
              <a:path extrusionOk="0" h="548640" w="768096">
                <a:moveTo>
                  <a:pt x="0" y="123444"/>
                </a:moveTo>
                <a:lnTo>
                  <a:pt x="466344" y="123444"/>
                </a:lnTo>
                <a:lnTo>
                  <a:pt x="466344" y="0"/>
                </a:lnTo>
                <a:lnTo>
                  <a:pt x="768096" y="274320"/>
                </a:lnTo>
                <a:lnTo>
                  <a:pt x="466344" y="548640"/>
                </a:lnTo>
                <a:lnTo>
                  <a:pt x="466344" y="425196"/>
                </a:lnTo>
                <a:lnTo>
                  <a:pt x="0" y="425196"/>
                </a:ln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3"/>
          <p:cNvGrpSpPr/>
          <p:nvPr/>
        </p:nvGrpSpPr>
        <p:grpSpPr>
          <a:xfrm>
            <a:off x="13578840" y="7132320"/>
            <a:ext cx="3497580" cy="1577340"/>
            <a:chOff x="0" y="0"/>
            <a:chExt cx="4663440" cy="210312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1687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Escalamiento</a:t>
              </a:r>
              <a:endParaRPr/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1234440" y="9628632"/>
            <a:ext cx="10972800" cy="411480"/>
            <a:chOff x="0" y="0"/>
            <a:chExt cx="14630400" cy="54864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Splash  ·  Capstone PTY4614  ·  Propuesta de proyecto</a:t>
              </a:r>
              <a:endParaRPr/>
            </a:p>
          </p:txBody>
        </p:sp>
      </p:grpSp>
      <p:grpSp>
        <p:nvGrpSpPr>
          <p:cNvPr id="188" name="Google Shape;188;p3"/>
          <p:cNvGrpSpPr/>
          <p:nvPr/>
        </p:nvGrpSpPr>
        <p:grpSpPr>
          <a:xfrm>
            <a:off x="15636240" y="9628632"/>
            <a:ext cx="1412748" cy="411480"/>
            <a:chOff x="0" y="0"/>
            <a:chExt cx="1883664" cy="548640"/>
          </a:xfrm>
        </p:grpSpPr>
        <p:sp>
          <p:nvSpPr>
            <p:cNvPr id="189" name="Google Shape;189;p3"/>
            <p:cNvSpPr/>
            <p:nvPr/>
          </p:nvSpPr>
          <p:spPr>
            <a:xfrm>
              <a:off x="0" y="0"/>
              <a:ext cx="1883664" cy="548640"/>
            </a:xfrm>
            <a:custGeom>
              <a:rect b="b" l="l" r="r" t="t"/>
              <a:pathLst>
                <a:path extrusionOk="0" h="548640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99" l="0" r="0" t="-168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 txBox="1"/>
            <p:nvPr/>
          </p:nvSpPr>
          <p:spPr>
            <a:xfrm>
              <a:off x="0" y="0"/>
              <a:ext cx="18836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sp>
        <p:nvSpPr>
          <p:cNvPr id="191" name="Google Shape;191;p3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4"/>
          <p:cNvGrpSpPr/>
          <p:nvPr/>
        </p:nvGrpSpPr>
        <p:grpSpPr>
          <a:xfrm>
            <a:off x="1865376" y="850392"/>
            <a:ext cx="8229600" cy="480060"/>
            <a:chOff x="0" y="0"/>
            <a:chExt cx="10972800" cy="640080"/>
          </a:xfrm>
        </p:grpSpPr>
        <p:sp>
          <p:nvSpPr>
            <p:cNvPr id="202" name="Google Shape;202;p4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4"/>
            <p:cNvSpPr txBox="1"/>
            <p:nvPr/>
          </p:nvSpPr>
          <p:spPr>
            <a:xfrm>
              <a:off x="0" y="0"/>
              <a:ext cx="10972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CONTEXTO</a:t>
              </a:r>
              <a:endParaRPr/>
            </a:p>
          </p:txBody>
        </p:sp>
      </p:grpSp>
      <p:sp>
        <p:nvSpPr>
          <p:cNvPr id="204" name="Google Shape;204;p4"/>
          <p:cNvSpPr txBox="1"/>
          <p:nvPr/>
        </p:nvSpPr>
        <p:spPr>
          <a:xfrm>
            <a:off x="1234440" y="1389507"/>
            <a:ext cx="15773400" cy="1518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Una brecha en servicios a domicilio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1234440" y="2352675"/>
            <a:ext cx="15636240" cy="1282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Muchas necesidades del hogar y del vehículo aún se resuelven por contactos informales, con poca comparación, trazabilidad o respaldo.</a:t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1224915" y="3762375"/>
            <a:ext cx="5135118" cy="2076450"/>
          </a:xfrm>
          <a:custGeom>
            <a:rect b="b" l="l" r="r" t="t"/>
            <a:pathLst>
              <a:path extrusionOk="0" h="2768600" w="6846824">
                <a:moveTo>
                  <a:pt x="0" y="249174"/>
                </a:moveTo>
                <a:cubicBezTo>
                  <a:pt x="0" y="111506"/>
                  <a:pt x="111506" y="0"/>
                  <a:pt x="249174" y="0"/>
                </a:cubicBezTo>
                <a:lnTo>
                  <a:pt x="6597650" y="0"/>
                </a:lnTo>
                <a:cubicBezTo>
                  <a:pt x="6735318" y="0"/>
                  <a:pt x="6846824" y="111506"/>
                  <a:pt x="6846824" y="249174"/>
                </a:cubicBezTo>
                <a:lnTo>
                  <a:pt x="6846824" y="2519426"/>
                </a:lnTo>
                <a:cubicBezTo>
                  <a:pt x="6846824" y="2657094"/>
                  <a:pt x="6735318" y="2768600"/>
                  <a:pt x="6597650" y="2768600"/>
                </a:cubicBezTo>
                <a:lnTo>
                  <a:pt x="249174" y="2768600"/>
                </a:lnTo>
                <a:cubicBezTo>
                  <a:pt x="111506" y="2768600"/>
                  <a:pt x="0" y="2657094"/>
                  <a:pt x="0" y="2519426"/>
                </a:cubicBezTo>
                <a:close/>
              </a:path>
            </a:pathLst>
          </a:custGeom>
          <a:solidFill>
            <a:srgbClr val="F5F8FC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1645920" y="404622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2674620" y="40873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Oferta fragmentada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1645920" y="4859655"/>
            <a:ext cx="4320540" cy="87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Prestadores independientes dependen de redes sociales, recomendaciones y mensajería.</a:t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6574155" y="3762375"/>
            <a:ext cx="5135118" cy="2076450"/>
          </a:xfrm>
          <a:custGeom>
            <a:rect b="b" l="l" r="r" t="t"/>
            <a:pathLst>
              <a:path extrusionOk="0" h="2768600" w="6846824">
                <a:moveTo>
                  <a:pt x="0" y="249174"/>
                </a:moveTo>
                <a:cubicBezTo>
                  <a:pt x="0" y="111506"/>
                  <a:pt x="111506" y="0"/>
                  <a:pt x="249174" y="0"/>
                </a:cubicBezTo>
                <a:lnTo>
                  <a:pt x="6597650" y="0"/>
                </a:lnTo>
                <a:cubicBezTo>
                  <a:pt x="6735318" y="0"/>
                  <a:pt x="6846824" y="111506"/>
                  <a:pt x="6846824" y="249174"/>
                </a:cubicBezTo>
                <a:lnTo>
                  <a:pt x="6846824" y="2519426"/>
                </a:lnTo>
                <a:cubicBezTo>
                  <a:pt x="6846824" y="2657094"/>
                  <a:pt x="6735318" y="2768600"/>
                  <a:pt x="6597650" y="2768600"/>
                </a:cubicBezTo>
                <a:lnTo>
                  <a:pt x="249174" y="2768600"/>
                </a:lnTo>
                <a:cubicBezTo>
                  <a:pt x="111506" y="2768600"/>
                  <a:pt x="0" y="2657094"/>
                  <a:pt x="0" y="2519426"/>
                </a:cubicBezTo>
                <a:close/>
              </a:path>
            </a:pathLst>
          </a:custGeom>
          <a:solidFill>
            <a:srgbClr val="F5F8FC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6995160" y="404622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8023860" y="40873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Confianza limitada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6995160" y="4859655"/>
            <a:ext cx="4320540" cy="87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El cliente no siempre puede verificar identidad, reputación, precio o evidencia del trabajo.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11923395" y="3762375"/>
            <a:ext cx="5135118" cy="2076450"/>
          </a:xfrm>
          <a:custGeom>
            <a:rect b="b" l="l" r="r" t="t"/>
            <a:pathLst>
              <a:path extrusionOk="0" h="2768600" w="6846824">
                <a:moveTo>
                  <a:pt x="0" y="249174"/>
                </a:moveTo>
                <a:cubicBezTo>
                  <a:pt x="0" y="111506"/>
                  <a:pt x="111506" y="0"/>
                  <a:pt x="249174" y="0"/>
                </a:cubicBezTo>
                <a:lnTo>
                  <a:pt x="6597650" y="0"/>
                </a:lnTo>
                <a:cubicBezTo>
                  <a:pt x="6735318" y="0"/>
                  <a:pt x="6846824" y="111506"/>
                  <a:pt x="6846824" y="249174"/>
                </a:cubicBezTo>
                <a:lnTo>
                  <a:pt x="6846824" y="2519426"/>
                </a:lnTo>
                <a:cubicBezTo>
                  <a:pt x="6846824" y="2657094"/>
                  <a:pt x="6735318" y="2768600"/>
                  <a:pt x="6597650" y="2768600"/>
                </a:cubicBezTo>
                <a:lnTo>
                  <a:pt x="249174" y="2768600"/>
                </a:lnTo>
                <a:cubicBezTo>
                  <a:pt x="111506" y="2768600"/>
                  <a:pt x="0" y="2657094"/>
                  <a:pt x="0" y="2519426"/>
                </a:cubicBezTo>
                <a:close/>
              </a:path>
            </a:pathLst>
          </a:custGeom>
          <a:solidFill>
            <a:srgbClr val="F5F8FC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12344400" y="404622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13373100" y="40873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Oportunidad común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12344400" y="4859655"/>
            <a:ext cx="4320540" cy="873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Asignación, pago, seguimiento y calificación son capacidades reutilizables entre servicios.</a:t>
            </a:r>
            <a:endParaRPr/>
          </a:p>
        </p:txBody>
      </p:sp>
      <p:sp>
        <p:nvSpPr>
          <p:cNvPr id="218" name="Google Shape;218;p4"/>
          <p:cNvSpPr txBox="1"/>
          <p:nvPr/>
        </p:nvSpPr>
        <p:spPr>
          <a:xfrm>
            <a:off x="1234440" y="6436995"/>
            <a:ext cx="1508760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64E86"/>
                </a:solidFill>
                <a:latin typeface="Arial"/>
                <a:ea typeface="Arial"/>
                <a:cs typeface="Arial"/>
                <a:sym typeface="Arial"/>
              </a:rPr>
              <a:t>Una base tecnológica, múltiples verticales</a:t>
            </a:r>
            <a:endParaRPr/>
          </a:p>
        </p:txBody>
      </p:sp>
      <p:grpSp>
        <p:nvGrpSpPr>
          <p:cNvPr id="219" name="Google Shape;219;p4"/>
          <p:cNvGrpSpPr/>
          <p:nvPr/>
        </p:nvGrpSpPr>
        <p:grpSpPr>
          <a:xfrm>
            <a:off x="1234440" y="7132320"/>
            <a:ext cx="3497580" cy="1577340"/>
            <a:chOff x="0" y="0"/>
            <a:chExt cx="4663440" cy="2103120"/>
          </a:xfrm>
        </p:grpSpPr>
        <p:sp>
          <p:nvSpPr>
            <p:cNvPr id="220" name="Google Shape;220;p4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4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Lavado</a:t>
              </a:r>
              <a:endParaRPr/>
            </a:p>
          </p:txBody>
        </p:sp>
      </p:grpSp>
      <p:sp>
        <p:nvSpPr>
          <p:cNvPr id="222" name="Google Shape;222;p4"/>
          <p:cNvSpPr/>
          <p:nvPr/>
        </p:nvSpPr>
        <p:spPr>
          <a:xfrm>
            <a:off x="4704588" y="7722108"/>
            <a:ext cx="576072" cy="411480"/>
          </a:xfrm>
          <a:custGeom>
            <a:rect b="b" l="l" r="r" t="t"/>
            <a:pathLst>
              <a:path extrusionOk="0" h="548640" w="768096">
                <a:moveTo>
                  <a:pt x="0" y="123444"/>
                </a:moveTo>
                <a:lnTo>
                  <a:pt x="466344" y="123444"/>
                </a:lnTo>
                <a:lnTo>
                  <a:pt x="466344" y="0"/>
                </a:lnTo>
                <a:lnTo>
                  <a:pt x="768096" y="274320"/>
                </a:lnTo>
                <a:lnTo>
                  <a:pt x="466344" y="548640"/>
                </a:lnTo>
                <a:lnTo>
                  <a:pt x="466344" y="425196"/>
                </a:lnTo>
                <a:lnTo>
                  <a:pt x="0" y="425196"/>
                </a:ln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4"/>
          <p:cNvGrpSpPr/>
          <p:nvPr/>
        </p:nvGrpSpPr>
        <p:grpSpPr>
          <a:xfrm>
            <a:off x="5349240" y="7132320"/>
            <a:ext cx="3497580" cy="1577340"/>
            <a:chOff x="0" y="0"/>
            <a:chExt cx="4663440" cy="2103120"/>
          </a:xfrm>
        </p:grpSpPr>
        <p:sp>
          <p:nvSpPr>
            <p:cNvPr id="224" name="Google Shape;224;p4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164E8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4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Limpieza hogar</a:t>
              </a:r>
              <a:endParaRPr/>
            </a:p>
          </p:txBody>
        </p:sp>
      </p:grpSp>
      <p:sp>
        <p:nvSpPr>
          <p:cNvPr id="226" name="Google Shape;226;p4"/>
          <p:cNvSpPr/>
          <p:nvPr/>
        </p:nvSpPr>
        <p:spPr>
          <a:xfrm>
            <a:off x="8819388" y="7722108"/>
            <a:ext cx="576072" cy="411480"/>
          </a:xfrm>
          <a:custGeom>
            <a:rect b="b" l="l" r="r" t="t"/>
            <a:pathLst>
              <a:path extrusionOk="0" h="548640" w="768096">
                <a:moveTo>
                  <a:pt x="0" y="123444"/>
                </a:moveTo>
                <a:lnTo>
                  <a:pt x="466344" y="123444"/>
                </a:lnTo>
                <a:lnTo>
                  <a:pt x="466344" y="0"/>
                </a:lnTo>
                <a:lnTo>
                  <a:pt x="768096" y="274320"/>
                </a:lnTo>
                <a:lnTo>
                  <a:pt x="466344" y="548640"/>
                </a:lnTo>
                <a:lnTo>
                  <a:pt x="466344" y="425196"/>
                </a:lnTo>
                <a:lnTo>
                  <a:pt x="0" y="425196"/>
                </a:ln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4"/>
          <p:cNvGrpSpPr/>
          <p:nvPr/>
        </p:nvGrpSpPr>
        <p:grpSpPr>
          <a:xfrm>
            <a:off x="9464040" y="7132320"/>
            <a:ext cx="3497580" cy="1577340"/>
            <a:chOff x="0" y="0"/>
            <a:chExt cx="4663440" cy="2103120"/>
          </a:xfrm>
        </p:grpSpPr>
        <p:sp>
          <p:nvSpPr>
            <p:cNvPr id="228" name="Google Shape;228;p4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4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Mantenimiento</a:t>
              </a:r>
              <a:endParaRPr/>
            </a:p>
          </p:txBody>
        </p:sp>
      </p:grpSp>
      <p:sp>
        <p:nvSpPr>
          <p:cNvPr id="230" name="Google Shape;230;p4"/>
          <p:cNvSpPr/>
          <p:nvPr/>
        </p:nvSpPr>
        <p:spPr>
          <a:xfrm>
            <a:off x="12934188" y="7722108"/>
            <a:ext cx="576072" cy="411480"/>
          </a:xfrm>
          <a:custGeom>
            <a:rect b="b" l="l" r="r" t="t"/>
            <a:pathLst>
              <a:path extrusionOk="0" h="548640" w="768096">
                <a:moveTo>
                  <a:pt x="0" y="123444"/>
                </a:moveTo>
                <a:lnTo>
                  <a:pt x="466344" y="123444"/>
                </a:lnTo>
                <a:lnTo>
                  <a:pt x="466344" y="0"/>
                </a:lnTo>
                <a:lnTo>
                  <a:pt x="768096" y="274320"/>
                </a:lnTo>
                <a:lnTo>
                  <a:pt x="466344" y="548640"/>
                </a:lnTo>
                <a:lnTo>
                  <a:pt x="466344" y="425196"/>
                </a:lnTo>
                <a:lnTo>
                  <a:pt x="0" y="425196"/>
                </a:ln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" name="Google Shape;231;p4"/>
          <p:cNvGrpSpPr/>
          <p:nvPr/>
        </p:nvGrpSpPr>
        <p:grpSpPr>
          <a:xfrm>
            <a:off x="13578840" y="7132320"/>
            <a:ext cx="3497580" cy="1577340"/>
            <a:chOff x="0" y="0"/>
            <a:chExt cx="4663440" cy="2103120"/>
          </a:xfrm>
        </p:grpSpPr>
        <p:sp>
          <p:nvSpPr>
            <p:cNvPr id="232" name="Google Shape;232;p4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1687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4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Otros servicios</a:t>
              </a:r>
              <a:endParaRPr/>
            </a:p>
          </p:txBody>
        </p:sp>
      </p:grpSp>
      <p:grpSp>
        <p:nvGrpSpPr>
          <p:cNvPr id="234" name="Google Shape;234;p4"/>
          <p:cNvGrpSpPr/>
          <p:nvPr/>
        </p:nvGrpSpPr>
        <p:grpSpPr>
          <a:xfrm>
            <a:off x="1234440" y="9628632"/>
            <a:ext cx="10972800" cy="411480"/>
            <a:chOff x="0" y="0"/>
            <a:chExt cx="14630400" cy="548640"/>
          </a:xfrm>
        </p:grpSpPr>
        <p:sp>
          <p:nvSpPr>
            <p:cNvPr id="235" name="Google Shape;235;p4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4"/>
            <p:cNvSpPr txBox="1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Splash  ·  Capstone PTY4614  ·  Propuesta de proyecto</a:t>
              </a:r>
              <a:endParaRPr/>
            </a:p>
          </p:txBody>
        </p:sp>
      </p:grpSp>
      <p:grpSp>
        <p:nvGrpSpPr>
          <p:cNvPr id="237" name="Google Shape;237;p4"/>
          <p:cNvGrpSpPr/>
          <p:nvPr/>
        </p:nvGrpSpPr>
        <p:grpSpPr>
          <a:xfrm>
            <a:off x="15636240" y="9628632"/>
            <a:ext cx="1412748" cy="411480"/>
            <a:chOff x="0" y="0"/>
            <a:chExt cx="1883664" cy="548640"/>
          </a:xfrm>
        </p:grpSpPr>
        <p:sp>
          <p:nvSpPr>
            <p:cNvPr id="238" name="Google Shape;238;p4"/>
            <p:cNvSpPr/>
            <p:nvPr/>
          </p:nvSpPr>
          <p:spPr>
            <a:xfrm>
              <a:off x="0" y="0"/>
              <a:ext cx="1883664" cy="548640"/>
            </a:xfrm>
            <a:custGeom>
              <a:rect b="b" l="l" r="r" t="t"/>
              <a:pathLst>
                <a:path extrusionOk="0" h="548640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99" l="0" r="0" t="-168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4"/>
            <p:cNvSpPr txBox="1"/>
            <p:nvPr/>
          </p:nvSpPr>
          <p:spPr>
            <a:xfrm>
              <a:off x="0" y="0"/>
              <a:ext cx="18836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sp>
        <p:nvSpPr>
          <p:cNvPr id="240" name="Google Shape;240;p4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5"/>
          <p:cNvGrpSpPr/>
          <p:nvPr/>
        </p:nvGrpSpPr>
        <p:grpSpPr>
          <a:xfrm>
            <a:off x="1865376" y="850392"/>
            <a:ext cx="8229600" cy="480060"/>
            <a:chOff x="0" y="0"/>
            <a:chExt cx="10972800" cy="640080"/>
          </a:xfrm>
        </p:grpSpPr>
        <p:sp>
          <p:nvSpPr>
            <p:cNvPr id="251" name="Google Shape;251;p5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5"/>
            <p:cNvSpPr txBox="1"/>
            <p:nvPr/>
          </p:nvSpPr>
          <p:spPr>
            <a:xfrm>
              <a:off x="0" y="0"/>
              <a:ext cx="10972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PROBLEMÁTICA</a:t>
              </a:r>
              <a:endParaRPr/>
            </a:p>
          </p:txBody>
        </p:sp>
      </p:grpSp>
      <p:sp>
        <p:nvSpPr>
          <p:cNvPr id="253" name="Google Shape;253;p5"/>
          <p:cNvSpPr txBox="1"/>
          <p:nvPr/>
        </p:nvSpPr>
        <p:spPr>
          <a:xfrm>
            <a:off x="1234440" y="1389507"/>
            <a:ext cx="15773400" cy="1518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El lavado revela una necesidad mayor</a:t>
            </a:r>
            <a:endParaRPr/>
          </a:p>
        </p:txBody>
      </p:sp>
      <p:sp>
        <p:nvSpPr>
          <p:cNvPr id="254" name="Google Shape;254;p5"/>
          <p:cNvSpPr txBox="1"/>
          <p:nvPr/>
        </p:nvSpPr>
        <p:spPr>
          <a:xfrm>
            <a:off x="1234440" y="2352675"/>
            <a:ext cx="15636240" cy="1282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El caso inicial permite observar fricciones comunes a distintos servicios: coordinación manual, baja visibilidad, pagos sin respaldo y calidad difícil de demostrar.</a:t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1224915" y="3762375"/>
            <a:ext cx="5135118" cy="2076450"/>
          </a:xfrm>
          <a:custGeom>
            <a:rect b="b" l="l" r="r" t="t"/>
            <a:pathLst>
              <a:path extrusionOk="0" h="2768600" w="6846824">
                <a:moveTo>
                  <a:pt x="0" y="249174"/>
                </a:moveTo>
                <a:cubicBezTo>
                  <a:pt x="0" y="111506"/>
                  <a:pt x="111506" y="0"/>
                  <a:pt x="249174" y="0"/>
                </a:cubicBezTo>
                <a:lnTo>
                  <a:pt x="6597650" y="0"/>
                </a:lnTo>
                <a:cubicBezTo>
                  <a:pt x="6735318" y="0"/>
                  <a:pt x="6846824" y="111506"/>
                  <a:pt x="6846824" y="249174"/>
                </a:cubicBezTo>
                <a:lnTo>
                  <a:pt x="6846824" y="2519426"/>
                </a:lnTo>
                <a:cubicBezTo>
                  <a:pt x="6846824" y="2657094"/>
                  <a:pt x="6735318" y="2768600"/>
                  <a:pt x="6597650" y="2768600"/>
                </a:cubicBezTo>
                <a:lnTo>
                  <a:pt x="249174" y="2768600"/>
                </a:lnTo>
                <a:cubicBezTo>
                  <a:pt x="111506" y="2768600"/>
                  <a:pt x="0" y="2657094"/>
                  <a:pt x="0" y="2519426"/>
                </a:cubicBezTo>
                <a:close/>
              </a:path>
            </a:pathLst>
          </a:custGeom>
          <a:solidFill>
            <a:srgbClr val="F5F8FC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1645920" y="404622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2674620" y="40873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Fricción para el cliente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1645920" y="4859655"/>
            <a:ext cx="432054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Búsqueda dispersa, tiempos inciertos y escasa comparación.</a:t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6574155" y="3762375"/>
            <a:ext cx="5135118" cy="2076450"/>
          </a:xfrm>
          <a:custGeom>
            <a:rect b="b" l="l" r="r" t="t"/>
            <a:pathLst>
              <a:path extrusionOk="0" h="2768600" w="6846824">
                <a:moveTo>
                  <a:pt x="0" y="249174"/>
                </a:moveTo>
                <a:cubicBezTo>
                  <a:pt x="0" y="111506"/>
                  <a:pt x="111506" y="0"/>
                  <a:pt x="249174" y="0"/>
                </a:cubicBezTo>
                <a:lnTo>
                  <a:pt x="6597650" y="0"/>
                </a:lnTo>
                <a:cubicBezTo>
                  <a:pt x="6735318" y="0"/>
                  <a:pt x="6846824" y="111506"/>
                  <a:pt x="6846824" y="249174"/>
                </a:cubicBezTo>
                <a:lnTo>
                  <a:pt x="6846824" y="2519426"/>
                </a:lnTo>
                <a:cubicBezTo>
                  <a:pt x="6846824" y="2657094"/>
                  <a:pt x="6735318" y="2768600"/>
                  <a:pt x="6597650" y="2768600"/>
                </a:cubicBezTo>
                <a:lnTo>
                  <a:pt x="249174" y="2768600"/>
                </a:lnTo>
                <a:cubicBezTo>
                  <a:pt x="111506" y="2768600"/>
                  <a:pt x="0" y="2657094"/>
                  <a:pt x="0" y="2519426"/>
                </a:cubicBezTo>
                <a:close/>
              </a:path>
            </a:pathLst>
          </a:custGeom>
          <a:solidFill>
            <a:srgbClr val="F5F8FC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6995160" y="404622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8023860" y="40873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Brecha operacional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6995160" y="4859655"/>
            <a:ext cx="432054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Sin asignación central, estados, historial ni soporte común.</a:t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11923395" y="3762375"/>
            <a:ext cx="5135118" cy="2076450"/>
          </a:xfrm>
          <a:custGeom>
            <a:rect b="b" l="l" r="r" t="t"/>
            <a:pathLst>
              <a:path extrusionOk="0" h="2768600" w="6846824">
                <a:moveTo>
                  <a:pt x="0" y="249174"/>
                </a:moveTo>
                <a:cubicBezTo>
                  <a:pt x="0" y="111506"/>
                  <a:pt x="111506" y="0"/>
                  <a:pt x="249174" y="0"/>
                </a:cubicBezTo>
                <a:lnTo>
                  <a:pt x="6597650" y="0"/>
                </a:lnTo>
                <a:cubicBezTo>
                  <a:pt x="6735318" y="0"/>
                  <a:pt x="6846824" y="111506"/>
                  <a:pt x="6846824" y="249174"/>
                </a:cubicBezTo>
                <a:lnTo>
                  <a:pt x="6846824" y="2519426"/>
                </a:lnTo>
                <a:cubicBezTo>
                  <a:pt x="6846824" y="2657094"/>
                  <a:pt x="6735318" y="2768600"/>
                  <a:pt x="6597650" y="2768600"/>
                </a:cubicBezTo>
                <a:lnTo>
                  <a:pt x="249174" y="2768600"/>
                </a:lnTo>
                <a:cubicBezTo>
                  <a:pt x="111506" y="2768600"/>
                  <a:pt x="0" y="2657094"/>
                  <a:pt x="0" y="2519426"/>
                </a:cubicBezTo>
                <a:close/>
              </a:path>
            </a:pathLst>
          </a:custGeom>
          <a:solidFill>
            <a:srgbClr val="F5F8FC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 txBox="1"/>
          <p:nvPr/>
        </p:nvSpPr>
        <p:spPr>
          <a:xfrm>
            <a:off x="12344400" y="404622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65" name="Google Shape;265;p5"/>
          <p:cNvSpPr txBox="1"/>
          <p:nvPr/>
        </p:nvSpPr>
        <p:spPr>
          <a:xfrm>
            <a:off x="13373100" y="40873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Brecha de confianza</a:t>
            </a:r>
            <a:endParaRPr/>
          </a:p>
        </p:txBody>
      </p:sp>
      <p:sp>
        <p:nvSpPr>
          <p:cNvPr id="266" name="Google Shape;266;p5"/>
          <p:cNvSpPr txBox="1"/>
          <p:nvPr/>
        </p:nvSpPr>
        <p:spPr>
          <a:xfrm>
            <a:off x="12344400" y="4859655"/>
            <a:ext cx="432054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Sin verificación, pago protegido, evidencia o resolución de disputas.</a:t>
            </a:r>
            <a:endParaRPr/>
          </a:p>
        </p:txBody>
      </p:sp>
      <p:sp>
        <p:nvSpPr>
          <p:cNvPr id="267" name="Google Shape;267;p5"/>
          <p:cNvSpPr txBox="1"/>
          <p:nvPr/>
        </p:nvSpPr>
        <p:spPr>
          <a:xfrm>
            <a:off x="1234440" y="6436995"/>
            <a:ext cx="15087600" cy="558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64E86"/>
                </a:solidFill>
                <a:latin typeface="Arial"/>
                <a:ea typeface="Arial"/>
                <a:cs typeface="Arial"/>
                <a:sym typeface="Arial"/>
              </a:rPr>
              <a:t>Problema que debe resolver la plataforma</a:t>
            </a:r>
            <a:endParaRPr/>
          </a:p>
        </p:txBody>
      </p:sp>
      <p:grpSp>
        <p:nvGrpSpPr>
          <p:cNvPr id="268" name="Google Shape;268;p5"/>
          <p:cNvGrpSpPr/>
          <p:nvPr/>
        </p:nvGrpSpPr>
        <p:grpSpPr>
          <a:xfrm>
            <a:off x="1234440" y="7132320"/>
            <a:ext cx="3497580" cy="1577340"/>
            <a:chOff x="0" y="0"/>
            <a:chExt cx="4663440" cy="2103120"/>
          </a:xfrm>
        </p:grpSpPr>
        <p:sp>
          <p:nvSpPr>
            <p:cNvPr id="269" name="Google Shape;269;p5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5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Centralizar</a:t>
              </a:r>
              <a:endParaRPr/>
            </a:p>
          </p:txBody>
        </p:sp>
      </p:grpSp>
      <p:sp>
        <p:nvSpPr>
          <p:cNvPr id="271" name="Google Shape;271;p5"/>
          <p:cNvSpPr/>
          <p:nvPr/>
        </p:nvSpPr>
        <p:spPr>
          <a:xfrm>
            <a:off x="4704588" y="7722108"/>
            <a:ext cx="576072" cy="411480"/>
          </a:xfrm>
          <a:custGeom>
            <a:rect b="b" l="l" r="r" t="t"/>
            <a:pathLst>
              <a:path extrusionOk="0" h="548640" w="768096">
                <a:moveTo>
                  <a:pt x="0" y="123444"/>
                </a:moveTo>
                <a:lnTo>
                  <a:pt x="466344" y="123444"/>
                </a:lnTo>
                <a:lnTo>
                  <a:pt x="466344" y="0"/>
                </a:lnTo>
                <a:lnTo>
                  <a:pt x="768096" y="274320"/>
                </a:lnTo>
                <a:lnTo>
                  <a:pt x="466344" y="548640"/>
                </a:lnTo>
                <a:lnTo>
                  <a:pt x="466344" y="425196"/>
                </a:lnTo>
                <a:lnTo>
                  <a:pt x="0" y="425196"/>
                </a:ln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p5"/>
          <p:cNvGrpSpPr/>
          <p:nvPr/>
        </p:nvGrpSpPr>
        <p:grpSpPr>
          <a:xfrm>
            <a:off x="5349240" y="7132320"/>
            <a:ext cx="3497580" cy="1577340"/>
            <a:chOff x="0" y="0"/>
            <a:chExt cx="4663440" cy="2103120"/>
          </a:xfrm>
        </p:grpSpPr>
        <p:sp>
          <p:nvSpPr>
            <p:cNvPr id="273" name="Google Shape;273;p5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164E8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5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Coordinar</a:t>
              </a:r>
              <a:endParaRPr/>
            </a:p>
          </p:txBody>
        </p:sp>
      </p:grpSp>
      <p:sp>
        <p:nvSpPr>
          <p:cNvPr id="275" name="Google Shape;275;p5"/>
          <p:cNvSpPr/>
          <p:nvPr/>
        </p:nvSpPr>
        <p:spPr>
          <a:xfrm>
            <a:off x="8819388" y="7722108"/>
            <a:ext cx="576072" cy="411480"/>
          </a:xfrm>
          <a:custGeom>
            <a:rect b="b" l="l" r="r" t="t"/>
            <a:pathLst>
              <a:path extrusionOk="0" h="548640" w="768096">
                <a:moveTo>
                  <a:pt x="0" y="123444"/>
                </a:moveTo>
                <a:lnTo>
                  <a:pt x="466344" y="123444"/>
                </a:lnTo>
                <a:lnTo>
                  <a:pt x="466344" y="0"/>
                </a:lnTo>
                <a:lnTo>
                  <a:pt x="768096" y="274320"/>
                </a:lnTo>
                <a:lnTo>
                  <a:pt x="466344" y="548640"/>
                </a:lnTo>
                <a:lnTo>
                  <a:pt x="466344" y="425196"/>
                </a:lnTo>
                <a:lnTo>
                  <a:pt x="0" y="425196"/>
                </a:ln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5"/>
          <p:cNvGrpSpPr/>
          <p:nvPr/>
        </p:nvGrpSpPr>
        <p:grpSpPr>
          <a:xfrm>
            <a:off x="9464040" y="7132320"/>
            <a:ext cx="3497580" cy="1577340"/>
            <a:chOff x="0" y="0"/>
            <a:chExt cx="4663440" cy="2103120"/>
          </a:xfrm>
        </p:grpSpPr>
        <p:sp>
          <p:nvSpPr>
            <p:cNvPr id="277" name="Google Shape;277;p5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5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Proteger</a:t>
              </a:r>
              <a:endParaRPr/>
            </a:p>
          </p:txBody>
        </p:sp>
      </p:grpSp>
      <p:sp>
        <p:nvSpPr>
          <p:cNvPr id="279" name="Google Shape;279;p5"/>
          <p:cNvSpPr/>
          <p:nvPr/>
        </p:nvSpPr>
        <p:spPr>
          <a:xfrm>
            <a:off x="12934188" y="7722108"/>
            <a:ext cx="576072" cy="411480"/>
          </a:xfrm>
          <a:custGeom>
            <a:rect b="b" l="l" r="r" t="t"/>
            <a:pathLst>
              <a:path extrusionOk="0" h="548640" w="768096">
                <a:moveTo>
                  <a:pt x="0" y="123444"/>
                </a:moveTo>
                <a:lnTo>
                  <a:pt x="466344" y="123444"/>
                </a:lnTo>
                <a:lnTo>
                  <a:pt x="466344" y="0"/>
                </a:lnTo>
                <a:lnTo>
                  <a:pt x="768096" y="274320"/>
                </a:lnTo>
                <a:lnTo>
                  <a:pt x="466344" y="548640"/>
                </a:lnTo>
                <a:lnTo>
                  <a:pt x="466344" y="425196"/>
                </a:lnTo>
                <a:lnTo>
                  <a:pt x="0" y="425196"/>
                </a:ln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5"/>
          <p:cNvGrpSpPr/>
          <p:nvPr/>
        </p:nvGrpSpPr>
        <p:grpSpPr>
          <a:xfrm>
            <a:off x="13578840" y="7132320"/>
            <a:ext cx="3497580" cy="1577340"/>
            <a:chOff x="0" y="0"/>
            <a:chExt cx="4663440" cy="2103120"/>
          </a:xfrm>
        </p:grpSpPr>
        <p:sp>
          <p:nvSpPr>
            <p:cNvPr id="281" name="Google Shape;281;p5"/>
            <p:cNvSpPr/>
            <p:nvPr/>
          </p:nvSpPr>
          <p:spPr>
            <a:xfrm>
              <a:off x="0" y="0"/>
              <a:ext cx="4663440" cy="2103120"/>
            </a:xfrm>
            <a:custGeom>
              <a:rect b="b" l="l" r="r" t="t"/>
              <a:pathLst>
                <a:path extrusionOk="0" h="2103120" w="4663440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4369054" y="0"/>
                  </a:lnTo>
                  <a:cubicBezTo>
                    <a:pt x="4531614" y="0"/>
                    <a:pt x="4663440" y="131826"/>
                    <a:pt x="4663440" y="294386"/>
                  </a:cubicBezTo>
                  <a:lnTo>
                    <a:pt x="4663440" y="1808734"/>
                  </a:lnTo>
                  <a:cubicBezTo>
                    <a:pt x="4663440" y="1971294"/>
                    <a:pt x="4531614" y="2103120"/>
                    <a:pt x="4369054" y="2103120"/>
                  </a:cubicBezTo>
                  <a:lnTo>
                    <a:pt x="294386" y="2103120"/>
                  </a:lnTo>
                  <a:cubicBezTo>
                    <a:pt x="131826" y="2103120"/>
                    <a:pt x="0" y="1971294"/>
                    <a:pt x="0" y="1808734"/>
                  </a:cubicBezTo>
                  <a:close/>
                </a:path>
              </a:pathLst>
            </a:custGeom>
            <a:solidFill>
              <a:srgbClr val="1687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5"/>
            <p:cNvSpPr txBox="1"/>
            <p:nvPr/>
          </p:nvSpPr>
          <p:spPr>
            <a:xfrm>
              <a:off x="0" y="0"/>
              <a:ext cx="4663440" cy="2103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7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Medir</a:t>
              </a:r>
              <a:endParaRPr/>
            </a:p>
          </p:txBody>
        </p:sp>
      </p:grpSp>
      <p:grpSp>
        <p:nvGrpSpPr>
          <p:cNvPr id="283" name="Google Shape;283;p5"/>
          <p:cNvGrpSpPr/>
          <p:nvPr/>
        </p:nvGrpSpPr>
        <p:grpSpPr>
          <a:xfrm>
            <a:off x="1234440" y="9628632"/>
            <a:ext cx="10972800" cy="411480"/>
            <a:chOff x="0" y="0"/>
            <a:chExt cx="14630400" cy="548640"/>
          </a:xfrm>
        </p:grpSpPr>
        <p:sp>
          <p:nvSpPr>
            <p:cNvPr id="284" name="Google Shape;284;p5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5"/>
            <p:cNvSpPr txBox="1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Splash  ·  Capstone PTY4614  ·  Propuesta de proyecto</a:t>
              </a:r>
              <a:endParaRPr/>
            </a:p>
          </p:txBody>
        </p:sp>
      </p:grpSp>
      <p:grpSp>
        <p:nvGrpSpPr>
          <p:cNvPr id="286" name="Google Shape;286;p5"/>
          <p:cNvGrpSpPr/>
          <p:nvPr/>
        </p:nvGrpSpPr>
        <p:grpSpPr>
          <a:xfrm>
            <a:off x="15636240" y="9628632"/>
            <a:ext cx="1412748" cy="411480"/>
            <a:chOff x="0" y="0"/>
            <a:chExt cx="1883664" cy="548640"/>
          </a:xfrm>
        </p:grpSpPr>
        <p:sp>
          <p:nvSpPr>
            <p:cNvPr id="287" name="Google Shape;287;p5"/>
            <p:cNvSpPr/>
            <p:nvPr/>
          </p:nvSpPr>
          <p:spPr>
            <a:xfrm>
              <a:off x="0" y="0"/>
              <a:ext cx="1883664" cy="548640"/>
            </a:xfrm>
            <a:custGeom>
              <a:rect b="b" l="l" r="r" t="t"/>
              <a:pathLst>
                <a:path extrusionOk="0" h="548640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99" l="0" r="0" t="-168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5"/>
            <p:cNvSpPr txBox="1"/>
            <p:nvPr/>
          </p:nvSpPr>
          <p:spPr>
            <a:xfrm>
              <a:off x="0" y="0"/>
              <a:ext cx="18836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/>
            </a:p>
          </p:txBody>
        </p:sp>
      </p:grpSp>
      <p:sp>
        <p:nvSpPr>
          <p:cNvPr id="289" name="Google Shape;289;p5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p6"/>
          <p:cNvGrpSpPr/>
          <p:nvPr/>
        </p:nvGrpSpPr>
        <p:grpSpPr>
          <a:xfrm>
            <a:off x="1865376" y="850392"/>
            <a:ext cx="8229600" cy="480060"/>
            <a:chOff x="0" y="0"/>
            <a:chExt cx="10972800" cy="640080"/>
          </a:xfrm>
        </p:grpSpPr>
        <p:sp>
          <p:nvSpPr>
            <p:cNvPr id="300" name="Google Shape;300;p6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6"/>
            <p:cNvSpPr txBox="1"/>
            <p:nvPr/>
          </p:nvSpPr>
          <p:spPr>
            <a:xfrm>
              <a:off x="0" y="0"/>
              <a:ext cx="10972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SOLUCIÓN</a:t>
              </a:r>
              <a:endParaRPr/>
            </a:p>
          </p:txBody>
        </p:sp>
      </p:grpSp>
      <p:sp>
        <p:nvSpPr>
          <p:cNvPr id="302" name="Google Shape;302;p6"/>
          <p:cNvSpPr txBox="1"/>
          <p:nvPr/>
        </p:nvSpPr>
        <p:spPr>
          <a:xfrm>
            <a:off x="1228725" y="1495425"/>
            <a:ext cx="14859000" cy="149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Splash centraliza el ciclo completo del servicio</a:t>
            </a:r>
            <a:endParaRPr/>
          </a:p>
        </p:txBody>
      </p:sp>
      <p:sp>
        <p:nvSpPr>
          <p:cNvPr id="303" name="Google Shape;303;p6"/>
          <p:cNvSpPr txBox="1"/>
          <p:nvPr/>
        </p:nvSpPr>
        <p:spPr>
          <a:xfrm>
            <a:off x="1228725" y="2686050"/>
            <a:ext cx="14716125" cy="771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3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La primera versión conecta cliente, prestador y administración; mantiene el lavado como piloto, pero diseña capacidades reutilizables para nuevas categorías.</a:t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1224915" y="3584067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5" name="Google Shape;305;p6"/>
          <p:cNvGrpSpPr/>
          <p:nvPr/>
        </p:nvGrpSpPr>
        <p:grpSpPr>
          <a:xfrm>
            <a:off x="1412748" y="3744468"/>
            <a:ext cx="466344" cy="466344"/>
            <a:chOff x="0" y="0"/>
            <a:chExt cx="621792" cy="621792"/>
          </a:xfrm>
        </p:grpSpPr>
        <p:sp>
          <p:nvSpPr>
            <p:cNvPr id="306" name="Google Shape;306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08" name="Google Shape;308;p6"/>
          <p:cNvGrpSpPr/>
          <p:nvPr/>
        </p:nvGrpSpPr>
        <p:grpSpPr>
          <a:xfrm>
            <a:off x="2029968" y="3593592"/>
            <a:ext cx="4649724" cy="768096"/>
            <a:chOff x="0" y="0"/>
            <a:chExt cx="6199632" cy="1024128"/>
          </a:xfrm>
        </p:grpSpPr>
        <p:sp>
          <p:nvSpPr>
            <p:cNvPr id="309" name="Google Shape;309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Registro e inicio de sesión</a:t>
              </a:r>
              <a:endParaRPr/>
            </a:p>
          </p:txBody>
        </p:sp>
      </p:grpSp>
      <p:sp>
        <p:nvSpPr>
          <p:cNvPr id="311" name="Google Shape;311;p6"/>
          <p:cNvSpPr/>
          <p:nvPr/>
        </p:nvSpPr>
        <p:spPr>
          <a:xfrm>
            <a:off x="7163943" y="3584067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2" name="Google Shape;312;p6"/>
          <p:cNvGrpSpPr/>
          <p:nvPr/>
        </p:nvGrpSpPr>
        <p:grpSpPr>
          <a:xfrm>
            <a:off x="7351776" y="3744468"/>
            <a:ext cx="466344" cy="466344"/>
            <a:chOff x="0" y="0"/>
            <a:chExt cx="621792" cy="621792"/>
          </a:xfrm>
        </p:grpSpPr>
        <p:sp>
          <p:nvSpPr>
            <p:cNvPr id="313" name="Google Shape;313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15" name="Google Shape;315;p6"/>
          <p:cNvGrpSpPr/>
          <p:nvPr/>
        </p:nvGrpSpPr>
        <p:grpSpPr>
          <a:xfrm>
            <a:off x="7968996" y="3593592"/>
            <a:ext cx="4649724" cy="768096"/>
            <a:chOff x="0" y="0"/>
            <a:chExt cx="6199632" cy="1024128"/>
          </a:xfrm>
        </p:grpSpPr>
        <p:sp>
          <p:nvSpPr>
            <p:cNvPr id="316" name="Google Shape;316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Registro de vehículos</a:t>
              </a:r>
              <a:endParaRPr/>
            </a:p>
          </p:txBody>
        </p:sp>
      </p:grpSp>
      <p:sp>
        <p:nvSpPr>
          <p:cNvPr id="318" name="Google Shape;318;p6"/>
          <p:cNvSpPr/>
          <p:nvPr/>
        </p:nvSpPr>
        <p:spPr>
          <a:xfrm>
            <a:off x="1224915" y="4530471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6"/>
          <p:cNvGrpSpPr/>
          <p:nvPr/>
        </p:nvGrpSpPr>
        <p:grpSpPr>
          <a:xfrm>
            <a:off x="1412748" y="4690872"/>
            <a:ext cx="466344" cy="466344"/>
            <a:chOff x="0" y="0"/>
            <a:chExt cx="621792" cy="621792"/>
          </a:xfrm>
        </p:grpSpPr>
        <p:sp>
          <p:nvSpPr>
            <p:cNvPr id="320" name="Google Shape;320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22" name="Google Shape;322;p6"/>
          <p:cNvGrpSpPr/>
          <p:nvPr/>
        </p:nvGrpSpPr>
        <p:grpSpPr>
          <a:xfrm>
            <a:off x="2029968" y="4539996"/>
            <a:ext cx="4649724" cy="768096"/>
            <a:chOff x="0" y="0"/>
            <a:chExt cx="6199632" cy="1024128"/>
          </a:xfrm>
        </p:grpSpPr>
        <p:sp>
          <p:nvSpPr>
            <p:cNvPr id="323" name="Google Shape;323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Selección de vehículo y dirección</a:t>
              </a:r>
              <a:endParaRPr/>
            </a:p>
          </p:txBody>
        </p:sp>
      </p:grpSp>
      <p:sp>
        <p:nvSpPr>
          <p:cNvPr id="325" name="Google Shape;325;p6"/>
          <p:cNvSpPr/>
          <p:nvPr/>
        </p:nvSpPr>
        <p:spPr>
          <a:xfrm>
            <a:off x="7163943" y="4530471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" name="Google Shape;326;p6"/>
          <p:cNvGrpSpPr/>
          <p:nvPr/>
        </p:nvGrpSpPr>
        <p:grpSpPr>
          <a:xfrm>
            <a:off x="7351776" y="4690872"/>
            <a:ext cx="466344" cy="466344"/>
            <a:chOff x="0" y="0"/>
            <a:chExt cx="621792" cy="621792"/>
          </a:xfrm>
        </p:grpSpPr>
        <p:sp>
          <p:nvSpPr>
            <p:cNvPr id="327" name="Google Shape;327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29" name="Google Shape;329;p6"/>
          <p:cNvGrpSpPr/>
          <p:nvPr/>
        </p:nvGrpSpPr>
        <p:grpSpPr>
          <a:xfrm>
            <a:off x="7968996" y="4539996"/>
            <a:ext cx="4649724" cy="768096"/>
            <a:chOff x="0" y="0"/>
            <a:chExt cx="6199632" cy="1024128"/>
          </a:xfrm>
        </p:grpSpPr>
        <p:sp>
          <p:nvSpPr>
            <p:cNvPr id="330" name="Google Shape;330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Tipos de lavado y precio diferenciado</a:t>
              </a:r>
              <a:endParaRPr/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1224915" y="5476875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6"/>
          <p:cNvGrpSpPr/>
          <p:nvPr/>
        </p:nvGrpSpPr>
        <p:grpSpPr>
          <a:xfrm>
            <a:off x="1412748" y="5637276"/>
            <a:ext cx="466344" cy="466344"/>
            <a:chOff x="0" y="0"/>
            <a:chExt cx="621792" cy="621792"/>
          </a:xfrm>
        </p:grpSpPr>
        <p:sp>
          <p:nvSpPr>
            <p:cNvPr id="334" name="Google Shape;334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36" name="Google Shape;336;p6"/>
          <p:cNvGrpSpPr/>
          <p:nvPr/>
        </p:nvGrpSpPr>
        <p:grpSpPr>
          <a:xfrm>
            <a:off x="2029968" y="5486400"/>
            <a:ext cx="4649724" cy="768096"/>
            <a:chOff x="0" y="0"/>
            <a:chExt cx="6199632" cy="1024128"/>
          </a:xfrm>
        </p:grpSpPr>
        <p:sp>
          <p:nvSpPr>
            <p:cNvPr id="337" name="Google Shape;337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Solicitud (inmediata o programada)</a:t>
              </a:r>
              <a:endParaRPr/>
            </a:p>
          </p:txBody>
        </p:sp>
      </p:grpSp>
      <p:sp>
        <p:nvSpPr>
          <p:cNvPr id="339" name="Google Shape;339;p6"/>
          <p:cNvSpPr/>
          <p:nvPr/>
        </p:nvSpPr>
        <p:spPr>
          <a:xfrm>
            <a:off x="7163943" y="5476875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0" name="Google Shape;340;p6"/>
          <p:cNvGrpSpPr/>
          <p:nvPr/>
        </p:nvGrpSpPr>
        <p:grpSpPr>
          <a:xfrm>
            <a:off x="7351776" y="5637276"/>
            <a:ext cx="466344" cy="466344"/>
            <a:chOff x="0" y="0"/>
            <a:chExt cx="621792" cy="621792"/>
          </a:xfrm>
        </p:grpSpPr>
        <p:sp>
          <p:nvSpPr>
            <p:cNvPr id="341" name="Google Shape;341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43" name="Google Shape;343;p6"/>
          <p:cNvGrpSpPr/>
          <p:nvPr/>
        </p:nvGrpSpPr>
        <p:grpSpPr>
          <a:xfrm>
            <a:off x="7968996" y="5486400"/>
            <a:ext cx="4649724" cy="768096"/>
            <a:chOff x="0" y="0"/>
            <a:chExt cx="6199632" cy="1024128"/>
          </a:xfrm>
        </p:grpSpPr>
        <p:sp>
          <p:nvSpPr>
            <p:cNvPr id="344" name="Google Shape;344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Búsqueda y asignación de lavador</a:t>
              </a:r>
              <a:endParaRPr/>
            </a:p>
          </p:txBody>
        </p:sp>
      </p:grpSp>
      <p:sp>
        <p:nvSpPr>
          <p:cNvPr id="346" name="Google Shape;346;p6"/>
          <p:cNvSpPr/>
          <p:nvPr/>
        </p:nvSpPr>
        <p:spPr>
          <a:xfrm>
            <a:off x="1224915" y="6423279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7" name="Google Shape;347;p6"/>
          <p:cNvGrpSpPr/>
          <p:nvPr/>
        </p:nvGrpSpPr>
        <p:grpSpPr>
          <a:xfrm>
            <a:off x="1412748" y="6583680"/>
            <a:ext cx="466344" cy="466344"/>
            <a:chOff x="0" y="0"/>
            <a:chExt cx="621792" cy="621792"/>
          </a:xfrm>
        </p:grpSpPr>
        <p:sp>
          <p:nvSpPr>
            <p:cNvPr id="348" name="Google Shape;348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50" name="Google Shape;350;p6"/>
          <p:cNvGrpSpPr/>
          <p:nvPr/>
        </p:nvGrpSpPr>
        <p:grpSpPr>
          <a:xfrm>
            <a:off x="2029968" y="6432804"/>
            <a:ext cx="4649724" cy="768096"/>
            <a:chOff x="0" y="0"/>
            <a:chExt cx="6199632" cy="1024128"/>
          </a:xfrm>
        </p:grpSpPr>
        <p:sp>
          <p:nvSpPr>
            <p:cNvPr id="351" name="Google Shape;351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Aceptación del servicio</a:t>
              </a:r>
              <a:endParaRPr/>
            </a:p>
          </p:txBody>
        </p:sp>
      </p:grpSp>
      <p:sp>
        <p:nvSpPr>
          <p:cNvPr id="353" name="Google Shape;353;p6"/>
          <p:cNvSpPr/>
          <p:nvPr/>
        </p:nvSpPr>
        <p:spPr>
          <a:xfrm>
            <a:off x="7163943" y="6423279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4" name="Google Shape;354;p6"/>
          <p:cNvGrpSpPr/>
          <p:nvPr/>
        </p:nvGrpSpPr>
        <p:grpSpPr>
          <a:xfrm>
            <a:off x="7351776" y="6583680"/>
            <a:ext cx="466344" cy="466344"/>
            <a:chOff x="0" y="0"/>
            <a:chExt cx="621792" cy="621792"/>
          </a:xfrm>
        </p:grpSpPr>
        <p:sp>
          <p:nvSpPr>
            <p:cNvPr id="355" name="Google Shape;355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57" name="Google Shape;357;p6"/>
          <p:cNvGrpSpPr/>
          <p:nvPr/>
        </p:nvGrpSpPr>
        <p:grpSpPr>
          <a:xfrm>
            <a:off x="7968996" y="6432804"/>
            <a:ext cx="4649724" cy="768096"/>
            <a:chOff x="0" y="0"/>
            <a:chExt cx="6199632" cy="1024128"/>
          </a:xfrm>
        </p:grpSpPr>
        <p:sp>
          <p:nvSpPr>
            <p:cNvPr id="358" name="Google Shape;358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Seguimiento en tiempo real (GPS)</a:t>
              </a:r>
              <a:endParaRPr/>
            </a:p>
          </p:txBody>
        </p:sp>
      </p:grpSp>
      <p:sp>
        <p:nvSpPr>
          <p:cNvPr id="360" name="Google Shape;360;p6"/>
          <p:cNvSpPr/>
          <p:nvPr/>
        </p:nvSpPr>
        <p:spPr>
          <a:xfrm>
            <a:off x="1224915" y="7369683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1" name="Google Shape;361;p6"/>
          <p:cNvGrpSpPr/>
          <p:nvPr/>
        </p:nvGrpSpPr>
        <p:grpSpPr>
          <a:xfrm>
            <a:off x="1412748" y="7530084"/>
            <a:ext cx="466344" cy="466344"/>
            <a:chOff x="0" y="0"/>
            <a:chExt cx="621792" cy="621792"/>
          </a:xfrm>
        </p:grpSpPr>
        <p:sp>
          <p:nvSpPr>
            <p:cNvPr id="362" name="Google Shape;362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64" name="Google Shape;364;p6"/>
          <p:cNvGrpSpPr/>
          <p:nvPr/>
        </p:nvGrpSpPr>
        <p:grpSpPr>
          <a:xfrm>
            <a:off x="2029968" y="7379208"/>
            <a:ext cx="4649724" cy="768096"/>
            <a:chOff x="0" y="0"/>
            <a:chExt cx="6199632" cy="1024128"/>
          </a:xfrm>
        </p:grpSpPr>
        <p:sp>
          <p:nvSpPr>
            <p:cNvPr id="365" name="Google Shape;365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Fotos antes / después</a:t>
              </a:r>
              <a:endParaRPr/>
            </a:p>
          </p:txBody>
        </p:sp>
      </p:grpSp>
      <p:sp>
        <p:nvSpPr>
          <p:cNvPr id="367" name="Google Shape;367;p6"/>
          <p:cNvSpPr/>
          <p:nvPr/>
        </p:nvSpPr>
        <p:spPr>
          <a:xfrm>
            <a:off x="7163943" y="7369683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" name="Google Shape;368;p6"/>
          <p:cNvGrpSpPr/>
          <p:nvPr/>
        </p:nvGrpSpPr>
        <p:grpSpPr>
          <a:xfrm>
            <a:off x="7351776" y="7530084"/>
            <a:ext cx="466344" cy="466344"/>
            <a:chOff x="0" y="0"/>
            <a:chExt cx="621792" cy="621792"/>
          </a:xfrm>
        </p:grpSpPr>
        <p:sp>
          <p:nvSpPr>
            <p:cNvPr id="369" name="Google Shape;369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71" name="Google Shape;371;p6"/>
          <p:cNvGrpSpPr/>
          <p:nvPr/>
        </p:nvGrpSpPr>
        <p:grpSpPr>
          <a:xfrm>
            <a:off x="7968996" y="7379208"/>
            <a:ext cx="4649724" cy="768096"/>
            <a:chOff x="0" y="0"/>
            <a:chExt cx="6199632" cy="1024128"/>
          </a:xfrm>
        </p:grpSpPr>
        <p:sp>
          <p:nvSpPr>
            <p:cNvPr id="372" name="Google Shape;372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Historial y calificaciones</a:t>
              </a:r>
              <a:endParaRPr/>
            </a:p>
          </p:txBody>
        </p:sp>
      </p:grpSp>
      <p:sp>
        <p:nvSpPr>
          <p:cNvPr id="374" name="Google Shape;374;p6"/>
          <p:cNvSpPr/>
          <p:nvPr/>
        </p:nvSpPr>
        <p:spPr>
          <a:xfrm>
            <a:off x="1224915" y="8316087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6"/>
          <p:cNvGrpSpPr/>
          <p:nvPr/>
        </p:nvGrpSpPr>
        <p:grpSpPr>
          <a:xfrm>
            <a:off x="1412748" y="8476488"/>
            <a:ext cx="466344" cy="466344"/>
            <a:chOff x="0" y="0"/>
            <a:chExt cx="621792" cy="621792"/>
          </a:xfrm>
        </p:grpSpPr>
        <p:sp>
          <p:nvSpPr>
            <p:cNvPr id="376" name="Google Shape;376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6"/>
            <p:cNvSpPr txBox="1"/>
            <p:nvPr/>
          </p:nvSpPr>
          <p:spPr>
            <a:xfrm>
              <a:off x="0" y="0"/>
              <a:ext cx="621792" cy="62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  <p:grpSp>
        <p:nvGrpSpPr>
          <p:cNvPr id="378" name="Google Shape;378;p6"/>
          <p:cNvGrpSpPr/>
          <p:nvPr/>
        </p:nvGrpSpPr>
        <p:grpSpPr>
          <a:xfrm>
            <a:off x="2029968" y="8325612"/>
            <a:ext cx="4649724" cy="768096"/>
            <a:chOff x="0" y="0"/>
            <a:chExt cx="6199632" cy="1024128"/>
          </a:xfrm>
        </p:grpSpPr>
        <p:sp>
          <p:nvSpPr>
            <p:cNvPr id="379" name="Google Shape;379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Billetera con escrow</a:t>
              </a:r>
              <a:endParaRPr/>
            </a:p>
          </p:txBody>
        </p:sp>
      </p:grpSp>
      <p:sp>
        <p:nvSpPr>
          <p:cNvPr id="381" name="Google Shape;381;p6"/>
          <p:cNvSpPr/>
          <p:nvPr/>
        </p:nvSpPr>
        <p:spPr>
          <a:xfrm>
            <a:off x="7163943" y="8316087"/>
            <a:ext cx="5574029" cy="787146"/>
          </a:xfrm>
          <a:custGeom>
            <a:rect b="b" l="l" r="r" t="t"/>
            <a:pathLst>
              <a:path extrusionOk="0" h="1049528" w="7432039">
                <a:moveTo>
                  <a:pt x="0" y="167894"/>
                </a:moveTo>
                <a:cubicBezTo>
                  <a:pt x="0" y="75184"/>
                  <a:pt x="75184" y="0"/>
                  <a:pt x="167894" y="0"/>
                </a:cubicBezTo>
                <a:lnTo>
                  <a:pt x="7264146" y="0"/>
                </a:lnTo>
                <a:cubicBezTo>
                  <a:pt x="7356856" y="0"/>
                  <a:pt x="7432039" y="75184"/>
                  <a:pt x="7432039" y="167894"/>
                </a:cubicBezTo>
                <a:lnTo>
                  <a:pt x="7432039" y="881634"/>
                </a:lnTo>
                <a:cubicBezTo>
                  <a:pt x="7432039" y="974344"/>
                  <a:pt x="7356856" y="1049528"/>
                  <a:pt x="7264146" y="1049528"/>
                </a:cubicBezTo>
                <a:lnTo>
                  <a:pt x="167894" y="1049528"/>
                </a:lnTo>
                <a:cubicBezTo>
                  <a:pt x="75184" y="1049528"/>
                  <a:pt x="0" y="974344"/>
                  <a:pt x="0" y="881634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" name="Google Shape;382;p6"/>
          <p:cNvGrpSpPr/>
          <p:nvPr/>
        </p:nvGrpSpPr>
        <p:grpSpPr>
          <a:xfrm>
            <a:off x="7968996" y="8325612"/>
            <a:ext cx="4649724" cy="768096"/>
            <a:chOff x="0" y="0"/>
            <a:chExt cx="6199632" cy="1024128"/>
          </a:xfrm>
        </p:grpSpPr>
        <p:sp>
          <p:nvSpPr>
            <p:cNvPr id="383" name="Google Shape;383;p6"/>
            <p:cNvSpPr/>
            <p:nvPr/>
          </p:nvSpPr>
          <p:spPr>
            <a:xfrm>
              <a:off x="0" y="0"/>
              <a:ext cx="6199630" cy="1024128"/>
            </a:xfrm>
            <a:custGeom>
              <a:rect b="b" l="l" r="r" t="t"/>
              <a:pathLst>
                <a:path extrusionOk="0" h="1024128" w="6199630">
                  <a:moveTo>
                    <a:pt x="0" y="0"/>
                  </a:moveTo>
                  <a:lnTo>
                    <a:pt x="6199630" y="0"/>
                  </a:lnTo>
                  <a:lnTo>
                    <a:pt x="619963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952" l="0" r="0" t="-679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6"/>
            <p:cNvSpPr txBox="1"/>
            <p:nvPr/>
          </p:nvSpPr>
          <p:spPr>
            <a:xfrm>
              <a:off x="0" y="0"/>
              <a:ext cx="6199632" cy="1024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Pagos reales (pasarela)</a:t>
              </a:r>
              <a:endParaRPr/>
            </a:p>
          </p:txBody>
        </p:sp>
      </p:grpSp>
      <p:grpSp>
        <p:nvGrpSpPr>
          <p:cNvPr id="385" name="Google Shape;385;p6"/>
          <p:cNvGrpSpPr/>
          <p:nvPr/>
        </p:nvGrpSpPr>
        <p:grpSpPr>
          <a:xfrm>
            <a:off x="1234440" y="9628632"/>
            <a:ext cx="10972800" cy="411480"/>
            <a:chOff x="0" y="0"/>
            <a:chExt cx="14630400" cy="548640"/>
          </a:xfrm>
        </p:grpSpPr>
        <p:sp>
          <p:nvSpPr>
            <p:cNvPr id="386" name="Google Shape;386;p6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6"/>
            <p:cNvSpPr txBox="1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Splash  ·  Capstone PTY4614  ·  Propuesta de proyecto</a:t>
              </a:r>
              <a:endParaRPr/>
            </a:p>
          </p:txBody>
        </p:sp>
      </p:grpSp>
      <p:grpSp>
        <p:nvGrpSpPr>
          <p:cNvPr id="388" name="Google Shape;388;p6"/>
          <p:cNvGrpSpPr/>
          <p:nvPr/>
        </p:nvGrpSpPr>
        <p:grpSpPr>
          <a:xfrm>
            <a:off x="15636240" y="9628632"/>
            <a:ext cx="1412748" cy="411480"/>
            <a:chOff x="0" y="0"/>
            <a:chExt cx="1883664" cy="548640"/>
          </a:xfrm>
        </p:grpSpPr>
        <p:sp>
          <p:nvSpPr>
            <p:cNvPr id="389" name="Google Shape;389;p6"/>
            <p:cNvSpPr/>
            <p:nvPr/>
          </p:nvSpPr>
          <p:spPr>
            <a:xfrm>
              <a:off x="0" y="0"/>
              <a:ext cx="1883664" cy="548640"/>
            </a:xfrm>
            <a:custGeom>
              <a:rect b="b" l="l" r="r" t="t"/>
              <a:pathLst>
                <a:path extrusionOk="0" h="548640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99" l="0" r="0" t="-168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6"/>
            <p:cNvSpPr txBox="1"/>
            <p:nvPr/>
          </p:nvSpPr>
          <p:spPr>
            <a:xfrm>
              <a:off x="0" y="0"/>
              <a:ext cx="18836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/>
            </a:p>
          </p:txBody>
        </p:sp>
      </p:grpSp>
      <p:sp>
        <p:nvSpPr>
          <p:cNvPr id="391" name="Google Shape;391;p6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6"/>
          <p:cNvGrpSpPr/>
          <p:nvPr/>
        </p:nvGrpSpPr>
        <p:grpSpPr>
          <a:xfrm>
            <a:off x="7366472" y="8476484"/>
            <a:ext cx="466425" cy="466425"/>
            <a:chOff x="0" y="0"/>
            <a:chExt cx="621900" cy="621900"/>
          </a:xfrm>
        </p:grpSpPr>
        <p:sp>
          <p:nvSpPr>
            <p:cNvPr id="393" name="Google Shape;393;p6"/>
            <p:cNvSpPr/>
            <p:nvPr/>
          </p:nvSpPr>
          <p:spPr>
            <a:xfrm>
              <a:off x="0" y="0"/>
              <a:ext cx="621792" cy="621665"/>
            </a:xfrm>
            <a:custGeom>
              <a:rect b="b" l="l" r="r" t="t"/>
              <a:pathLst>
                <a:path extrusionOk="0" h="621665" w="62179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372999" y="0"/>
                  </a:lnTo>
                  <a:cubicBezTo>
                    <a:pt x="510413" y="0"/>
                    <a:pt x="621792" y="111379"/>
                    <a:pt x="621792" y="248666"/>
                  </a:cubicBezTo>
                  <a:lnTo>
                    <a:pt x="621792" y="372999"/>
                  </a:lnTo>
                  <a:cubicBezTo>
                    <a:pt x="621792" y="510413"/>
                    <a:pt x="510413" y="621665"/>
                    <a:pt x="373126" y="621665"/>
                  </a:cubicBezTo>
                  <a:lnTo>
                    <a:pt x="248666" y="621665"/>
                  </a:lnTo>
                  <a:cubicBezTo>
                    <a:pt x="111379" y="621792"/>
                    <a:pt x="0" y="510413"/>
                    <a:pt x="0" y="373126"/>
                  </a:cubicBezTo>
                  <a:close/>
                </a:path>
              </a:pathLst>
            </a:custGeom>
            <a:solidFill>
              <a:srgbClr val="E8F5E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6"/>
            <p:cNvSpPr txBox="1"/>
            <p:nvPr/>
          </p:nvSpPr>
          <p:spPr>
            <a:xfrm>
              <a:off x="0" y="0"/>
              <a:ext cx="6219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"/>
          <p:cNvSpPr txBox="1"/>
          <p:nvPr/>
        </p:nvSpPr>
        <p:spPr>
          <a:xfrm>
            <a:off x="1838739" y="930551"/>
            <a:ext cx="3810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B5A91"/>
                </a:solidFill>
              </a:rPr>
              <a:t>ALCANCE MVP</a:t>
            </a:r>
            <a:endParaRPr sz="1850"/>
          </a:p>
        </p:txBody>
      </p:sp>
      <p:sp>
        <p:nvSpPr>
          <p:cNvPr id="400" name="Google Shape;400;p7"/>
          <p:cNvSpPr txBox="1"/>
          <p:nvPr/>
        </p:nvSpPr>
        <p:spPr>
          <a:xfrm>
            <a:off x="1238250" y="1238250"/>
            <a:ext cx="1581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El MVP valida el ciclo mínimo funcional</a:t>
            </a:r>
            <a:endParaRPr/>
          </a:p>
        </p:txBody>
      </p:sp>
      <p:sp>
        <p:nvSpPr>
          <p:cNvPr id="401" name="Google Shape;401;p7"/>
          <p:cNvSpPr txBox="1"/>
          <p:nvPr/>
        </p:nvSpPr>
        <p:spPr>
          <a:xfrm>
            <a:off x="1238250" y="1800225"/>
            <a:ext cx="114300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entre cliente, trabajador y plataforma.</a:t>
            </a:r>
            <a:endParaRPr/>
          </a:p>
        </p:txBody>
      </p:sp>
      <p:grpSp>
        <p:nvGrpSpPr>
          <p:cNvPr id="402" name="Google Shape;402;p7"/>
          <p:cNvGrpSpPr/>
          <p:nvPr/>
        </p:nvGrpSpPr>
        <p:grpSpPr>
          <a:xfrm>
            <a:off x="1238250" y="2338388"/>
            <a:ext cx="7048500" cy="385763"/>
            <a:chOff x="0" y="-57150"/>
            <a:chExt cx="9398000" cy="514350"/>
          </a:xfrm>
        </p:grpSpPr>
        <p:sp>
          <p:nvSpPr>
            <p:cNvPr id="403" name="Google Shape;403;p7"/>
            <p:cNvSpPr/>
            <p:nvPr/>
          </p:nvSpPr>
          <p:spPr>
            <a:xfrm>
              <a:off x="0" y="0"/>
              <a:ext cx="9398000" cy="457200"/>
            </a:xfrm>
            <a:custGeom>
              <a:rect b="b" l="l" r="r" t="t"/>
              <a:pathLst>
                <a:path extrusionOk="0" h="457200" w="9398000">
                  <a:moveTo>
                    <a:pt x="45720" y="0"/>
                  </a:moveTo>
                  <a:lnTo>
                    <a:pt x="9352280" y="0"/>
                  </a:lnTo>
                  <a:cubicBezTo>
                    <a:pt x="9377531" y="0"/>
                    <a:pt x="9398000" y="20470"/>
                    <a:pt x="9398000" y="45720"/>
                  </a:cubicBezTo>
                  <a:lnTo>
                    <a:pt x="9398000" y="411480"/>
                  </a:lnTo>
                  <a:cubicBezTo>
                    <a:pt x="9398000" y="436730"/>
                    <a:pt x="9377531" y="457200"/>
                    <a:pt x="93522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7"/>
            <p:cNvSpPr txBox="1"/>
            <p:nvPr/>
          </p:nvSpPr>
          <p:spPr>
            <a:xfrm>
              <a:off x="0" y="-57150"/>
              <a:ext cx="93980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9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CLIENTE</a:t>
              </a:r>
              <a:endParaRPr/>
            </a:p>
          </p:txBody>
        </p:sp>
      </p:grpSp>
      <p:grpSp>
        <p:nvGrpSpPr>
          <p:cNvPr id="405" name="Google Shape;405;p7"/>
          <p:cNvGrpSpPr/>
          <p:nvPr/>
        </p:nvGrpSpPr>
        <p:grpSpPr>
          <a:xfrm>
            <a:off x="8667750" y="2338388"/>
            <a:ext cx="7048500" cy="385763"/>
            <a:chOff x="0" y="-57150"/>
            <a:chExt cx="9398000" cy="514350"/>
          </a:xfrm>
        </p:grpSpPr>
        <p:sp>
          <p:nvSpPr>
            <p:cNvPr id="406" name="Google Shape;406;p7"/>
            <p:cNvSpPr/>
            <p:nvPr/>
          </p:nvSpPr>
          <p:spPr>
            <a:xfrm>
              <a:off x="0" y="0"/>
              <a:ext cx="9398000" cy="457200"/>
            </a:xfrm>
            <a:custGeom>
              <a:rect b="b" l="l" r="r" t="t"/>
              <a:pathLst>
                <a:path extrusionOk="0" h="457200" w="9398000">
                  <a:moveTo>
                    <a:pt x="45720" y="0"/>
                  </a:moveTo>
                  <a:lnTo>
                    <a:pt x="9352280" y="0"/>
                  </a:lnTo>
                  <a:cubicBezTo>
                    <a:pt x="9377531" y="0"/>
                    <a:pt x="9398000" y="20470"/>
                    <a:pt x="9398000" y="45720"/>
                  </a:cubicBezTo>
                  <a:lnTo>
                    <a:pt x="9398000" y="411480"/>
                  </a:lnTo>
                  <a:cubicBezTo>
                    <a:pt x="9398000" y="436730"/>
                    <a:pt x="9377531" y="457200"/>
                    <a:pt x="93522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64E8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7"/>
            <p:cNvSpPr txBox="1"/>
            <p:nvPr/>
          </p:nvSpPr>
          <p:spPr>
            <a:xfrm>
              <a:off x="0" y="-57150"/>
              <a:ext cx="93980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9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TRABAJADOR</a:t>
              </a:r>
              <a:endParaRPr/>
            </a:p>
          </p:txBody>
        </p:sp>
      </p:grpSp>
      <p:grpSp>
        <p:nvGrpSpPr>
          <p:cNvPr id="408" name="Google Shape;408;p7"/>
          <p:cNvGrpSpPr/>
          <p:nvPr/>
        </p:nvGrpSpPr>
        <p:grpSpPr>
          <a:xfrm>
            <a:off x="1238250" y="2771775"/>
            <a:ext cx="7048500" cy="523875"/>
            <a:chOff x="0" y="-38100"/>
            <a:chExt cx="9398000" cy="698500"/>
          </a:xfrm>
        </p:grpSpPr>
        <p:sp>
          <p:nvSpPr>
            <p:cNvPr id="409" name="Google Shape;409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7"/>
          <p:cNvGrpSpPr/>
          <p:nvPr/>
        </p:nvGrpSpPr>
        <p:grpSpPr>
          <a:xfrm>
            <a:off x="1352550" y="2855119"/>
            <a:ext cx="342900" cy="411956"/>
            <a:chOff x="0" y="-28575"/>
            <a:chExt cx="457200" cy="549275"/>
          </a:xfrm>
        </p:grpSpPr>
        <p:sp>
          <p:nvSpPr>
            <p:cNvPr id="412" name="Google Shape;412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414" name="Google Shape;414;p7"/>
          <p:cNvSpPr txBox="1"/>
          <p:nvPr/>
        </p:nvSpPr>
        <p:spPr>
          <a:xfrm>
            <a:off x="1790700" y="28575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  <a:endParaRPr/>
          </a:p>
        </p:txBody>
      </p:sp>
      <p:sp>
        <p:nvSpPr>
          <p:cNvPr id="415" name="Google Shape;415;p7"/>
          <p:cNvSpPr txBox="1"/>
          <p:nvPr/>
        </p:nvSpPr>
        <p:spPr>
          <a:xfrm>
            <a:off x="1790700" y="30480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Crear cuenta e iniciar sesión.</a:t>
            </a:r>
            <a:endParaRPr/>
          </a:p>
        </p:txBody>
      </p:sp>
      <p:sp>
        <p:nvSpPr>
          <p:cNvPr id="416" name="Google Shape;416;p7"/>
          <p:cNvSpPr txBox="1"/>
          <p:nvPr/>
        </p:nvSpPr>
        <p:spPr>
          <a:xfrm>
            <a:off x="4619625" y="33337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A9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417" name="Google Shape;417;p7"/>
          <p:cNvGrpSpPr/>
          <p:nvPr/>
        </p:nvGrpSpPr>
        <p:grpSpPr>
          <a:xfrm>
            <a:off x="1238250" y="3457575"/>
            <a:ext cx="7048500" cy="523875"/>
            <a:chOff x="0" y="-38100"/>
            <a:chExt cx="9398000" cy="698500"/>
          </a:xfrm>
        </p:grpSpPr>
        <p:sp>
          <p:nvSpPr>
            <p:cNvPr id="418" name="Google Shape;418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0" name="Google Shape;420;p7"/>
          <p:cNvGrpSpPr/>
          <p:nvPr/>
        </p:nvGrpSpPr>
        <p:grpSpPr>
          <a:xfrm>
            <a:off x="1352550" y="3540919"/>
            <a:ext cx="342900" cy="411956"/>
            <a:chOff x="0" y="-28575"/>
            <a:chExt cx="457200" cy="549275"/>
          </a:xfrm>
        </p:grpSpPr>
        <p:sp>
          <p:nvSpPr>
            <p:cNvPr id="421" name="Google Shape;421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423" name="Google Shape;423;p7"/>
          <p:cNvSpPr txBox="1"/>
          <p:nvPr/>
        </p:nvSpPr>
        <p:spPr>
          <a:xfrm>
            <a:off x="1790700" y="35433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Solicitud</a:t>
            </a:r>
            <a:endParaRPr/>
          </a:p>
        </p:txBody>
      </p:sp>
      <p:sp>
        <p:nvSpPr>
          <p:cNvPr id="424" name="Google Shape;424;p7"/>
          <p:cNvSpPr txBox="1"/>
          <p:nvPr/>
        </p:nvSpPr>
        <p:spPr>
          <a:xfrm>
            <a:off x="1790700" y="37338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Servicio, dirección, fecha y horario.</a:t>
            </a:r>
            <a:endParaRPr/>
          </a:p>
        </p:txBody>
      </p:sp>
      <p:sp>
        <p:nvSpPr>
          <p:cNvPr id="425" name="Google Shape;425;p7"/>
          <p:cNvSpPr txBox="1"/>
          <p:nvPr/>
        </p:nvSpPr>
        <p:spPr>
          <a:xfrm>
            <a:off x="4619625" y="40195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A9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426" name="Google Shape;426;p7"/>
          <p:cNvGrpSpPr/>
          <p:nvPr/>
        </p:nvGrpSpPr>
        <p:grpSpPr>
          <a:xfrm>
            <a:off x="1238250" y="4143375"/>
            <a:ext cx="7048500" cy="523875"/>
            <a:chOff x="0" y="-38100"/>
            <a:chExt cx="9398000" cy="698500"/>
          </a:xfrm>
        </p:grpSpPr>
        <p:sp>
          <p:nvSpPr>
            <p:cNvPr id="427" name="Google Shape;427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7"/>
          <p:cNvGrpSpPr/>
          <p:nvPr/>
        </p:nvGrpSpPr>
        <p:grpSpPr>
          <a:xfrm>
            <a:off x="1352550" y="4226719"/>
            <a:ext cx="342900" cy="411956"/>
            <a:chOff x="0" y="-28575"/>
            <a:chExt cx="457200" cy="549275"/>
          </a:xfrm>
        </p:grpSpPr>
        <p:sp>
          <p:nvSpPr>
            <p:cNvPr id="430" name="Google Shape;430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432" name="Google Shape;432;p7"/>
          <p:cNvSpPr txBox="1"/>
          <p:nvPr/>
        </p:nvSpPr>
        <p:spPr>
          <a:xfrm>
            <a:off x="1790700" y="42291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Asignación</a:t>
            </a:r>
            <a:endParaRPr/>
          </a:p>
        </p:txBody>
      </p:sp>
      <p:sp>
        <p:nvSpPr>
          <p:cNvPr id="433" name="Google Shape;433;p7"/>
          <p:cNvSpPr txBox="1"/>
          <p:nvPr/>
        </p:nvSpPr>
        <p:spPr>
          <a:xfrm>
            <a:off x="1790700" y="44196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Conectar con un trabajador disponible.</a:t>
            </a:r>
            <a:endParaRPr/>
          </a:p>
        </p:txBody>
      </p:sp>
      <p:sp>
        <p:nvSpPr>
          <p:cNvPr id="434" name="Google Shape;434;p7"/>
          <p:cNvSpPr txBox="1"/>
          <p:nvPr/>
        </p:nvSpPr>
        <p:spPr>
          <a:xfrm>
            <a:off x="4619625" y="47053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A9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435" name="Google Shape;435;p7"/>
          <p:cNvGrpSpPr/>
          <p:nvPr/>
        </p:nvGrpSpPr>
        <p:grpSpPr>
          <a:xfrm>
            <a:off x="1238250" y="4829175"/>
            <a:ext cx="7048500" cy="523875"/>
            <a:chOff x="0" y="-38100"/>
            <a:chExt cx="9398000" cy="698500"/>
          </a:xfrm>
        </p:grpSpPr>
        <p:sp>
          <p:nvSpPr>
            <p:cNvPr id="436" name="Google Shape;436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438;p7"/>
          <p:cNvGrpSpPr/>
          <p:nvPr/>
        </p:nvGrpSpPr>
        <p:grpSpPr>
          <a:xfrm>
            <a:off x="1352550" y="4912519"/>
            <a:ext cx="342900" cy="411956"/>
            <a:chOff x="0" y="-28575"/>
            <a:chExt cx="457200" cy="549275"/>
          </a:xfrm>
        </p:grpSpPr>
        <p:sp>
          <p:nvSpPr>
            <p:cNvPr id="439" name="Google Shape;439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441" name="Google Shape;441;p7"/>
          <p:cNvSpPr txBox="1"/>
          <p:nvPr/>
        </p:nvSpPr>
        <p:spPr>
          <a:xfrm>
            <a:off x="1790700" y="49149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/>
          </a:p>
        </p:txBody>
      </p:sp>
      <p:sp>
        <p:nvSpPr>
          <p:cNvPr id="442" name="Google Shape;442;p7"/>
          <p:cNvSpPr txBox="1"/>
          <p:nvPr/>
        </p:nvSpPr>
        <p:spPr>
          <a:xfrm>
            <a:off x="1790700" y="51054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Estado y avance del servicio.</a:t>
            </a:r>
            <a:endParaRPr/>
          </a:p>
        </p:txBody>
      </p:sp>
      <p:sp>
        <p:nvSpPr>
          <p:cNvPr id="443" name="Google Shape;443;p7"/>
          <p:cNvSpPr txBox="1"/>
          <p:nvPr/>
        </p:nvSpPr>
        <p:spPr>
          <a:xfrm>
            <a:off x="4619625" y="53911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A9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444" name="Google Shape;444;p7"/>
          <p:cNvGrpSpPr/>
          <p:nvPr/>
        </p:nvGrpSpPr>
        <p:grpSpPr>
          <a:xfrm>
            <a:off x="1238250" y="5514975"/>
            <a:ext cx="7048500" cy="523875"/>
            <a:chOff x="0" y="-38100"/>
            <a:chExt cx="9398000" cy="698500"/>
          </a:xfrm>
        </p:grpSpPr>
        <p:sp>
          <p:nvSpPr>
            <p:cNvPr id="445" name="Google Shape;445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7" name="Google Shape;447;p7"/>
          <p:cNvGrpSpPr/>
          <p:nvPr/>
        </p:nvGrpSpPr>
        <p:grpSpPr>
          <a:xfrm>
            <a:off x="1352550" y="5598319"/>
            <a:ext cx="342900" cy="411956"/>
            <a:chOff x="0" y="-28575"/>
            <a:chExt cx="457200" cy="549275"/>
          </a:xfrm>
        </p:grpSpPr>
        <p:sp>
          <p:nvSpPr>
            <p:cNvPr id="448" name="Google Shape;448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450" name="Google Shape;450;p7"/>
          <p:cNvSpPr txBox="1"/>
          <p:nvPr/>
        </p:nvSpPr>
        <p:spPr>
          <a:xfrm>
            <a:off x="1790700" y="56007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Finalización</a:t>
            </a:r>
            <a:endParaRPr/>
          </a:p>
        </p:txBody>
      </p:sp>
      <p:sp>
        <p:nvSpPr>
          <p:cNvPr id="451" name="Google Shape;451;p7"/>
          <p:cNvSpPr txBox="1"/>
          <p:nvPr/>
        </p:nvSpPr>
        <p:spPr>
          <a:xfrm>
            <a:off x="1790700" y="57912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Confirmar servicio completado.</a:t>
            </a:r>
            <a:endParaRPr/>
          </a:p>
        </p:txBody>
      </p:sp>
      <p:sp>
        <p:nvSpPr>
          <p:cNvPr id="452" name="Google Shape;452;p7"/>
          <p:cNvSpPr txBox="1"/>
          <p:nvPr/>
        </p:nvSpPr>
        <p:spPr>
          <a:xfrm>
            <a:off x="4619625" y="60769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A9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453" name="Google Shape;453;p7"/>
          <p:cNvGrpSpPr/>
          <p:nvPr/>
        </p:nvGrpSpPr>
        <p:grpSpPr>
          <a:xfrm>
            <a:off x="1238250" y="6200775"/>
            <a:ext cx="7048500" cy="523875"/>
            <a:chOff x="0" y="-38100"/>
            <a:chExt cx="9398000" cy="698500"/>
          </a:xfrm>
        </p:grpSpPr>
        <p:sp>
          <p:nvSpPr>
            <p:cNvPr id="454" name="Google Shape;454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6" name="Google Shape;456;p7"/>
          <p:cNvGrpSpPr/>
          <p:nvPr/>
        </p:nvGrpSpPr>
        <p:grpSpPr>
          <a:xfrm>
            <a:off x="1352550" y="6284119"/>
            <a:ext cx="342900" cy="411956"/>
            <a:chOff x="0" y="-28575"/>
            <a:chExt cx="457200" cy="549275"/>
          </a:xfrm>
        </p:grpSpPr>
        <p:sp>
          <p:nvSpPr>
            <p:cNvPr id="457" name="Google Shape;457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459" name="Google Shape;459;p7"/>
          <p:cNvSpPr txBox="1"/>
          <p:nvPr/>
        </p:nvSpPr>
        <p:spPr>
          <a:xfrm>
            <a:off x="1790700" y="62865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Pago / Calificación</a:t>
            </a:r>
            <a:endParaRPr/>
          </a:p>
        </p:txBody>
      </p:sp>
      <p:sp>
        <p:nvSpPr>
          <p:cNvPr id="460" name="Google Shape;460;p7"/>
          <p:cNvSpPr txBox="1"/>
          <p:nvPr/>
        </p:nvSpPr>
        <p:spPr>
          <a:xfrm>
            <a:off x="1790700" y="64770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Pago digital y evaluación.</a:t>
            </a:r>
            <a:endParaRPr/>
          </a:p>
        </p:txBody>
      </p:sp>
      <p:grpSp>
        <p:nvGrpSpPr>
          <p:cNvPr id="461" name="Google Shape;461;p7"/>
          <p:cNvGrpSpPr/>
          <p:nvPr/>
        </p:nvGrpSpPr>
        <p:grpSpPr>
          <a:xfrm>
            <a:off x="8667750" y="2771775"/>
            <a:ext cx="7048500" cy="523875"/>
            <a:chOff x="0" y="-38100"/>
            <a:chExt cx="9398000" cy="698500"/>
          </a:xfrm>
        </p:grpSpPr>
        <p:sp>
          <p:nvSpPr>
            <p:cNvPr id="462" name="Google Shape;462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7"/>
          <p:cNvGrpSpPr/>
          <p:nvPr/>
        </p:nvGrpSpPr>
        <p:grpSpPr>
          <a:xfrm>
            <a:off x="8782050" y="2855119"/>
            <a:ext cx="342900" cy="411956"/>
            <a:chOff x="0" y="-28575"/>
            <a:chExt cx="457200" cy="549275"/>
          </a:xfrm>
        </p:grpSpPr>
        <p:sp>
          <p:nvSpPr>
            <p:cNvPr id="465" name="Google Shape;465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467" name="Google Shape;467;p7"/>
          <p:cNvSpPr txBox="1"/>
          <p:nvPr/>
        </p:nvSpPr>
        <p:spPr>
          <a:xfrm>
            <a:off x="9220200" y="28575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  <a:endParaRPr/>
          </a:p>
        </p:txBody>
      </p:sp>
      <p:sp>
        <p:nvSpPr>
          <p:cNvPr id="468" name="Google Shape;468;p7"/>
          <p:cNvSpPr txBox="1"/>
          <p:nvPr/>
        </p:nvSpPr>
        <p:spPr>
          <a:xfrm>
            <a:off x="9220200" y="30480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Crear perfil como prestador.</a:t>
            </a:r>
            <a:endParaRPr/>
          </a:p>
        </p:txBody>
      </p:sp>
      <p:sp>
        <p:nvSpPr>
          <p:cNvPr id="469" name="Google Shape;469;p7"/>
          <p:cNvSpPr txBox="1"/>
          <p:nvPr/>
        </p:nvSpPr>
        <p:spPr>
          <a:xfrm>
            <a:off x="12049125" y="33337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A9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470" name="Google Shape;470;p7"/>
          <p:cNvGrpSpPr/>
          <p:nvPr/>
        </p:nvGrpSpPr>
        <p:grpSpPr>
          <a:xfrm>
            <a:off x="8667750" y="3457575"/>
            <a:ext cx="7048500" cy="523875"/>
            <a:chOff x="0" y="-38100"/>
            <a:chExt cx="9398000" cy="698500"/>
          </a:xfrm>
        </p:grpSpPr>
        <p:sp>
          <p:nvSpPr>
            <p:cNvPr id="471" name="Google Shape;471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3" name="Google Shape;473;p7"/>
          <p:cNvGrpSpPr/>
          <p:nvPr/>
        </p:nvGrpSpPr>
        <p:grpSpPr>
          <a:xfrm>
            <a:off x="8782050" y="3540919"/>
            <a:ext cx="342900" cy="411956"/>
            <a:chOff x="0" y="-28575"/>
            <a:chExt cx="457200" cy="549275"/>
          </a:xfrm>
        </p:grpSpPr>
        <p:sp>
          <p:nvSpPr>
            <p:cNvPr id="474" name="Google Shape;474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476" name="Google Shape;476;p7"/>
          <p:cNvSpPr txBox="1"/>
          <p:nvPr/>
        </p:nvSpPr>
        <p:spPr>
          <a:xfrm>
            <a:off x="9220200" y="35433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Disponibilidad</a:t>
            </a:r>
            <a:endParaRPr/>
          </a:p>
        </p:txBody>
      </p:sp>
      <p:sp>
        <p:nvSpPr>
          <p:cNvPr id="477" name="Google Shape;477;p7"/>
          <p:cNvSpPr txBox="1"/>
          <p:nvPr/>
        </p:nvSpPr>
        <p:spPr>
          <a:xfrm>
            <a:off x="9220200" y="37338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Indicar disponibilidad.</a:t>
            </a:r>
            <a:endParaRPr/>
          </a:p>
        </p:txBody>
      </p:sp>
      <p:sp>
        <p:nvSpPr>
          <p:cNvPr id="478" name="Google Shape;478;p7"/>
          <p:cNvSpPr txBox="1"/>
          <p:nvPr/>
        </p:nvSpPr>
        <p:spPr>
          <a:xfrm>
            <a:off x="12049125" y="40195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A9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479" name="Google Shape;479;p7"/>
          <p:cNvGrpSpPr/>
          <p:nvPr/>
        </p:nvGrpSpPr>
        <p:grpSpPr>
          <a:xfrm>
            <a:off x="8667750" y="4143375"/>
            <a:ext cx="7048500" cy="523875"/>
            <a:chOff x="0" y="-38100"/>
            <a:chExt cx="9398000" cy="698500"/>
          </a:xfrm>
        </p:grpSpPr>
        <p:sp>
          <p:nvSpPr>
            <p:cNvPr id="480" name="Google Shape;480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" name="Google Shape;482;p7"/>
          <p:cNvGrpSpPr/>
          <p:nvPr/>
        </p:nvGrpSpPr>
        <p:grpSpPr>
          <a:xfrm>
            <a:off x="8782050" y="4226719"/>
            <a:ext cx="342900" cy="411956"/>
            <a:chOff x="0" y="-28575"/>
            <a:chExt cx="457200" cy="549275"/>
          </a:xfrm>
        </p:grpSpPr>
        <p:sp>
          <p:nvSpPr>
            <p:cNvPr id="483" name="Google Shape;483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485" name="Google Shape;485;p7"/>
          <p:cNvSpPr txBox="1"/>
          <p:nvPr/>
        </p:nvSpPr>
        <p:spPr>
          <a:xfrm>
            <a:off x="9220200" y="42291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Aceptación</a:t>
            </a:r>
            <a:endParaRPr/>
          </a:p>
        </p:txBody>
      </p:sp>
      <p:sp>
        <p:nvSpPr>
          <p:cNvPr id="486" name="Google Shape;486;p7"/>
          <p:cNvSpPr txBox="1"/>
          <p:nvPr/>
        </p:nvSpPr>
        <p:spPr>
          <a:xfrm>
            <a:off x="9220200" y="44196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Recibir y aceptar solicitud.</a:t>
            </a:r>
            <a:endParaRPr/>
          </a:p>
        </p:txBody>
      </p:sp>
      <p:sp>
        <p:nvSpPr>
          <p:cNvPr id="487" name="Google Shape;487;p7"/>
          <p:cNvSpPr txBox="1"/>
          <p:nvPr/>
        </p:nvSpPr>
        <p:spPr>
          <a:xfrm>
            <a:off x="12049125" y="47053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A9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488" name="Google Shape;488;p7"/>
          <p:cNvGrpSpPr/>
          <p:nvPr/>
        </p:nvGrpSpPr>
        <p:grpSpPr>
          <a:xfrm>
            <a:off x="8667750" y="4829175"/>
            <a:ext cx="7048500" cy="523875"/>
            <a:chOff x="0" y="-38100"/>
            <a:chExt cx="9398000" cy="698500"/>
          </a:xfrm>
        </p:grpSpPr>
        <p:sp>
          <p:nvSpPr>
            <p:cNvPr id="489" name="Google Shape;489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1" name="Google Shape;491;p7"/>
          <p:cNvGrpSpPr/>
          <p:nvPr/>
        </p:nvGrpSpPr>
        <p:grpSpPr>
          <a:xfrm>
            <a:off x="8782050" y="4912519"/>
            <a:ext cx="342900" cy="411956"/>
            <a:chOff x="0" y="-28575"/>
            <a:chExt cx="457200" cy="549275"/>
          </a:xfrm>
        </p:grpSpPr>
        <p:sp>
          <p:nvSpPr>
            <p:cNvPr id="492" name="Google Shape;492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494" name="Google Shape;494;p7"/>
          <p:cNvSpPr txBox="1"/>
          <p:nvPr/>
        </p:nvSpPr>
        <p:spPr>
          <a:xfrm>
            <a:off x="9220200" y="49149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Ejecución</a:t>
            </a:r>
            <a:endParaRPr/>
          </a:p>
        </p:txBody>
      </p:sp>
      <p:sp>
        <p:nvSpPr>
          <p:cNvPr id="495" name="Google Shape;495;p7"/>
          <p:cNvSpPr txBox="1"/>
          <p:nvPr/>
        </p:nvSpPr>
        <p:spPr>
          <a:xfrm>
            <a:off x="9220200" y="51054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Realizar el servicio.</a:t>
            </a:r>
            <a:endParaRPr/>
          </a:p>
        </p:txBody>
      </p:sp>
      <p:sp>
        <p:nvSpPr>
          <p:cNvPr id="496" name="Google Shape;496;p7"/>
          <p:cNvSpPr txBox="1"/>
          <p:nvPr/>
        </p:nvSpPr>
        <p:spPr>
          <a:xfrm>
            <a:off x="12049125" y="53911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A9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497" name="Google Shape;497;p7"/>
          <p:cNvGrpSpPr/>
          <p:nvPr/>
        </p:nvGrpSpPr>
        <p:grpSpPr>
          <a:xfrm>
            <a:off x="8667750" y="5514975"/>
            <a:ext cx="7048500" cy="523875"/>
            <a:chOff x="0" y="-38100"/>
            <a:chExt cx="9398000" cy="698500"/>
          </a:xfrm>
        </p:grpSpPr>
        <p:sp>
          <p:nvSpPr>
            <p:cNvPr id="498" name="Google Shape;498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" name="Google Shape;500;p7"/>
          <p:cNvGrpSpPr/>
          <p:nvPr/>
        </p:nvGrpSpPr>
        <p:grpSpPr>
          <a:xfrm>
            <a:off x="8782050" y="5598319"/>
            <a:ext cx="342900" cy="411956"/>
            <a:chOff x="0" y="-28575"/>
            <a:chExt cx="457200" cy="549275"/>
          </a:xfrm>
        </p:grpSpPr>
        <p:sp>
          <p:nvSpPr>
            <p:cNvPr id="501" name="Google Shape;501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503" name="Google Shape;503;p7"/>
          <p:cNvSpPr txBox="1"/>
          <p:nvPr/>
        </p:nvSpPr>
        <p:spPr>
          <a:xfrm>
            <a:off x="9220200" y="56007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Evidencia y cierre</a:t>
            </a:r>
            <a:endParaRPr/>
          </a:p>
        </p:txBody>
      </p:sp>
      <p:sp>
        <p:nvSpPr>
          <p:cNvPr id="504" name="Google Shape;504;p7"/>
          <p:cNvSpPr txBox="1"/>
          <p:nvPr/>
        </p:nvSpPr>
        <p:spPr>
          <a:xfrm>
            <a:off x="9220200" y="57912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Registrar evidencia y finalizar.</a:t>
            </a:r>
            <a:endParaRPr/>
          </a:p>
        </p:txBody>
      </p:sp>
      <p:sp>
        <p:nvSpPr>
          <p:cNvPr id="505" name="Google Shape;505;p7"/>
          <p:cNvSpPr txBox="1"/>
          <p:nvPr/>
        </p:nvSpPr>
        <p:spPr>
          <a:xfrm>
            <a:off x="12049125" y="60769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A9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506" name="Google Shape;506;p7"/>
          <p:cNvGrpSpPr/>
          <p:nvPr/>
        </p:nvGrpSpPr>
        <p:grpSpPr>
          <a:xfrm>
            <a:off x="8667750" y="6200775"/>
            <a:ext cx="7048500" cy="523875"/>
            <a:chOff x="0" y="-38100"/>
            <a:chExt cx="9398000" cy="698500"/>
          </a:xfrm>
        </p:grpSpPr>
        <p:sp>
          <p:nvSpPr>
            <p:cNvPr id="507" name="Google Shape;507;p7"/>
            <p:cNvSpPr/>
            <p:nvPr/>
          </p:nvSpPr>
          <p:spPr>
            <a:xfrm>
              <a:off x="0" y="0"/>
              <a:ext cx="9398000" cy="660400"/>
            </a:xfrm>
            <a:custGeom>
              <a:rect b="b" l="l" r="r" t="t"/>
              <a:pathLst>
                <a:path extrusionOk="0" h="660400" w="9398000">
                  <a:moveTo>
                    <a:pt x="66040" y="0"/>
                  </a:moveTo>
                  <a:lnTo>
                    <a:pt x="9331960" y="0"/>
                  </a:lnTo>
                  <a:cubicBezTo>
                    <a:pt x="9349475" y="0"/>
                    <a:pt x="9366272" y="6958"/>
                    <a:pt x="9378657" y="19343"/>
                  </a:cubicBezTo>
                  <a:cubicBezTo>
                    <a:pt x="9391042" y="31728"/>
                    <a:pt x="9398000" y="48525"/>
                    <a:pt x="9398000" y="66040"/>
                  </a:cubicBezTo>
                  <a:lnTo>
                    <a:pt x="9398000" y="594360"/>
                  </a:lnTo>
                  <a:cubicBezTo>
                    <a:pt x="9398000" y="611875"/>
                    <a:pt x="9391042" y="628672"/>
                    <a:pt x="9378657" y="641057"/>
                  </a:cubicBezTo>
                  <a:cubicBezTo>
                    <a:pt x="9366272" y="653442"/>
                    <a:pt x="9349475" y="660400"/>
                    <a:pt x="9331960" y="660400"/>
                  </a:cubicBezTo>
                  <a:lnTo>
                    <a:pt x="66040" y="660400"/>
                  </a:lnTo>
                  <a:cubicBezTo>
                    <a:pt x="48525" y="660400"/>
                    <a:pt x="31728" y="653442"/>
                    <a:pt x="19343" y="641057"/>
                  </a:cubicBezTo>
                  <a:cubicBezTo>
                    <a:pt x="6958" y="628672"/>
                    <a:pt x="0" y="611875"/>
                    <a:pt x="0" y="594360"/>
                  </a:cubicBezTo>
                  <a:lnTo>
                    <a:pt x="0" y="66040"/>
                  </a:lnTo>
                  <a:cubicBezTo>
                    <a:pt x="0" y="29567"/>
                    <a:pt x="29567" y="0"/>
                    <a:pt x="6604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7"/>
            <p:cNvSpPr txBox="1"/>
            <p:nvPr/>
          </p:nvSpPr>
          <p:spPr>
            <a:xfrm>
              <a:off x="0" y="-38100"/>
              <a:ext cx="93980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9" name="Google Shape;509;p7"/>
          <p:cNvGrpSpPr/>
          <p:nvPr/>
        </p:nvGrpSpPr>
        <p:grpSpPr>
          <a:xfrm>
            <a:off x="8782050" y="6284119"/>
            <a:ext cx="342900" cy="411956"/>
            <a:chOff x="0" y="-28575"/>
            <a:chExt cx="457200" cy="549275"/>
          </a:xfrm>
        </p:grpSpPr>
        <p:sp>
          <p:nvSpPr>
            <p:cNvPr id="510" name="Google Shape;510;p7"/>
            <p:cNvSpPr/>
            <p:nvPr/>
          </p:nvSpPr>
          <p:spPr>
            <a:xfrm>
              <a:off x="0" y="0"/>
              <a:ext cx="457200" cy="520700"/>
            </a:xfrm>
            <a:custGeom>
              <a:rect b="b" l="l" r="r" t="t"/>
              <a:pathLst>
                <a:path extrusionOk="0" h="520700" w="457200">
                  <a:moveTo>
                    <a:pt x="228600" y="0"/>
                  </a:moveTo>
                  <a:cubicBezTo>
                    <a:pt x="102348" y="0"/>
                    <a:pt x="0" y="116563"/>
                    <a:pt x="0" y="260350"/>
                  </a:cubicBezTo>
                  <a:cubicBezTo>
                    <a:pt x="0" y="404137"/>
                    <a:pt x="102348" y="520700"/>
                    <a:pt x="228600" y="520700"/>
                  </a:cubicBezTo>
                  <a:cubicBezTo>
                    <a:pt x="354852" y="520700"/>
                    <a:pt x="457200" y="404137"/>
                    <a:pt x="457200" y="260350"/>
                  </a:cubicBezTo>
                  <a:cubicBezTo>
                    <a:pt x="457200" y="116563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7"/>
            <p:cNvSpPr txBox="1"/>
            <p:nvPr/>
          </p:nvSpPr>
          <p:spPr>
            <a:xfrm>
              <a:off x="0" y="-28575"/>
              <a:ext cx="457200" cy="54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512" name="Google Shape;512;p7"/>
          <p:cNvSpPr txBox="1"/>
          <p:nvPr/>
        </p:nvSpPr>
        <p:spPr>
          <a:xfrm>
            <a:off x="9220200" y="6286500"/>
            <a:ext cx="6381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Pago</a:t>
            </a:r>
            <a:endParaRPr/>
          </a:p>
        </p:txBody>
      </p:sp>
      <p:sp>
        <p:nvSpPr>
          <p:cNvPr id="513" name="Google Shape;513;p7"/>
          <p:cNvSpPr txBox="1"/>
          <p:nvPr/>
        </p:nvSpPr>
        <p:spPr>
          <a:xfrm>
            <a:off x="9220200" y="6477000"/>
            <a:ext cx="6381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Recibir el pago correspondiente.</a:t>
            </a:r>
            <a:endParaRPr/>
          </a:p>
        </p:txBody>
      </p:sp>
      <p:grpSp>
        <p:nvGrpSpPr>
          <p:cNvPr id="514" name="Google Shape;514;p7"/>
          <p:cNvGrpSpPr/>
          <p:nvPr/>
        </p:nvGrpSpPr>
        <p:grpSpPr>
          <a:xfrm>
            <a:off x="1238250" y="6905625"/>
            <a:ext cx="14478000" cy="981075"/>
            <a:chOff x="0" y="-38100"/>
            <a:chExt cx="19304000" cy="1308100"/>
          </a:xfrm>
        </p:grpSpPr>
        <p:sp>
          <p:nvSpPr>
            <p:cNvPr id="515" name="Google Shape;515;p7"/>
            <p:cNvSpPr/>
            <p:nvPr/>
          </p:nvSpPr>
          <p:spPr>
            <a:xfrm>
              <a:off x="0" y="0"/>
              <a:ext cx="19304000" cy="1270000"/>
            </a:xfrm>
            <a:custGeom>
              <a:rect b="b" l="l" r="r" t="t"/>
              <a:pathLst>
                <a:path extrusionOk="0" h="1270000" w="19304000">
                  <a:moveTo>
                    <a:pt x="127000" y="0"/>
                  </a:moveTo>
                  <a:lnTo>
                    <a:pt x="19177000" y="0"/>
                  </a:lnTo>
                  <a:cubicBezTo>
                    <a:pt x="19247140" y="0"/>
                    <a:pt x="19304000" y="56860"/>
                    <a:pt x="19304000" y="127000"/>
                  </a:cubicBezTo>
                  <a:lnTo>
                    <a:pt x="19304000" y="1143000"/>
                  </a:lnTo>
                  <a:cubicBezTo>
                    <a:pt x="19304000" y="1213140"/>
                    <a:pt x="19247140" y="1270000"/>
                    <a:pt x="19177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7"/>
            <p:cNvSpPr txBox="1"/>
            <p:nvPr/>
          </p:nvSpPr>
          <p:spPr>
            <a:xfrm>
              <a:off x="0" y="-38100"/>
              <a:ext cx="19304000" cy="1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7"/>
          <p:cNvSpPr txBox="1"/>
          <p:nvPr/>
        </p:nvSpPr>
        <p:spPr>
          <a:xfrm>
            <a:off x="1390650" y="699135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9">
                <a:solidFill>
                  <a:srgbClr val="164E86"/>
                </a:solidFill>
                <a:latin typeface="Arial"/>
                <a:ea typeface="Arial"/>
                <a:cs typeface="Arial"/>
                <a:sym typeface="Arial"/>
              </a:rPr>
              <a:t>Capacidades mínimas de la plataforma</a:t>
            </a:r>
            <a:endParaRPr/>
          </a:p>
        </p:txBody>
      </p:sp>
      <p:grpSp>
        <p:nvGrpSpPr>
          <p:cNvPr id="518" name="Google Shape;518;p7"/>
          <p:cNvGrpSpPr/>
          <p:nvPr/>
        </p:nvGrpSpPr>
        <p:grpSpPr>
          <a:xfrm>
            <a:off x="1390650" y="7205663"/>
            <a:ext cx="2571750" cy="292608"/>
            <a:chOff x="0" y="-19050"/>
            <a:chExt cx="3429000" cy="390145"/>
          </a:xfrm>
        </p:grpSpPr>
        <p:sp>
          <p:nvSpPr>
            <p:cNvPr id="519" name="Google Shape;519;p7"/>
            <p:cNvSpPr/>
            <p:nvPr/>
          </p:nvSpPr>
          <p:spPr>
            <a:xfrm>
              <a:off x="0" y="0"/>
              <a:ext cx="3429000" cy="371095"/>
            </a:xfrm>
            <a:custGeom>
              <a:rect b="b" l="l" r="r" t="t"/>
              <a:pathLst>
                <a:path extrusionOk="0" h="371095" w="3429000">
                  <a:moveTo>
                    <a:pt x="3263900" y="0"/>
                  </a:moveTo>
                  <a:cubicBezTo>
                    <a:pt x="3355082" y="0"/>
                    <a:pt x="3429000" y="83072"/>
                    <a:pt x="3429000" y="185547"/>
                  </a:cubicBezTo>
                  <a:cubicBezTo>
                    <a:pt x="3429000" y="288022"/>
                    <a:pt x="3355082" y="371095"/>
                    <a:pt x="3263900" y="371095"/>
                  </a:cubicBezTo>
                  <a:lnTo>
                    <a:pt x="165100" y="371095"/>
                  </a:lnTo>
                  <a:cubicBezTo>
                    <a:pt x="73918" y="371095"/>
                    <a:pt x="0" y="288022"/>
                    <a:pt x="0" y="185547"/>
                  </a:cubicBezTo>
                  <a:cubicBezTo>
                    <a:pt x="0" y="83072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7"/>
            <p:cNvSpPr txBox="1"/>
            <p:nvPr/>
          </p:nvSpPr>
          <p:spPr>
            <a:xfrm>
              <a:off x="0" y="-19050"/>
              <a:ext cx="3429000" cy="390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>
                  <a:solidFill>
                    <a:srgbClr val="132238"/>
                  </a:solidFill>
                  <a:latin typeface="Arial"/>
                  <a:ea typeface="Arial"/>
                  <a:cs typeface="Arial"/>
                  <a:sym typeface="Arial"/>
                </a:rPr>
                <a:t>Autenticación y roles</a:t>
              </a:r>
              <a:endParaRPr/>
            </a:p>
          </p:txBody>
        </p:sp>
      </p:grpSp>
      <p:grpSp>
        <p:nvGrpSpPr>
          <p:cNvPr id="521" name="Google Shape;521;p7"/>
          <p:cNvGrpSpPr/>
          <p:nvPr/>
        </p:nvGrpSpPr>
        <p:grpSpPr>
          <a:xfrm>
            <a:off x="4114800" y="7205663"/>
            <a:ext cx="2571750" cy="292608"/>
            <a:chOff x="0" y="-19050"/>
            <a:chExt cx="3429000" cy="390145"/>
          </a:xfrm>
        </p:grpSpPr>
        <p:sp>
          <p:nvSpPr>
            <p:cNvPr id="522" name="Google Shape;522;p7"/>
            <p:cNvSpPr/>
            <p:nvPr/>
          </p:nvSpPr>
          <p:spPr>
            <a:xfrm>
              <a:off x="0" y="0"/>
              <a:ext cx="3429000" cy="371095"/>
            </a:xfrm>
            <a:custGeom>
              <a:rect b="b" l="l" r="r" t="t"/>
              <a:pathLst>
                <a:path extrusionOk="0" h="371095" w="3429000">
                  <a:moveTo>
                    <a:pt x="3263900" y="0"/>
                  </a:moveTo>
                  <a:cubicBezTo>
                    <a:pt x="3355082" y="0"/>
                    <a:pt x="3429000" y="83072"/>
                    <a:pt x="3429000" y="185547"/>
                  </a:cubicBezTo>
                  <a:cubicBezTo>
                    <a:pt x="3429000" y="288022"/>
                    <a:pt x="3355082" y="371095"/>
                    <a:pt x="3263900" y="371095"/>
                  </a:cubicBezTo>
                  <a:lnTo>
                    <a:pt x="165100" y="371095"/>
                  </a:lnTo>
                  <a:cubicBezTo>
                    <a:pt x="73918" y="371095"/>
                    <a:pt x="0" y="288022"/>
                    <a:pt x="0" y="185547"/>
                  </a:cubicBezTo>
                  <a:cubicBezTo>
                    <a:pt x="0" y="83072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7"/>
            <p:cNvSpPr txBox="1"/>
            <p:nvPr/>
          </p:nvSpPr>
          <p:spPr>
            <a:xfrm>
              <a:off x="0" y="-19050"/>
              <a:ext cx="3429000" cy="390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>
                  <a:solidFill>
                    <a:srgbClr val="132238"/>
                  </a:solidFill>
                  <a:latin typeface="Arial"/>
                  <a:ea typeface="Arial"/>
                  <a:cs typeface="Arial"/>
                  <a:sym typeface="Arial"/>
                </a:rPr>
                <a:t>Solicitud y asignación</a:t>
              </a:r>
              <a:endParaRPr/>
            </a:p>
          </p:txBody>
        </p:sp>
      </p:grpSp>
      <p:grpSp>
        <p:nvGrpSpPr>
          <p:cNvPr id="524" name="Google Shape;524;p7"/>
          <p:cNvGrpSpPr/>
          <p:nvPr/>
        </p:nvGrpSpPr>
        <p:grpSpPr>
          <a:xfrm>
            <a:off x="6838950" y="7205663"/>
            <a:ext cx="2571750" cy="292608"/>
            <a:chOff x="0" y="-19050"/>
            <a:chExt cx="3429000" cy="390145"/>
          </a:xfrm>
        </p:grpSpPr>
        <p:sp>
          <p:nvSpPr>
            <p:cNvPr id="525" name="Google Shape;525;p7"/>
            <p:cNvSpPr/>
            <p:nvPr/>
          </p:nvSpPr>
          <p:spPr>
            <a:xfrm>
              <a:off x="0" y="0"/>
              <a:ext cx="3429000" cy="371095"/>
            </a:xfrm>
            <a:custGeom>
              <a:rect b="b" l="l" r="r" t="t"/>
              <a:pathLst>
                <a:path extrusionOk="0" h="371095" w="3429000">
                  <a:moveTo>
                    <a:pt x="3263900" y="0"/>
                  </a:moveTo>
                  <a:cubicBezTo>
                    <a:pt x="3355082" y="0"/>
                    <a:pt x="3429000" y="83072"/>
                    <a:pt x="3429000" y="185547"/>
                  </a:cubicBezTo>
                  <a:cubicBezTo>
                    <a:pt x="3429000" y="288022"/>
                    <a:pt x="3355082" y="371095"/>
                    <a:pt x="3263900" y="371095"/>
                  </a:cubicBezTo>
                  <a:lnTo>
                    <a:pt x="165100" y="371095"/>
                  </a:lnTo>
                  <a:cubicBezTo>
                    <a:pt x="73918" y="371095"/>
                    <a:pt x="0" y="288022"/>
                    <a:pt x="0" y="185547"/>
                  </a:cubicBezTo>
                  <a:cubicBezTo>
                    <a:pt x="0" y="83072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7"/>
            <p:cNvSpPr txBox="1"/>
            <p:nvPr/>
          </p:nvSpPr>
          <p:spPr>
            <a:xfrm>
              <a:off x="0" y="-19050"/>
              <a:ext cx="3429000" cy="390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>
                  <a:solidFill>
                    <a:srgbClr val="132238"/>
                  </a:solidFill>
                  <a:latin typeface="Arial"/>
                  <a:ea typeface="Arial"/>
                  <a:cs typeface="Arial"/>
                  <a:sym typeface="Arial"/>
                </a:rPr>
                <a:t>Seguimiento y estados</a:t>
              </a:r>
              <a:endParaRPr/>
            </a:p>
          </p:txBody>
        </p:sp>
      </p:grpSp>
      <p:grpSp>
        <p:nvGrpSpPr>
          <p:cNvPr id="527" name="Google Shape;527;p7"/>
          <p:cNvGrpSpPr/>
          <p:nvPr/>
        </p:nvGrpSpPr>
        <p:grpSpPr>
          <a:xfrm>
            <a:off x="9563100" y="7205663"/>
            <a:ext cx="2571750" cy="292608"/>
            <a:chOff x="0" y="-19050"/>
            <a:chExt cx="3429000" cy="390145"/>
          </a:xfrm>
        </p:grpSpPr>
        <p:sp>
          <p:nvSpPr>
            <p:cNvPr id="528" name="Google Shape;528;p7"/>
            <p:cNvSpPr/>
            <p:nvPr/>
          </p:nvSpPr>
          <p:spPr>
            <a:xfrm>
              <a:off x="0" y="0"/>
              <a:ext cx="3429000" cy="371095"/>
            </a:xfrm>
            <a:custGeom>
              <a:rect b="b" l="l" r="r" t="t"/>
              <a:pathLst>
                <a:path extrusionOk="0" h="371095" w="3429000">
                  <a:moveTo>
                    <a:pt x="3263900" y="0"/>
                  </a:moveTo>
                  <a:cubicBezTo>
                    <a:pt x="3355082" y="0"/>
                    <a:pt x="3429000" y="83072"/>
                    <a:pt x="3429000" y="185547"/>
                  </a:cubicBezTo>
                  <a:cubicBezTo>
                    <a:pt x="3429000" y="288022"/>
                    <a:pt x="3355082" y="371095"/>
                    <a:pt x="3263900" y="371095"/>
                  </a:cubicBezTo>
                  <a:lnTo>
                    <a:pt x="165100" y="371095"/>
                  </a:lnTo>
                  <a:cubicBezTo>
                    <a:pt x="73918" y="371095"/>
                    <a:pt x="0" y="288022"/>
                    <a:pt x="0" y="185547"/>
                  </a:cubicBezTo>
                  <a:cubicBezTo>
                    <a:pt x="0" y="83072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7"/>
            <p:cNvSpPr txBox="1"/>
            <p:nvPr/>
          </p:nvSpPr>
          <p:spPr>
            <a:xfrm>
              <a:off x="0" y="-19050"/>
              <a:ext cx="3429000" cy="390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>
                  <a:solidFill>
                    <a:srgbClr val="132238"/>
                  </a:solidFill>
                  <a:latin typeface="Arial"/>
                  <a:ea typeface="Arial"/>
                  <a:cs typeface="Arial"/>
                  <a:sym typeface="Arial"/>
                </a:rPr>
                <a:t>Evidencia y cierre</a:t>
              </a:r>
              <a:endParaRPr/>
            </a:p>
          </p:txBody>
        </p:sp>
      </p:grpSp>
      <p:grpSp>
        <p:nvGrpSpPr>
          <p:cNvPr id="530" name="Google Shape;530;p7"/>
          <p:cNvGrpSpPr/>
          <p:nvPr/>
        </p:nvGrpSpPr>
        <p:grpSpPr>
          <a:xfrm>
            <a:off x="12287250" y="7205663"/>
            <a:ext cx="2571750" cy="292608"/>
            <a:chOff x="0" y="-19050"/>
            <a:chExt cx="3429000" cy="390145"/>
          </a:xfrm>
        </p:grpSpPr>
        <p:sp>
          <p:nvSpPr>
            <p:cNvPr id="531" name="Google Shape;531;p7"/>
            <p:cNvSpPr/>
            <p:nvPr/>
          </p:nvSpPr>
          <p:spPr>
            <a:xfrm>
              <a:off x="0" y="0"/>
              <a:ext cx="3429000" cy="371095"/>
            </a:xfrm>
            <a:custGeom>
              <a:rect b="b" l="l" r="r" t="t"/>
              <a:pathLst>
                <a:path extrusionOk="0" h="371095" w="3429000">
                  <a:moveTo>
                    <a:pt x="3263900" y="0"/>
                  </a:moveTo>
                  <a:cubicBezTo>
                    <a:pt x="3355082" y="0"/>
                    <a:pt x="3429000" y="83072"/>
                    <a:pt x="3429000" y="185547"/>
                  </a:cubicBezTo>
                  <a:cubicBezTo>
                    <a:pt x="3429000" y="288022"/>
                    <a:pt x="3355082" y="371095"/>
                    <a:pt x="3263900" y="371095"/>
                  </a:cubicBezTo>
                  <a:lnTo>
                    <a:pt x="165100" y="371095"/>
                  </a:lnTo>
                  <a:cubicBezTo>
                    <a:pt x="73918" y="371095"/>
                    <a:pt x="0" y="288022"/>
                    <a:pt x="0" y="185547"/>
                  </a:cubicBezTo>
                  <a:cubicBezTo>
                    <a:pt x="0" y="83072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7"/>
            <p:cNvSpPr txBox="1"/>
            <p:nvPr/>
          </p:nvSpPr>
          <p:spPr>
            <a:xfrm>
              <a:off x="0" y="-19050"/>
              <a:ext cx="3429000" cy="390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>
                  <a:solidFill>
                    <a:srgbClr val="132238"/>
                  </a:solidFill>
                  <a:latin typeface="Arial"/>
                  <a:ea typeface="Arial"/>
                  <a:cs typeface="Arial"/>
                  <a:sym typeface="Arial"/>
                </a:rPr>
                <a:t>Pago y calificación</a:t>
              </a:r>
              <a:endParaRPr/>
            </a:p>
          </p:txBody>
        </p:sp>
      </p:grpSp>
      <p:grpSp>
        <p:nvGrpSpPr>
          <p:cNvPr id="533" name="Google Shape;533;p7"/>
          <p:cNvGrpSpPr/>
          <p:nvPr/>
        </p:nvGrpSpPr>
        <p:grpSpPr>
          <a:xfrm>
            <a:off x="1238250" y="7934325"/>
            <a:ext cx="15811500" cy="485775"/>
            <a:chOff x="0" y="-38100"/>
            <a:chExt cx="21082000" cy="647700"/>
          </a:xfrm>
        </p:grpSpPr>
        <p:sp>
          <p:nvSpPr>
            <p:cNvPr id="534" name="Google Shape;534;p7"/>
            <p:cNvSpPr/>
            <p:nvPr/>
          </p:nvSpPr>
          <p:spPr>
            <a:xfrm>
              <a:off x="0" y="0"/>
              <a:ext cx="21082000" cy="609600"/>
            </a:xfrm>
            <a:custGeom>
              <a:rect b="b" l="l" r="r" t="t"/>
              <a:pathLst>
                <a:path extrusionOk="0" h="609600" w="21082000">
                  <a:moveTo>
                    <a:pt x="60960" y="0"/>
                  </a:moveTo>
                  <a:lnTo>
                    <a:pt x="21021039" y="0"/>
                  </a:lnTo>
                  <a:cubicBezTo>
                    <a:pt x="21037207" y="0"/>
                    <a:pt x="21052713" y="6422"/>
                    <a:pt x="21064145" y="17855"/>
                  </a:cubicBezTo>
                  <a:cubicBezTo>
                    <a:pt x="21075577" y="29287"/>
                    <a:pt x="21082000" y="44792"/>
                    <a:pt x="21082000" y="60960"/>
                  </a:cubicBezTo>
                  <a:lnTo>
                    <a:pt x="21082000" y="548640"/>
                  </a:lnTo>
                  <a:cubicBezTo>
                    <a:pt x="21082000" y="564808"/>
                    <a:pt x="21075577" y="580313"/>
                    <a:pt x="21064145" y="591745"/>
                  </a:cubicBezTo>
                  <a:cubicBezTo>
                    <a:pt x="21052713" y="603178"/>
                    <a:pt x="21037207" y="609600"/>
                    <a:pt x="21021039" y="609600"/>
                  </a:cubicBezTo>
                  <a:lnTo>
                    <a:pt x="60960" y="609600"/>
                  </a:lnTo>
                  <a:cubicBezTo>
                    <a:pt x="27293" y="609600"/>
                    <a:pt x="0" y="582307"/>
                    <a:pt x="0" y="548640"/>
                  </a:cubicBezTo>
                  <a:lnTo>
                    <a:pt x="0" y="60960"/>
                  </a:lnTo>
                  <a:cubicBezTo>
                    <a:pt x="0" y="27293"/>
                    <a:pt x="27293" y="0"/>
                    <a:pt x="60960" y="0"/>
                  </a:cubicBezTo>
                  <a:close/>
                </a:path>
              </a:pathLst>
            </a:custGeom>
            <a:solidFill>
              <a:srgbClr val="E8F5EF"/>
            </a:solidFill>
            <a:ln cap="sq" cmpd="sng" w="9525">
              <a:solidFill>
                <a:srgbClr val="B8DFC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7"/>
            <p:cNvSpPr txBox="1"/>
            <p:nvPr/>
          </p:nvSpPr>
          <p:spPr>
            <a:xfrm>
              <a:off x="0" y="-38100"/>
              <a:ext cx="210820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6" name="Google Shape;536;p7"/>
          <p:cNvSpPr txBox="1"/>
          <p:nvPr/>
        </p:nvSpPr>
        <p:spPr>
          <a:xfrm>
            <a:off x="1428750" y="8020050"/>
            <a:ext cx="154305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El MVP valida que el ciclo completo funcione de punta a punta: solicitud, ejecución, cierre y pago.</a:t>
            </a:r>
            <a:endParaRPr/>
          </a:p>
        </p:txBody>
      </p:sp>
      <p:sp>
        <p:nvSpPr>
          <p:cNvPr id="537" name="Google Shape;537;p7"/>
          <p:cNvSpPr txBox="1"/>
          <p:nvPr/>
        </p:nvSpPr>
        <p:spPr>
          <a:xfrm>
            <a:off x="1123950" y="9658350"/>
            <a:ext cx="11249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538" name="Google Shape;538;p7"/>
          <p:cNvSpPr txBox="1"/>
          <p:nvPr/>
        </p:nvSpPr>
        <p:spPr>
          <a:xfrm>
            <a:off x="15954375" y="9658350"/>
            <a:ext cx="1104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539" name="Google Shape;539;p7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"/>
          <p:cNvSpPr txBox="1"/>
          <p:nvPr/>
        </p:nvSpPr>
        <p:spPr>
          <a:xfrm>
            <a:off x="1834490" y="950699"/>
            <a:ext cx="9818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FLUJO DE SERVICIO</a:t>
            </a:r>
            <a:endParaRPr sz="1850"/>
          </a:p>
        </p:txBody>
      </p:sp>
      <p:sp>
        <p:nvSpPr>
          <p:cNvPr id="549" name="Google Shape;549;p8"/>
          <p:cNvSpPr txBox="1"/>
          <p:nvPr/>
        </p:nvSpPr>
        <p:spPr>
          <a:xfrm>
            <a:off x="1120140" y="1322070"/>
            <a:ext cx="1410462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Un recorrido continuo desde el acceso hasta la calificación</a:t>
            </a:r>
            <a:endParaRPr/>
          </a:p>
        </p:txBody>
      </p:sp>
      <p:sp>
        <p:nvSpPr>
          <p:cNvPr id="550" name="Google Shape;550;p8"/>
          <p:cNvSpPr txBox="1"/>
          <p:nvPr/>
        </p:nvSpPr>
        <p:spPr>
          <a:xfrm>
            <a:off x="1120140" y="2098358"/>
            <a:ext cx="15247620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La secuencia considera las acciones del cliente, la plataforma y el prestador sin omitir etapas.</a:t>
            </a:r>
            <a:endParaRPr/>
          </a:p>
        </p:txBody>
      </p:sp>
      <p:sp>
        <p:nvSpPr>
          <p:cNvPr id="551" name="Google Shape;551;p8"/>
          <p:cNvSpPr/>
          <p:nvPr/>
        </p:nvSpPr>
        <p:spPr>
          <a:xfrm>
            <a:off x="3100496" y="3570528"/>
            <a:ext cx="770382" cy="449389"/>
          </a:xfrm>
          <a:custGeom>
            <a:rect b="b" l="l" r="r" t="t"/>
            <a:pathLst>
              <a:path extrusionOk="0" h="533400" w="914400">
                <a:moveTo>
                  <a:pt x="0" y="133350"/>
                </a:moveTo>
                <a:lnTo>
                  <a:pt x="647700" y="133350"/>
                </a:lnTo>
                <a:lnTo>
                  <a:pt x="647700" y="0"/>
                </a:lnTo>
                <a:lnTo>
                  <a:pt x="914400" y="266700"/>
                </a:lnTo>
                <a:lnTo>
                  <a:pt x="647700" y="533400"/>
                </a:lnTo>
                <a:lnTo>
                  <a:pt x="6477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F9B719"/>
          </a:solidFill>
          <a:ln>
            <a:noFill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8"/>
          <p:cNvSpPr/>
          <p:nvPr/>
        </p:nvSpPr>
        <p:spPr>
          <a:xfrm>
            <a:off x="6857739" y="3570528"/>
            <a:ext cx="770382" cy="449389"/>
          </a:xfrm>
          <a:custGeom>
            <a:rect b="b" l="l" r="r" t="t"/>
            <a:pathLst>
              <a:path extrusionOk="0" h="533400" w="914400">
                <a:moveTo>
                  <a:pt x="0" y="133350"/>
                </a:moveTo>
                <a:lnTo>
                  <a:pt x="647700" y="133350"/>
                </a:lnTo>
                <a:lnTo>
                  <a:pt x="647700" y="0"/>
                </a:lnTo>
                <a:lnTo>
                  <a:pt x="914400" y="266700"/>
                </a:lnTo>
                <a:lnTo>
                  <a:pt x="647700" y="533400"/>
                </a:lnTo>
                <a:lnTo>
                  <a:pt x="6477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F9B719"/>
          </a:solidFill>
          <a:ln>
            <a:noFill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8"/>
          <p:cNvSpPr/>
          <p:nvPr/>
        </p:nvSpPr>
        <p:spPr>
          <a:xfrm>
            <a:off x="10614982" y="3570528"/>
            <a:ext cx="770382" cy="449389"/>
          </a:xfrm>
          <a:custGeom>
            <a:rect b="b" l="l" r="r" t="t"/>
            <a:pathLst>
              <a:path extrusionOk="0" h="533400" w="914400">
                <a:moveTo>
                  <a:pt x="0" y="133350"/>
                </a:moveTo>
                <a:lnTo>
                  <a:pt x="647700" y="133350"/>
                </a:lnTo>
                <a:lnTo>
                  <a:pt x="647700" y="0"/>
                </a:lnTo>
                <a:lnTo>
                  <a:pt x="914400" y="266700"/>
                </a:lnTo>
                <a:lnTo>
                  <a:pt x="647700" y="533400"/>
                </a:lnTo>
                <a:lnTo>
                  <a:pt x="6477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F9B719"/>
          </a:solidFill>
          <a:ln>
            <a:noFill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8"/>
          <p:cNvSpPr/>
          <p:nvPr/>
        </p:nvSpPr>
        <p:spPr>
          <a:xfrm>
            <a:off x="14372225" y="3570528"/>
            <a:ext cx="770382" cy="449389"/>
          </a:xfrm>
          <a:custGeom>
            <a:rect b="b" l="l" r="r" t="t"/>
            <a:pathLst>
              <a:path extrusionOk="0" h="533400" w="914400">
                <a:moveTo>
                  <a:pt x="0" y="133350"/>
                </a:moveTo>
                <a:lnTo>
                  <a:pt x="647700" y="133350"/>
                </a:lnTo>
                <a:lnTo>
                  <a:pt x="647700" y="0"/>
                </a:lnTo>
                <a:lnTo>
                  <a:pt x="914400" y="266700"/>
                </a:lnTo>
                <a:lnTo>
                  <a:pt x="647700" y="533400"/>
                </a:lnTo>
                <a:lnTo>
                  <a:pt x="647700" y="400050"/>
                </a:lnTo>
                <a:lnTo>
                  <a:pt x="0" y="400050"/>
                </a:lnTo>
                <a:close/>
              </a:path>
            </a:pathLst>
          </a:custGeom>
          <a:solidFill>
            <a:srgbClr val="F9B719"/>
          </a:solidFill>
          <a:ln>
            <a:noFill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8"/>
          <p:cNvSpPr/>
          <p:nvPr/>
        </p:nvSpPr>
        <p:spPr>
          <a:xfrm>
            <a:off x="16780714" y="4935340"/>
            <a:ext cx="481489" cy="930878"/>
          </a:xfrm>
          <a:custGeom>
            <a:rect b="b" l="l" r="r" t="t"/>
            <a:pathLst>
              <a:path extrusionOk="0" h="1104900" w="571500">
                <a:moveTo>
                  <a:pt x="0" y="819150"/>
                </a:moveTo>
                <a:lnTo>
                  <a:pt x="142875" y="819150"/>
                </a:lnTo>
                <a:lnTo>
                  <a:pt x="142875" y="0"/>
                </a:lnTo>
                <a:lnTo>
                  <a:pt x="428625" y="0"/>
                </a:lnTo>
                <a:lnTo>
                  <a:pt x="428625" y="819150"/>
                </a:lnTo>
                <a:lnTo>
                  <a:pt x="571500" y="819150"/>
                </a:lnTo>
                <a:lnTo>
                  <a:pt x="285750" y="1104900"/>
                </a:lnTo>
                <a:close/>
              </a:path>
            </a:pathLst>
          </a:custGeom>
          <a:solidFill>
            <a:srgbClr val="F9B719"/>
          </a:solidFill>
          <a:ln>
            <a:noFill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8"/>
          <p:cNvSpPr/>
          <p:nvPr/>
        </p:nvSpPr>
        <p:spPr>
          <a:xfrm>
            <a:off x="3116553" y="7102983"/>
            <a:ext cx="770382" cy="449390"/>
          </a:xfrm>
          <a:custGeom>
            <a:rect b="b" l="l" r="r" t="t"/>
            <a:pathLst>
              <a:path extrusionOk="0" h="533400" w="914400">
                <a:moveTo>
                  <a:pt x="0" y="266700"/>
                </a:moveTo>
                <a:lnTo>
                  <a:pt x="266700" y="0"/>
                </a:lnTo>
                <a:lnTo>
                  <a:pt x="266700" y="133350"/>
                </a:lnTo>
                <a:lnTo>
                  <a:pt x="914400" y="133350"/>
                </a:lnTo>
                <a:lnTo>
                  <a:pt x="914400" y="400050"/>
                </a:lnTo>
                <a:lnTo>
                  <a:pt x="266700" y="400050"/>
                </a:lnTo>
                <a:lnTo>
                  <a:pt x="266700" y="533400"/>
                </a:lnTo>
                <a:close/>
              </a:path>
            </a:pathLst>
          </a:custGeom>
          <a:solidFill>
            <a:srgbClr val="F9B719"/>
          </a:solidFill>
          <a:ln>
            <a:noFill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8"/>
          <p:cNvSpPr/>
          <p:nvPr/>
        </p:nvSpPr>
        <p:spPr>
          <a:xfrm>
            <a:off x="6873795" y="7102983"/>
            <a:ext cx="770382" cy="449390"/>
          </a:xfrm>
          <a:custGeom>
            <a:rect b="b" l="l" r="r" t="t"/>
            <a:pathLst>
              <a:path extrusionOk="0" h="533400" w="914400">
                <a:moveTo>
                  <a:pt x="0" y="266700"/>
                </a:moveTo>
                <a:lnTo>
                  <a:pt x="266700" y="0"/>
                </a:lnTo>
                <a:lnTo>
                  <a:pt x="266700" y="133350"/>
                </a:lnTo>
                <a:lnTo>
                  <a:pt x="914400" y="133350"/>
                </a:lnTo>
                <a:lnTo>
                  <a:pt x="914400" y="400050"/>
                </a:lnTo>
                <a:lnTo>
                  <a:pt x="266700" y="400050"/>
                </a:lnTo>
                <a:lnTo>
                  <a:pt x="266700" y="533400"/>
                </a:lnTo>
                <a:close/>
              </a:path>
            </a:pathLst>
          </a:custGeom>
          <a:solidFill>
            <a:srgbClr val="F9B719"/>
          </a:solidFill>
          <a:ln>
            <a:noFill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8"/>
          <p:cNvSpPr/>
          <p:nvPr/>
        </p:nvSpPr>
        <p:spPr>
          <a:xfrm>
            <a:off x="10631039" y="7102983"/>
            <a:ext cx="770382" cy="449390"/>
          </a:xfrm>
          <a:custGeom>
            <a:rect b="b" l="l" r="r" t="t"/>
            <a:pathLst>
              <a:path extrusionOk="0" h="533400" w="914400">
                <a:moveTo>
                  <a:pt x="0" y="266700"/>
                </a:moveTo>
                <a:lnTo>
                  <a:pt x="266700" y="0"/>
                </a:lnTo>
                <a:lnTo>
                  <a:pt x="266700" y="133350"/>
                </a:lnTo>
                <a:lnTo>
                  <a:pt x="914400" y="133350"/>
                </a:lnTo>
                <a:lnTo>
                  <a:pt x="914400" y="400050"/>
                </a:lnTo>
                <a:lnTo>
                  <a:pt x="266700" y="400050"/>
                </a:lnTo>
                <a:lnTo>
                  <a:pt x="266700" y="533400"/>
                </a:lnTo>
                <a:close/>
              </a:path>
            </a:pathLst>
          </a:custGeom>
          <a:solidFill>
            <a:srgbClr val="F9B719"/>
          </a:solidFill>
          <a:ln>
            <a:noFill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"/>
          <p:cNvSpPr/>
          <p:nvPr/>
        </p:nvSpPr>
        <p:spPr>
          <a:xfrm>
            <a:off x="14388281" y="7102983"/>
            <a:ext cx="770382" cy="449390"/>
          </a:xfrm>
          <a:custGeom>
            <a:rect b="b" l="l" r="r" t="t"/>
            <a:pathLst>
              <a:path extrusionOk="0" h="533400" w="914400">
                <a:moveTo>
                  <a:pt x="0" y="266700"/>
                </a:moveTo>
                <a:lnTo>
                  <a:pt x="266700" y="0"/>
                </a:lnTo>
                <a:lnTo>
                  <a:pt x="266700" y="133350"/>
                </a:lnTo>
                <a:lnTo>
                  <a:pt x="914400" y="133350"/>
                </a:lnTo>
                <a:lnTo>
                  <a:pt x="914400" y="400050"/>
                </a:lnTo>
                <a:lnTo>
                  <a:pt x="266700" y="400050"/>
                </a:lnTo>
                <a:lnTo>
                  <a:pt x="266700" y="533400"/>
                </a:lnTo>
                <a:close/>
              </a:path>
            </a:pathLst>
          </a:custGeom>
          <a:solidFill>
            <a:srgbClr val="F9B719"/>
          </a:solidFill>
          <a:ln>
            <a:noFill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8"/>
          <p:cNvSpPr/>
          <p:nvPr/>
        </p:nvSpPr>
        <p:spPr>
          <a:xfrm>
            <a:off x="234387" y="3000525"/>
            <a:ext cx="2904982" cy="1399746"/>
          </a:xfrm>
          <a:custGeom>
            <a:rect b="b" l="l" r="r" t="t"/>
            <a:pathLst>
              <a:path extrusionOk="0" h="1924050" w="3448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217164" y="0"/>
                </a:lnTo>
                <a:cubicBezTo>
                  <a:pt x="3344672" y="0"/>
                  <a:pt x="3448050" y="103378"/>
                  <a:pt x="3448050" y="230886"/>
                </a:cubicBezTo>
                <a:lnTo>
                  <a:pt x="3448050" y="1693164"/>
                </a:lnTo>
                <a:cubicBezTo>
                  <a:pt x="3448050" y="1820672"/>
                  <a:pt x="3344672" y="1924050"/>
                  <a:pt x="3217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>
            <a:srgbClr val="EAF4FB"/>
          </a:solidFill>
          <a:ln cap="sq" cmpd="sng" w="16050">
            <a:solidFill>
              <a:srgbClr val="0B5A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8"/>
          <p:cNvSpPr txBox="1"/>
          <p:nvPr/>
        </p:nvSpPr>
        <p:spPr>
          <a:xfrm>
            <a:off x="537863" y="3236551"/>
            <a:ext cx="468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sz="1573"/>
          </a:p>
        </p:txBody>
      </p:sp>
      <p:sp>
        <p:nvSpPr>
          <p:cNvPr id="562" name="Google Shape;562;p8"/>
          <p:cNvSpPr txBox="1"/>
          <p:nvPr/>
        </p:nvSpPr>
        <p:spPr>
          <a:xfrm>
            <a:off x="1228296" y="3370356"/>
            <a:ext cx="1641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1. Acceso</a:t>
            </a:r>
            <a:endParaRPr sz="1573"/>
          </a:p>
        </p:txBody>
      </p:sp>
      <p:sp>
        <p:nvSpPr>
          <p:cNvPr id="563" name="Google Shape;563;p8"/>
          <p:cNvSpPr/>
          <p:nvPr/>
        </p:nvSpPr>
        <p:spPr>
          <a:xfrm>
            <a:off x="3991630" y="3000525"/>
            <a:ext cx="2904982" cy="1361265"/>
          </a:xfrm>
          <a:custGeom>
            <a:rect b="b" l="l" r="r" t="t"/>
            <a:pathLst>
              <a:path extrusionOk="0" h="1924050" w="3448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217164" y="0"/>
                </a:lnTo>
                <a:cubicBezTo>
                  <a:pt x="3344672" y="0"/>
                  <a:pt x="3448050" y="103378"/>
                  <a:pt x="3448050" y="230886"/>
                </a:cubicBezTo>
                <a:lnTo>
                  <a:pt x="3448050" y="1693164"/>
                </a:lnTo>
                <a:cubicBezTo>
                  <a:pt x="3448050" y="1820672"/>
                  <a:pt x="3344672" y="1924050"/>
                  <a:pt x="3217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>
            <a:srgbClr val="EAF4FB"/>
          </a:solidFill>
          <a:ln cap="sq" cmpd="sng" w="16050">
            <a:solidFill>
              <a:srgbClr val="0B5A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8"/>
          <p:cNvSpPr txBox="1"/>
          <p:nvPr/>
        </p:nvSpPr>
        <p:spPr>
          <a:xfrm>
            <a:off x="4295106" y="3236551"/>
            <a:ext cx="468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🧾</a:t>
            </a:r>
            <a:endParaRPr sz="1573"/>
          </a:p>
        </p:txBody>
      </p:sp>
      <p:sp>
        <p:nvSpPr>
          <p:cNvPr id="565" name="Google Shape;565;p8"/>
          <p:cNvSpPr txBox="1"/>
          <p:nvPr/>
        </p:nvSpPr>
        <p:spPr>
          <a:xfrm>
            <a:off x="4985541" y="3370356"/>
            <a:ext cx="1641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2. Catálogo</a:t>
            </a:r>
            <a:endParaRPr sz="1573"/>
          </a:p>
        </p:txBody>
      </p:sp>
      <p:sp>
        <p:nvSpPr>
          <p:cNvPr id="566" name="Google Shape;566;p8"/>
          <p:cNvSpPr/>
          <p:nvPr/>
        </p:nvSpPr>
        <p:spPr>
          <a:xfrm>
            <a:off x="7748873" y="3000525"/>
            <a:ext cx="2904982" cy="1361265"/>
          </a:xfrm>
          <a:custGeom>
            <a:rect b="b" l="l" r="r" t="t"/>
            <a:pathLst>
              <a:path extrusionOk="0" h="1924050" w="3448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217164" y="0"/>
                </a:lnTo>
                <a:cubicBezTo>
                  <a:pt x="3344672" y="0"/>
                  <a:pt x="3448050" y="103378"/>
                  <a:pt x="3448050" y="230886"/>
                </a:cubicBezTo>
                <a:lnTo>
                  <a:pt x="3448050" y="1693164"/>
                </a:lnTo>
                <a:cubicBezTo>
                  <a:pt x="3448050" y="1820672"/>
                  <a:pt x="3344672" y="1924050"/>
                  <a:pt x="3217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>
            <a:srgbClr val="EAF4FB"/>
          </a:solidFill>
          <a:ln cap="sq" cmpd="sng" w="16050">
            <a:solidFill>
              <a:srgbClr val="0B5A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8"/>
          <p:cNvSpPr txBox="1"/>
          <p:nvPr/>
        </p:nvSpPr>
        <p:spPr>
          <a:xfrm>
            <a:off x="8742784" y="3370356"/>
            <a:ext cx="16410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3. Solicitud</a:t>
            </a:r>
            <a:endParaRPr sz="1573"/>
          </a:p>
        </p:txBody>
      </p:sp>
      <p:sp>
        <p:nvSpPr>
          <p:cNvPr id="568" name="Google Shape;568;p8"/>
          <p:cNvSpPr/>
          <p:nvPr/>
        </p:nvSpPr>
        <p:spPr>
          <a:xfrm>
            <a:off x="11506116" y="3000526"/>
            <a:ext cx="2904982" cy="1361265"/>
          </a:xfrm>
          <a:custGeom>
            <a:rect b="b" l="l" r="r" t="t"/>
            <a:pathLst>
              <a:path extrusionOk="0" h="1924050" w="3448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217164" y="0"/>
                </a:lnTo>
                <a:cubicBezTo>
                  <a:pt x="3344672" y="0"/>
                  <a:pt x="3448050" y="103378"/>
                  <a:pt x="3448050" y="230886"/>
                </a:cubicBezTo>
                <a:lnTo>
                  <a:pt x="3448050" y="1693164"/>
                </a:lnTo>
                <a:cubicBezTo>
                  <a:pt x="3448050" y="1820672"/>
                  <a:pt x="3344672" y="1924050"/>
                  <a:pt x="3217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>
            <a:srgbClr val="EAF4FB"/>
          </a:solidFill>
          <a:ln cap="sq" cmpd="sng" w="16050">
            <a:solidFill>
              <a:srgbClr val="0B5A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8"/>
          <p:cNvSpPr txBox="1"/>
          <p:nvPr/>
        </p:nvSpPr>
        <p:spPr>
          <a:xfrm>
            <a:off x="12500026" y="3370356"/>
            <a:ext cx="1640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4. Pago</a:t>
            </a:r>
            <a:endParaRPr sz="1573"/>
          </a:p>
        </p:txBody>
      </p:sp>
      <p:sp>
        <p:nvSpPr>
          <p:cNvPr id="570" name="Google Shape;570;p8"/>
          <p:cNvSpPr/>
          <p:nvPr/>
        </p:nvSpPr>
        <p:spPr>
          <a:xfrm>
            <a:off x="15263359" y="3000525"/>
            <a:ext cx="2904982" cy="1361265"/>
          </a:xfrm>
          <a:custGeom>
            <a:rect b="b" l="l" r="r" t="t"/>
            <a:pathLst>
              <a:path extrusionOk="0" h="1924050" w="3448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217164" y="0"/>
                </a:lnTo>
                <a:cubicBezTo>
                  <a:pt x="3344672" y="0"/>
                  <a:pt x="3448050" y="103378"/>
                  <a:pt x="3448050" y="230886"/>
                </a:cubicBezTo>
                <a:lnTo>
                  <a:pt x="3448050" y="1693164"/>
                </a:lnTo>
                <a:cubicBezTo>
                  <a:pt x="3448050" y="1820672"/>
                  <a:pt x="3344672" y="1924050"/>
                  <a:pt x="3217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>
            <a:srgbClr val="EAF4FB"/>
          </a:solidFill>
          <a:ln cap="sq" cmpd="sng" w="16050">
            <a:solidFill>
              <a:srgbClr val="0B5A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8"/>
          <p:cNvSpPr txBox="1"/>
          <p:nvPr/>
        </p:nvSpPr>
        <p:spPr>
          <a:xfrm>
            <a:off x="15566836" y="3236551"/>
            <a:ext cx="468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573"/>
          </a:p>
        </p:txBody>
      </p:sp>
      <p:sp>
        <p:nvSpPr>
          <p:cNvPr id="572" name="Google Shape;572;p8"/>
          <p:cNvSpPr txBox="1"/>
          <p:nvPr/>
        </p:nvSpPr>
        <p:spPr>
          <a:xfrm>
            <a:off x="16257269" y="3370356"/>
            <a:ext cx="1640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5. Aceptacion</a:t>
            </a:r>
            <a:endParaRPr sz="1573"/>
          </a:p>
        </p:txBody>
      </p:sp>
      <p:sp>
        <p:nvSpPr>
          <p:cNvPr id="573" name="Google Shape;573;p8"/>
          <p:cNvSpPr/>
          <p:nvPr/>
        </p:nvSpPr>
        <p:spPr>
          <a:xfrm>
            <a:off x="15263366" y="6532974"/>
            <a:ext cx="2904982" cy="1621012"/>
          </a:xfrm>
          <a:custGeom>
            <a:rect b="b" l="l" r="r" t="t"/>
            <a:pathLst>
              <a:path extrusionOk="0" h="1924050" w="3448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217164" y="0"/>
                </a:lnTo>
                <a:cubicBezTo>
                  <a:pt x="3344672" y="0"/>
                  <a:pt x="3448050" y="103378"/>
                  <a:pt x="3448050" y="230886"/>
                </a:cubicBezTo>
                <a:lnTo>
                  <a:pt x="3448050" y="1693164"/>
                </a:lnTo>
                <a:cubicBezTo>
                  <a:pt x="3448050" y="1820672"/>
                  <a:pt x="3344672" y="1924050"/>
                  <a:pt x="3217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>
            <a:srgbClr val="FFF4D9"/>
          </a:solidFill>
          <a:ln cap="sq" cmpd="sng" w="16050">
            <a:solidFill>
              <a:srgbClr val="F9B7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8"/>
          <p:cNvSpPr txBox="1"/>
          <p:nvPr/>
        </p:nvSpPr>
        <p:spPr>
          <a:xfrm>
            <a:off x="15566948" y="6988446"/>
            <a:ext cx="468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sz="1573"/>
          </a:p>
        </p:txBody>
      </p:sp>
      <p:sp>
        <p:nvSpPr>
          <p:cNvPr id="575" name="Google Shape;575;p8"/>
          <p:cNvSpPr txBox="1"/>
          <p:nvPr/>
        </p:nvSpPr>
        <p:spPr>
          <a:xfrm>
            <a:off x="16227544" y="7089590"/>
            <a:ext cx="1640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6. Seguimiento</a:t>
            </a:r>
            <a:endParaRPr sz="1573"/>
          </a:p>
        </p:txBody>
      </p:sp>
      <p:sp>
        <p:nvSpPr>
          <p:cNvPr id="576" name="Google Shape;576;p8"/>
          <p:cNvSpPr/>
          <p:nvPr/>
        </p:nvSpPr>
        <p:spPr>
          <a:xfrm>
            <a:off x="11506123" y="6532974"/>
            <a:ext cx="2904982" cy="1621012"/>
          </a:xfrm>
          <a:custGeom>
            <a:rect b="b" l="l" r="r" t="t"/>
            <a:pathLst>
              <a:path extrusionOk="0" h="1924050" w="3448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217164" y="0"/>
                </a:lnTo>
                <a:cubicBezTo>
                  <a:pt x="3344672" y="0"/>
                  <a:pt x="3448050" y="103378"/>
                  <a:pt x="3448050" y="230886"/>
                </a:cubicBezTo>
                <a:lnTo>
                  <a:pt x="3448050" y="1693164"/>
                </a:lnTo>
                <a:cubicBezTo>
                  <a:pt x="3448050" y="1820672"/>
                  <a:pt x="3344672" y="1924050"/>
                  <a:pt x="3217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>
            <a:srgbClr val="FFF4D9"/>
          </a:solidFill>
          <a:ln cap="sq" cmpd="sng" w="16050">
            <a:solidFill>
              <a:srgbClr val="F9B7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8"/>
          <p:cNvSpPr txBox="1"/>
          <p:nvPr/>
        </p:nvSpPr>
        <p:spPr>
          <a:xfrm>
            <a:off x="11832505" y="6959536"/>
            <a:ext cx="468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📷</a:t>
            </a:r>
            <a:endParaRPr sz="1573"/>
          </a:p>
        </p:txBody>
      </p:sp>
      <p:sp>
        <p:nvSpPr>
          <p:cNvPr id="578" name="Google Shape;578;p8"/>
          <p:cNvSpPr txBox="1"/>
          <p:nvPr/>
        </p:nvSpPr>
        <p:spPr>
          <a:xfrm>
            <a:off x="12512905" y="7118495"/>
            <a:ext cx="1640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7. Evidencia</a:t>
            </a:r>
            <a:endParaRPr sz="1573"/>
          </a:p>
        </p:txBody>
      </p:sp>
      <p:sp>
        <p:nvSpPr>
          <p:cNvPr id="579" name="Google Shape;579;p8"/>
          <p:cNvSpPr/>
          <p:nvPr/>
        </p:nvSpPr>
        <p:spPr>
          <a:xfrm>
            <a:off x="7748880" y="6532974"/>
            <a:ext cx="2904982" cy="1621012"/>
          </a:xfrm>
          <a:custGeom>
            <a:rect b="b" l="l" r="r" t="t"/>
            <a:pathLst>
              <a:path extrusionOk="0" h="1924050" w="3448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217164" y="0"/>
                </a:lnTo>
                <a:cubicBezTo>
                  <a:pt x="3344672" y="0"/>
                  <a:pt x="3448050" y="103378"/>
                  <a:pt x="3448050" y="230886"/>
                </a:cubicBezTo>
                <a:lnTo>
                  <a:pt x="3448050" y="1693164"/>
                </a:lnTo>
                <a:cubicBezTo>
                  <a:pt x="3448050" y="1820672"/>
                  <a:pt x="3344672" y="1924050"/>
                  <a:pt x="3217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>
            <a:srgbClr val="FFF4D9"/>
          </a:solidFill>
          <a:ln cap="sq" cmpd="sng" w="16050">
            <a:solidFill>
              <a:srgbClr val="F9B7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8"/>
          <p:cNvSpPr txBox="1"/>
          <p:nvPr/>
        </p:nvSpPr>
        <p:spPr>
          <a:xfrm>
            <a:off x="7920705" y="7040777"/>
            <a:ext cx="646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1573"/>
          </a:p>
        </p:txBody>
      </p:sp>
      <p:sp>
        <p:nvSpPr>
          <p:cNvPr id="581" name="Google Shape;581;p8"/>
          <p:cNvSpPr txBox="1"/>
          <p:nvPr/>
        </p:nvSpPr>
        <p:spPr>
          <a:xfrm>
            <a:off x="8567014" y="7118492"/>
            <a:ext cx="1872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8. Confirmación</a:t>
            </a:r>
            <a:endParaRPr sz="1573"/>
          </a:p>
        </p:txBody>
      </p:sp>
      <p:sp>
        <p:nvSpPr>
          <p:cNvPr id="582" name="Google Shape;582;p8"/>
          <p:cNvSpPr/>
          <p:nvPr/>
        </p:nvSpPr>
        <p:spPr>
          <a:xfrm>
            <a:off x="3991637" y="6532974"/>
            <a:ext cx="2904982" cy="1621012"/>
          </a:xfrm>
          <a:custGeom>
            <a:rect b="b" l="l" r="r" t="t"/>
            <a:pathLst>
              <a:path extrusionOk="0" h="1924050" w="3448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217164" y="0"/>
                </a:lnTo>
                <a:cubicBezTo>
                  <a:pt x="3344672" y="0"/>
                  <a:pt x="3448050" y="103378"/>
                  <a:pt x="3448050" y="230886"/>
                </a:cubicBezTo>
                <a:lnTo>
                  <a:pt x="3448050" y="1693164"/>
                </a:lnTo>
                <a:cubicBezTo>
                  <a:pt x="3448050" y="1820672"/>
                  <a:pt x="3344672" y="1924050"/>
                  <a:pt x="3217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>
            <a:srgbClr val="FFF4D9"/>
          </a:solidFill>
          <a:ln cap="sq" cmpd="sng" w="16050">
            <a:solidFill>
              <a:srgbClr val="F9B7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8"/>
          <p:cNvSpPr txBox="1"/>
          <p:nvPr/>
        </p:nvSpPr>
        <p:spPr>
          <a:xfrm flipH="1">
            <a:off x="11632234" y="3254144"/>
            <a:ext cx="646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sz="1573"/>
          </a:p>
        </p:txBody>
      </p:sp>
      <p:sp>
        <p:nvSpPr>
          <p:cNvPr id="584" name="Google Shape;584;p8"/>
          <p:cNvSpPr txBox="1"/>
          <p:nvPr/>
        </p:nvSpPr>
        <p:spPr>
          <a:xfrm>
            <a:off x="4985541" y="6902810"/>
            <a:ext cx="16407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9. </a:t>
            </a: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Liberación</a:t>
            </a: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 del pago</a:t>
            </a:r>
            <a:endParaRPr sz="1573"/>
          </a:p>
        </p:txBody>
      </p:sp>
      <p:sp>
        <p:nvSpPr>
          <p:cNvPr id="585" name="Google Shape;585;p8"/>
          <p:cNvSpPr/>
          <p:nvPr/>
        </p:nvSpPr>
        <p:spPr>
          <a:xfrm>
            <a:off x="234393" y="6532974"/>
            <a:ext cx="2904982" cy="1621012"/>
          </a:xfrm>
          <a:custGeom>
            <a:rect b="b" l="l" r="r" t="t"/>
            <a:pathLst>
              <a:path extrusionOk="0" h="1924050" w="3448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217164" y="0"/>
                </a:lnTo>
                <a:cubicBezTo>
                  <a:pt x="3344672" y="0"/>
                  <a:pt x="3448050" y="103378"/>
                  <a:pt x="3448050" y="230886"/>
                </a:cubicBezTo>
                <a:lnTo>
                  <a:pt x="3448050" y="1693164"/>
                </a:lnTo>
                <a:cubicBezTo>
                  <a:pt x="3448050" y="1820672"/>
                  <a:pt x="3344672" y="1924050"/>
                  <a:pt x="3217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>
            <a:srgbClr val="FFF4D9"/>
          </a:solidFill>
          <a:ln cap="sq" cmpd="sng" w="16050">
            <a:solidFill>
              <a:srgbClr val="F9B7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51350" lIns="102750" spcFirstLastPara="1" rIns="102750" wrap="square" tIns="51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2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8"/>
          <p:cNvSpPr txBox="1"/>
          <p:nvPr/>
        </p:nvSpPr>
        <p:spPr>
          <a:xfrm>
            <a:off x="452031" y="6988446"/>
            <a:ext cx="468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endParaRPr sz="1573"/>
          </a:p>
        </p:txBody>
      </p:sp>
      <p:sp>
        <p:nvSpPr>
          <p:cNvPr id="587" name="Google Shape;587;p8"/>
          <p:cNvSpPr txBox="1"/>
          <p:nvPr/>
        </p:nvSpPr>
        <p:spPr>
          <a:xfrm>
            <a:off x="1241150" y="7090152"/>
            <a:ext cx="1640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3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10. Calificación</a:t>
            </a:r>
            <a:endParaRPr sz="1573"/>
          </a:p>
        </p:txBody>
      </p:sp>
      <p:sp>
        <p:nvSpPr>
          <p:cNvPr id="588" name="Google Shape;588;p8"/>
          <p:cNvSpPr txBox="1"/>
          <p:nvPr/>
        </p:nvSpPr>
        <p:spPr>
          <a:xfrm>
            <a:off x="1805940" y="8437245"/>
            <a:ext cx="14676120" cy="489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El pago se libera al finalizar el servicio; la calificación cierra el ciclo y alimenta la reputación del prestador.</a:t>
            </a:r>
            <a:endParaRPr/>
          </a:p>
        </p:txBody>
      </p:sp>
      <p:sp>
        <p:nvSpPr>
          <p:cNvPr id="589" name="Google Shape;589;p8"/>
          <p:cNvSpPr txBox="1"/>
          <p:nvPr/>
        </p:nvSpPr>
        <p:spPr>
          <a:xfrm>
            <a:off x="1120140" y="9661207"/>
            <a:ext cx="1124712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590" name="Google Shape;590;p8"/>
          <p:cNvSpPr txBox="1"/>
          <p:nvPr/>
        </p:nvSpPr>
        <p:spPr>
          <a:xfrm>
            <a:off x="15950565" y="9661207"/>
            <a:ext cx="1102995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591" name="Google Shape;591;p8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8"/>
          <p:cNvSpPr txBox="1"/>
          <p:nvPr/>
        </p:nvSpPr>
        <p:spPr>
          <a:xfrm>
            <a:off x="7844889" y="3370353"/>
            <a:ext cx="8838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sz="1573"/>
          </a:p>
        </p:txBody>
      </p:sp>
      <p:sp>
        <p:nvSpPr>
          <p:cNvPr id="593" name="Google Shape;593;p8"/>
          <p:cNvSpPr txBox="1"/>
          <p:nvPr/>
        </p:nvSpPr>
        <p:spPr>
          <a:xfrm flipH="1">
            <a:off x="4113146" y="6988444"/>
            <a:ext cx="646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3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sz="1573"/>
          </a:p>
        </p:txBody>
      </p:sp>
      <p:sp>
        <p:nvSpPr>
          <p:cNvPr id="594" name="Google Shape;594;p8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9"/>
          <p:cNvSpPr txBox="1"/>
          <p:nvPr/>
        </p:nvSpPr>
        <p:spPr>
          <a:xfrm>
            <a:off x="1834490" y="950695"/>
            <a:ext cx="9818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METODOLOGÍA / PLAN / ROLES</a:t>
            </a:r>
            <a:endParaRPr sz="1850"/>
          </a:p>
        </p:txBody>
      </p:sp>
      <p:sp>
        <p:nvSpPr>
          <p:cNvPr id="604" name="Google Shape;604;p9"/>
          <p:cNvSpPr txBox="1"/>
          <p:nvPr/>
        </p:nvSpPr>
        <p:spPr>
          <a:xfrm>
            <a:off x="1120140" y="1322070"/>
            <a:ext cx="1410462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Scrumban para ejecutar con foco y flujo continuo</a:t>
            </a:r>
            <a:endParaRPr/>
          </a:p>
        </p:txBody>
      </p:sp>
      <p:sp>
        <p:nvSpPr>
          <p:cNvPr id="605" name="Google Shape;605;p9"/>
          <p:cNvSpPr txBox="1"/>
          <p:nvPr/>
        </p:nvSpPr>
        <p:spPr>
          <a:xfrm>
            <a:off x="1120140" y="2098358"/>
            <a:ext cx="15247620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Scrum aporta priorización y revisión; Kanban limita el trabajo en curso y hace visibles los bloqueos.</a:t>
            </a:r>
            <a:endParaRPr/>
          </a:p>
        </p:txBody>
      </p:sp>
      <p:sp>
        <p:nvSpPr>
          <p:cNvPr id="606" name="Google Shape;606;p9"/>
          <p:cNvSpPr/>
          <p:nvPr/>
        </p:nvSpPr>
        <p:spPr>
          <a:xfrm>
            <a:off x="1021556" y="2921794"/>
            <a:ext cx="16244888" cy="1100138"/>
          </a:xfrm>
          <a:custGeom>
            <a:rect b="b" l="l" r="r" t="t"/>
            <a:pathLst>
              <a:path extrusionOk="0" h="1466850" w="21659850">
                <a:moveTo>
                  <a:pt x="0" y="231648"/>
                </a:moveTo>
                <a:cubicBezTo>
                  <a:pt x="0" y="103632"/>
                  <a:pt x="103632" y="0"/>
                  <a:pt x="231648" y="0"/>
                </a:cubicBezTo>
                <a:lnTo>
                  <a:pt x="21428202" y="0"/>
                </a:lnTo>
                <a:cubicBezTo>
                  <a:pt x="21556090" y="0"/>
                  <a:pt x="21659850" y="103632"/>
                  <a:pt x="21659850" y="231648"/>
                </a:cubicBezTo>
                <a:lnTo>
                  <a:pt x="21659850" y="1235202"/>
                </a:lnTo>
                <a:cubicBezTo>
                  <a:pt x="21659850" y="1363091"/>
                  <a:pt x="21556218" y="1466850"/>
                  <a:pt x="21428202" y="1466850"/>
                </a:cubicBezTo>
                <a:lnTo>
                  <a:pt x="231648" y="1466850"/>
                </a:lnTo>
                <a:cubicBezTo>
                  <a:pt x="103632" y="1466850"/>
                  <a:pt x="0" y="1363218"/>
                  <a:pt x="0" y="1235202"/>
                </a:cubicBezTo>
                <a:close/>
              </a:path>
            </a:pathLst>
          </a:custGeom>
          <a:solidFill>
            <a:srgbClr val="EEF6FB"/>
          </a:solidFill>
          <a:ln cap="sq" cmpd="sng" w="14275">
            <a:solidFill>
              <a:srgbClr val="D7E1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9"/>
          <p:cNvSpPr txBox="1"/>
          <p:nvPr/>
        </p:nvSpPr>
        <p:spPr>
          <a:xfrm>
            <a:off x="1434465" y="3108008"/>
            <a:ext cx="2817495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Paul Carrillo</a:t>
            </a:r>
            <a:endParaRPr/>
          </a:p>
        </p:txBody>
      </p:sp>
      <p:sp>
        <p:nvSpPr>
          <p:cNvPr id="608" name="Google Shape;608;p9"/>
          <p:cNvSpPr txBox="1"/>
          <p:nvPr/>
        </p:nvSpPr>
        <p:spPr>
          <a:xfrm>
            <a:off x="4592003" y="3108008"/>
            <a:ext cx="3746183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Product Owner · Negocio</a:t>
            </a:r>
            <a:endParaRPr/>
          </a:p>
        </p:txBody>
      </p:sp>
      <p:sp>
        <p:nvSpPr>
          <p:cNvPr id="609" name="Google Shape;609;p9"/>
          <p:cNvSpPr txBox="1"/>
          <p:nvPr/>
        </p:nvSpPr>
        <p:spPr>
          <a:xfrm>
            <a:off x="8663940" y="3074670"/>
            <a:ext cx="8103870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Prioriza backlog, define valor y criterios de aceptación; valida alcance y necesidades del usuario.</a:t>
            </a:r>
            <a:endParaRPr/>
          </a:p>
        </p:txBody>
      </p:sp>
      <p:sp>
        <p:nvSpPr>
          <p:cNvPr id="610" name="Google Shape;610;p9"/>
          <p:cNvSpPr/>
          <p:nvPr/>
        </p:nvSpPr>
        <p:spPr>
          <a:xfrm>
            <a:off x="1021556" y="4236244"/>
            <a:ext cx="16244888" cy="1100138"/>
          </a:xfrm>
          <a:custGeom>
            <a:rect b="b" l="l" r="r" t="t"/>
            <a:pathLst>
              <a:path extrusionOk="0" h="1466850" w="21659850">
                <a:moveTo>
                  <a:pt x="0" y="231648"/>
                </a:moveTo>
                <a:cubicBezTo>
                  <a:pt x="0" y="103632"/>
                  <a:pt x="103632" y="0"/>
                  <a:pt x="231648" y="0"/>
                </a:cubicBezTo>
                <a:lnTo>
                  <a:pt x="21428202" y="0"/>
                </a:lnTo>
                <a:cubicBezTo>
                  <a:pt x="21556090" y="0"/>
                  <a:pt x="21659850" y="103632"/>
                  <a:pt x="21659850" y="231648"/>
                </a:cubicBezTo>
                <a:lnTo>
                  <a:pt x="21659850" y="1235202"/>
                </a:lnTo>
                <a:cubicBezTo>
                  <a:pt x="21659850" y="1363091"/>
                  <a:pt x="21556218" y="1466850"/>
                  <a:pt x="21428202" y="1466850"/>
                </a:cubicBezTo>
                <a:lnTo>
                  <a:pt x="231648" y="1466850"/>
                </a:lnTo>
                <a:cubicBezTo>
                  <a:pt x="103632" y="1466850"/>
                  <a:pt x="0" y="1363218"/>
                  <a:pt x="0" y="1235202"/>
                </a:cubicBezTo>
                <a:close/>
              </a:path>
            </a:pathLst>
          </a:custGeom>
          <a:solidFill>
            <a:srgbClr val="F8FAFC"/>
          </a:solidFill>
          <a:ln cap="sq" cmpd="sng" w="14275">
            <a:solidFill>
              <a:srgbClr val="D7E1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9"/>
          <p:cNvSpPr txBox="1"/>
          <p:nvPr/>
        </p:nvSpPr>
        <p:spPr>
          <a:xfrm>
            <a:off x="1434465" y="4422458"/>
            <a:ext cx="2817495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Kevin Iturra</a:t>
            </a:r>
            <a:endParaRPr/>
          </a:p>
        </p:txBody>
      </p:sp>
      <p:sp>
        <p:nvSpPr>
          <p:cNvPr id="612" name="Google Shape;612;p9"/>
          <p:cNvSpPr txBox="1"/>
          <p:nvPr/>
        </p:nvSpPr>
        <p:spPr>
          <a:xfrm>
            <a:off x="4592003" y="4422458"/>
            <a:ext cx="3746183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Frontend Mobile · UX</a:t>
            </a:r>
            <a:endParaRPr/>
          </a:p>
        </p:txBody>
      </p:sp>
      <p:sp>
        <p:nvSpPr>
          <p:cNvPr id="613" name="Google Shape;613;p9"/>
          <p:cNvSpPr txBox="1"/>
          <p:nvPr/>
        </p:nvSpPr>
        <p:spPr>
          <a:xfrm>
            <a:off x="8663940" y="4389120"/>
            <a:ext cx="8103870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Implementa React Native/Expo, navegación, experiencia cliente–lavador e integración con la API.</a:t>
            </a:r>
            <a:endParaRPr/>
          </a:p>
        </p:txBody>
      </p:sp>
      <p:sp>
        <p:nvSpPr>
          <p:cNvPr id="614" name="Google Shape;614;p9"/>
          <p:cNvSpPr/>
          <p:nvPr/>
        </p:nvSpPr>
        <p:spPr>
          <a:xfrm>
            <a:off x="1021556" y="5550694"/>
            <a:ext cx="16244888" cy="1100138"/>
          </a:xfrm>
          <a:custGeom>
            <a:rect b="b" l="l" r="r" t="t"/>
            <a:pathLst>
              <a:path extrusionOk="0" h="1466850" w="21659850">
                <a:moveTo>
                  <a:pt x="0" y="231648"/>
                </a:moveTo>
                <a:cubicBezTo>
                  <a:pt x="0" y="103632"/>
                  <a:pt x="103632" y="0"/>
                  <a:pt x="231648" y="0"/>
                </a:cubicBezTo>
                <a:lnTo>
                  <a:pt x="21428202" y="0"/>
                </a:lnTo>
                <a:cubicBezTo>
                  <a:pt x="21556090" y="0"/>
                  <a:pt x="21659850" y="103632"/>
                  <a:pt x="21659850" y="231648"/>
                </a:cubicBezTo>
                <a:lnTo>
                  <a:pt x="21659850" y="1235202"/>
                </a:lnTo>
                <a:cubicBezTo>
                  <a:pt x="21659850" y="1363091"/>
                  <a:pt x="21556218" y="1466850"/>
                  <a:pt x="21428202" y="1466850"/>
                </a:cubicBezTo>
                <a:lnTo>
                  <a:pt x="231648" y="1466850"/>
                </a:lnTo>
                <a:cubicBezTo>
                  <a:pt x="103632" y="1466850"/>
                  <a:pt x="0" y="1363218"/>
                  <a:pt x="0" y="1235202"/>
                </a:cubicBezTo>
                <a:close/>
              </a:path>
            </a:pathLst>
          </a:custGeom>
          <a:solidFill>
            <a:srgbClr val="EEF6FB"/>
          </a:solidFill>
          <a:ln cap="sq" cmpd="sng" w="14275">
            <a:solidFill>
              <a:srgbClr val="D7E1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9"/>
          <p:cNvSpPr txBox="1"/>
          <p:nvPr/>
        </p:nvSpPr>
        <p:spPr>
          <a:xfrm>
            <a:off x="1434465" y="5736908"/>
            <a:ext cx="2817495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Daniel Elgueta</a:t>
            </a:r>
            <a:endParaRPr/>
          </a:p>
        </p:txBody>
      </p:sp>
      <p:sp>
        <p:nvSpPr>
          <p:cNvPr id="616" name="Google Shape;616;p9"/>
          <p:cNvSpPr txBox="1"/>
          <p:nvPr/>
        </p:nvSpPr>
        <p:spPr>
          <a:xfrm>
            <a:off x="4592003" y="5736908"/>
            <a:ext cx="3746183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Backend · Datos · Integraciones</a:t>
            </a:r>
            <a:endParaRPr/>
          </a:p>
        </p:txBody>
      </p:sp>
      <p:sp>
        <p:nvSpPr>
          <p:cNvPr id="617" name="Google Shape;617;p9"/>
          <p:cNvSpPr txBox="1"/>
          <p:nvPr/>
        </p:nvSpPr>
        <p:spPr>
          <a:xfrm>
            <a:off x="8663940" y="5703570"/>
            <a:ext cx="8103870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Desarrolla Node/Express, Prisma/PostgreSQL, pagos, Firebase, mapas y servicios en tiempo real.</a:t>
            </a:r>
            <a:endParaRPr/>
          </a:p>
        </p:txBody>
      </p:sp>
      <p:sp>
        <p:nvSpPr>
          <p:cNvPr id="618" name="Google Shape;618;p9"/>
          <p:cNvSpPr/>
          <p:nvPr/>
        </p:nvSpPr>
        <p:spPr>
          <a:xfrm>
            <a:off x="1021556" y="6865144"/>
            <a:ext cx="16244888" cy="1100138"/>
          </a:xfrm>
          <a:custGeom>
            <a:rect b="b" l="l" r="r" t="t"/>
            <a:pathLst>
              <a:path extrusionOk="0" h="1466850" w="21659850">
                <a:moveTo>
                  <a:pt x="0" y="231648"/>
                </a:moveTo>
                <a:cubicBezTo>
                  <a:pt x="0" y="103632"/>
                  <a:pt x="103632" y="0"/>
                  <a:pt x="231648" y="0"/>
                </a:cubicBezTo>
                <a:lnTo>
                  <a:pt x="21428202" y="0"/>
                </a:lnTo>
                <a:cubicBezTo>
                  <a:pt x="21556090" y="0"/>
                  <a:pt x="21659850" y="103632"/>
                  <a:pt x="21659850" y="231648"/>
                </a:cubicBezTo>
                <a:lnTo>
                  <a:pt x="21659850" y="1235202"/>
                </a:lnTo>
                <a:cubicBezTo>
                  <a:pt x="21659850" y="1363091"/>
                  <a:pt x="21556218" y="1466850"/>
                  <a:pt x="21428202" y="1466850"/>
                </a:cubicBezTo>
                <a:lnTo>
                  <a:pt x="231648" y="1466850"/>
                </a:lnTo>
                <a:cubicBezTo>
                  <a:pt x="103632" y="1466850"/>
                  <a:pt x="0" y="1363218"/>
                  <a:pt x="0" y="1235202"/>
                </a:cubicBezTo>
                <a:close/>
              </a:path>
            </a:pathLst>
          </a:custGeom>
          <a:solidFill>
            <a:srgbClr val="F8FAFC"/>
          </a:solidFill>
          <a:ln cap="sq" cmpd="sng" w="14275">
            <a:solidFill>
              <a:srgbClr val="D7E1E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9"/>
          <p:cNvSpPr txBox="1"/>
          <p:nvPr/>
        </p:nvSpPr>
        <p:spPr>
          <a:xfrm>
            <a:off x="1434465" y="7051357"/>
            <a:ext cx="2817495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Diego Cortes</a:t>
            </a:r>
            <a:endParaRPr/>
          </a:p>
        </p:txBody>
      </p:sp>
      <p:sp>
        <p:nvSpPr>
          <p:cNvPr id="620" name="Google Shape;620;p9"/>
          <p:cNvSpPr txBox="1"/>
          <p:nvPr/>
        </p:nvSpPr>
        <p:spPr>
          <a:xfrm>
            <a:off x="4592003" y="7051357"/>
            <a:ext cx="3746183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Flow Manager · QA · Seguridad</a:t>
            </a:r>
            <a:endParaRPr/>
          </a:p>
        </p:txBody>
      </p:sp>
      <p:sp>
        <p:nvSpPr>
          <p:cNvPr id="621" name="Google Shape;621;p9"/>
          <p:cNvSpPr txBox="1"/>
          <p:nvPr/>
        </p:nvSpPr>
        <p:spPr>
          <a:xfrm>
            <a:off x="8663940" y="7018020"/>
            <a:ext cx="8103870" cy="680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Gestiona tablero y WIP, coordina pruebas, seguridad técnica, documentación y preparación del despliegue.</a:t>
            </a:r>
            <a:endParaRPr/>
          </a:p>
        </p:txBody>
      </p:sp>
      <p:sp>
        <p:nvSpPr>
          <p:cNvPr id="622" name="Google Shape;622;p9"/>
          <p:cNvSpPr txBox="1"/>
          <p:nvPr/>
        </p:nvSpPr>
        <p:spPr>
          <a:xfrm>
            <a:off x="1377315" y="8499157"/>
            <a:ext cx="15533370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Backlog  →  Ready  →  En desarrollo  →  Revisión  →  Pruebas  →  Terminado     ·     WIP: 1 tarea activa por persona</a:t>
            </a:r>
            <a:endParaRPr/>
          </a:p>
        </p:txBody>
      </p:sp>
      <p:sp>
        <p:nvSpPr>
          <p:cNvPr id="623" name="Google Shape;623;p9"/>
          <p:cNvSpPr txBox="1"/>
          <p:nvPr/>
        </p:nvSpPr>
        <p:spPr>
          <a:xfrm>
            <a:off x="1120140" y="9661207"/>
            <a:ext cx="1124712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624" name="Google Shape;624;p9"/>
          <p:cNvSpPr txBox="1"/>
          <p:nvPr/>
        </p:nvSpPr>
        <p:spPr>
          <a:xfrm>
            <a:off x="15950565" y="9661207"/>
            <a:ext cx="1102995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625" name="Google Shape;625;p9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9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0"/>
          <p:cNvSpPr txBox="1"/>
          <p:nvPr/>
        </p:nvSpPr>
        <p:spPr>
          <a:xfrm>
            <a:off x="1123950" y="9658350"/>
            <a:ext cx="11249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633" name="Google Shape;633;p10"/>
          <p:cNvSpPr txBox="1"/>
          <p:nvPr/>
        </p:nvSpPr>
        <p:spPr>
          <a:xfrm>
            <a:off x="15954375" y="9658350"/>
            <a:ext cx="1104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1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3" name="Google Shape;643;p11"/>
          <p:cNvGrpSpPr/>
          <p:nvPr/>
        </p:nvGrpSpPr>
        <p:grpSpPr>
          <a:xfrm>
            <a:off x="1865376" y="850392"/>
            <a:ext cx="8229600" cy="480060"/>
            <a:chOff x="0" y="0"/>
            <a:chExt cx="10972800" cy="640080"/>
          </a:xfrm>
        </p:grpSpPr>
        <p:sp>
          <p:nvSpPr>
            <p:cNvPr id="644" name="Google Shape;644;p11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1"/>
            <p:cNvSpPr txBox="1"/>
            <p:nvPr/>
          </p:nvSpPr>
          <p:spPr>
            <a:xfrm>
              <a:off x="0" y="0"/>
              <a:ext cx="10972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COMPETENCIAS</a:t>
              </a:r>
              <a:endParaRPr/>
            </a:p>
          </p:txBody>
        </p:sp>
      </p:grpSp>
      <p:sp>
        <p:nvSpPr>
          <p:cNvPr id="646" name="Google Shape;646;p11"/>
          <p:cNvSpPr txBox="1"/>
          <p:nvPr/>
        </p:nvSpPr>
        <p:spPr>
          <a:xfrm>
            <a:off x="1228725" y="1485900"/>
            <a:ext cx="157161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37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El proyecto integra competencias técnicas y de gestión</a:t>
            </a:r>
            <a:endParaRPr/>
          </a:p>
        </p:txBody>
      </p:sp>
      <p:sp>
        <p:nvSpPr>
          <p:cNvPr id="647" name="Google Shape;647;p11"/>
          <p:cNvSpPr/>
          <p:nvPr/>
        </p:nvSpPr>
        <p:spPr>
          <a:xfrm>
            <a:off x="265562" y="2642700"/>
            <a:ext cx="3239839" cy="2014131"/>
          </a:xfrm>
          <a:custGeom>
            <a:rect b="b" l="l" r="r" t="t"/>
            <a:pathLst>
              <a:path extrusionOk="0" h="2494280" w="4012184">
                <a:moveTo>
                  <a:pt x="0" y="249428"/>
                </a:moveTo>
                <a:cubicBezTo>
                  <a:pt x="0" y="111633"/>
                  <a:pt x="111633" y="0"/>
                  <a:pt x="249428" y="0"/>
                </a:cubicBezTo>
                <a:lnTo>
                  <a:pt x="3762756" y="0"/>
                </a:lnTo>
                <a:cubicBezTo>
                  <a:pt x="3900551" y="0"/>
                  <a:pt x="4012184" y="111633"/>
                  <a:pt x="4012184" y="249428"/>
                </a:cubicBezTo>
                <a:lnTo>
                  <a:pt x="4012184" y="2244852"/>
                </a:lnTo>
                <a:cubicBezTo>
                  <a:pt x="4012184" y="2382647"/>
                  <a:pt x="3900551" y="2494280"/>
                  <a:pt x="3762756" y="2494280"/>
                </a:cubicBezTo>
                <a:lnTo>
                  <a:pt x="249428" y="2494280"/>
                </a:lnTo>
                <a:cubicBezTo>
                  <a:pt x="111633" y="2494280"/>
                  <a:pt x="0" y="2382647"/>
                  <a:pt x="0" y="2244852"/>
                </a:cubicBezTo>
                <a:close/>
              </a:path>
            </a:pathLst>
          </a:custGeom>
          <a:solidFill>
            <a:srgbClr val="F5F8FC"/>
          </a:solidFill>
          <a:ln cap="sq" cmpd="sng" w="20475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9150" lIns="98325" spcFirstLastPara="1" rIns="98325" wrap="square" tIns="49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1"/>
          <p:cNvSpPr txBox="1"/>
          <p:nvPr/>
        </p:nvSpPr>
        <p:spPr>
          <a:xfrm>
            <a:off x="275808" y="2918501"/>
            <a:ext cx="3216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34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💻</a:t>
            </a:r>
            <a:endParaRPr sz="1506"/>
          </a:p>
        </p:txBody>
      </p:sp>
      <p:grpSp>
        <p:nvGrpSpPr>
          <p:cNvPr id="649" name="Google Shape;649;p11"/>
          <p:cNvGrpSpPr/>
          <p:nvPr/>
        </p:nvGrpSpPr>
        <p:grpSpPr>
          <a:xfrm>
            <a:off x="423338" y="3803687"/>
            <a:ext cx="2921080" cy="737646"/>
            <a:chOff x="0" y="0"/>
            <a:chExt cx="3621024" cy="914400"/>
          </a:xfrm>
        </p:grpSpPr>
        <p:sp>
          <p:nvSpPr>
            <p:cNvPr id="650" name="Google Shape;650;p11"/>
            <p:cNvSpPr/>
            <p:nvPr/>
          </p:nvSpPr>
          <p:spPr>
            <a:xfrm>
              <a:off x="0" y="0"/>
              <a:ext cx="3621024" cy="914400"/>
            </a:xfrm>
            <a:custGeom>
              <a:rect b="b" l="l" r="r" t="t"/>
              <a:pathLst>
                <a:path extrusionOk="0" h="9144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160" l="0" r="0" t="-27160"/>
              </a:stretch>
            </a:blipFill>
            <a:ln>
              <a:noFill/>
            </a:ln>
          </p:spPr>
          <p:txBody>
            <a:bodyPr anchorCtr="0" anchor="t" bIns="49150" lIns="98325" spcFirstLastPara="1" rIns="98325" wrap="square" tIns="49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11"/>
            <p:cNvSpPr txBox="1"/>
            <p:nvPr/>
          </p:nvSpPr>
          <p:spPr>
            <a:xfrm>
              <a:off x="0" y="9525"/>
              <a:ext cx="3621024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6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Desarrollo de software</a:t>
              </a:r>
              <a:endParaRPr sz="1506"/>
            </a:p>
          </p:txBody>
        </p:sp>
      </p:grpSp>
      <p:sp>
        <p:nvSpPr>
          <p:cNvPr id="652" name="Google Shape;652;p11"/>
          <p:cNvSpPr/>
          <p:nvPr/>
        </p:nvSpPr>
        <p:spPr>
          <a:xfrm>
            <a:off x="3894819" y="2642700"/>
            <a:ext cx="3239839" cy="2014131"/>
          </a:xfrm>
          <a:custGeom>
            <a:rect b="b" l="l" r="r" t="t"/>
            <a:pathLst>
              <a:path extrusionOk="0" h="2494280" w="4012184">
                <a:moveTo>
                  <a:pt x="0" y="249428"/>
                </a:moveTo>
                <a:cubicBezTo>
                  <a:pt x="0" y="111633"/>
                  <a:pt x="111633" y="0"/>
                  <a:pt x="249428" y="0"/>
                </a:cubicBezTo>
                <a:lnTo>
                  <a:pt x="3762756" y="0"/>
                </a:lnTo>
                <a:cubicBezTo>
                  <a:pt x="3900551" y="0"/>
                  <a:pt x="4012184" y="111633"/>
                  <a:pt x="4012184" y="249428"/>
                </a:cubicBezTo>
                <a:lnTo>
                  <a:pt x="4012184" y="2244852"/>
                </a:lnTo>
                <a:cubicBezTo>
                  <a:pt x="4012184" y="2382647"/>
                  <a:pt x="3900551" y="2494280"/>
                  <a:pt x="3762756" y="2494280"/>
                </a:cubicBezTo>
                <a:lnTo>
                  <a:pt x="249428" y="2494280"/>
                </a:lnTo>
                <a:cubicBezTo>
                  <a:pt x="111633" y="2494280"/>
                  <a:pt x="0" y="2382647"/>
                  <a:pt x="0" y="2244852"/>
                </a:cubicBezTo>
                <a:close/>
              </a:path>
            </a:pathLst>
          </a:custGeom>
          <a:solidFill>
            <a:srgbClr val="F5F8FC"/>
          </a:solidFill>
          <a:ln cap="sq" cmpd="sng" w="20475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9150" lIns="98325" spcFirstLastPara="1" rIns="98325" wrap="square" tIns="49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1"/>
          <p:cNvSpPr txBox="1"/>
          <p:nvPr/>
        </p:nvSpPr>
        <p:spPr>
          <a:xfrm>
            <a:off x="3905064" y="2918501"/>
            <a:ext cx="3216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34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📱</a:t>
            </a:r>
            <a:endParaRPr sz="1506"/>
          </a:p>
        </p:txBody>
      </p:sp>
      <p:grpSp>
        <p:nvGrpSpPr>
          <p:cNvPr id="654" name="Google Shape;654;p11"/>
          <p:cNvGrpSpPr/>
          <p:nvPr/>
        </p:nvGrpSpPr>
        <p:grpSpPr>
          <a:xfrm>
            <a:off x="4052595" y="3803687"/>
            <a:ext cx="2921080" cy="737646"/>
            <a:chOff x="0" y="0"/>
            <a:chExt cx="3621024" cy="914400"/>
          </a:xfrm>
        </p:grpSpPr>
        <p:sp>
          <p:nvSpPr>
            <p:cNvPr id="655" name="Google Shape;655;p11"/>
            <p:cNvSpPr/>
            <p:nvPr/>
          </p:nvSpPr>
          <p:spPr>
            <a:xfrm>
              <a:off x="0" y="0"/>
              <a:ext cx="3621024" cy="914400"/>
            </a:xfrm>
            <a:custGeom>
              <a:rect b="b" l="l" r="r" t="t"/>
              <a:pathLst>
                <a:path extrusionOk="0" h="9144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160" l="0" r="0" t="-27160"/>
              </a:stretch>
            </a:blipFill>
            <a:ln>
              <a:noFill/>
            </a:ln>
          </p:spPr>
          <p:txBody>
            <a:bodyPr anchorCtr="0" anchor="t" bIns="49150" lIns="98325" spcFirstLastPara="1" rIns="98325" wrap="square" tIns="49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11"/>
            <p:cNvSpPr txBox="1"/>
            <p:nvPr/>
          </p:nvSpPr>
          <p:spPr>
            <a:xfrm>
              <a:off x="0" y="9525"/>
              <a:ext cx="3621024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6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Apps móviles / web</a:t>
              </a:r>
              <a:endParaRPr sz="1506"/>
            </a:p>
          </p:txBody>
        </p:sp>
      </p:grpSp>
      <p:sp>
        <p:nvSpPr>
          <p:cNvPr id="657" name="Google Shape;657;p11"/>
          <p:cNvSpPr/>
          <p:nvPr/>
        </p:nvSpPr>
        <p:spPr>
          <a:xfrm>
            <a:off x="7524076" y="2642700"/>
            <a:ext cx="3239839" cy="2014131"/>
          </a:xfrm>
          <a:custGeom>
            <a:rect b="b" l="l" r="r" t="t"/>
            <a:pathLst>
              <a:path extrusionOk="0" h="2494280" w="4012184">
                <a:moveTo>
                  <a:pt x="0" y="249428"/>
                </a:moveTo>
                <a:cubicBezTo>
                  <a:pt x="0" y="111633"/>
                  <a:pt x="111633" y="0"/>
                  <a:pt x="249428" y="0"/>
                </a:cubicBezTo>
                <a:lnTo>
                  <a:pt x="3762756" y="0"/>
                </a:lnTo>
                <a:cubicBezTo>
                  <a:pt x="3900551" y="0"/>
                  <a:pt x="4012184" y="111633"/>
                  <a:pt x="4012184" y="249428"/>
                </a:cubicBezTo>
                <a:lnTo>
                  <a:pt x="4012184" y="2244852"/>
                </a:lnTo>
                <a:cubicBezTo>
                  <a:pt x="4012184" y="2382647"/>
                  <a:pt x="3900551" y="2494280"/>
                  <a:pt x="3762756" y="2494280"/>
                </a:cubicBezTo>
                <a:lnTo>
                  <a:pt x="249428" y="2494280"/>
                </a:lnTo>
                <a:cubicBezTo>
                  <a:pt x="111633" y="2494280"/>
                  <a:pt x="0" y="2382647"/>
                  <a:pt x="0" y="2244852"/>
                </a:cubicBezTo>
                <a:close/>
              </a:path>
            </a:pathLst>
          </a:custGeom>
          <a:solidFill>
            <a:srgbClr val="F5F8FC"/>
          </a:solidFill>
          <a:ln cap="sq" cmpd="sng" w="20475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9150" lIns="98325" spcFirstLastPara="1" rIns="98325" wrap="square" tIns="49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1"/>
          <p:cNvSpPr txBox="1"/>
          <p:nvPr/>
        </p:nvSpPr>
        <p:spPr>
          <a:xfrm>
            <a:off x="7534321" y="2918501"/>
            <a:ext cx="3216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34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endParaRPr sz="1506"/>
          </a:p>
        </p:txBody>
      </p:sp>
      <p:grpSp>
        <p:nvGrpSpPr>
          <p:cNvPr id="659" name="Google Shape;659;p11"/>
          <p:cNvGrpSpPr/>
          <p:nvPr/>
        </p:nvGrpSpPr>
        <p:grpSpPr>
          <a:xfrm>
            <a:off x="7681852" y="3803687"/>
            <a:ext cx="2921080" cy="737646"/>
            <a:chOff x="0" y="0"/>
            <a:chExt cx="3621024" cy="914400"/>
          </a:xfrm>
        </p:grpSpPr>
        <p:sp>
          <p:nvSpPr>
            <p:cNvPr id="660" name="Google Shape;660;p11"/>
            <p:cNvSpPr/>
            <p:nvPr/>
          </p:nvSpPr>
          <p:spPr>
            <a:xfrm>
              <a:off x="0" y="0"/>
              <a:ext cx="3621024" cy="914400"/>
            </a:xfrm>
            <a:custGeom>
              <a:rect b="b" l="l" r="r" t="t"/>
              <a:pathLst>
                <a:path extrusionOk="0" h="9144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160" l="0" r="0" t="-27160"/>
              </a:stretch>
            </a:blipFill>
            <a:ln>
              <a:noFill/>
            </a:ln>
          </p:spPr>
          <p:txBody>
            <a:bodyPr anchorCtr="0" anchor="t" bIns="49150" lIns="98325" spcFirstLastPara="1" rIns="98325" wrap="square" tIns="49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1"/>
            <p:cNvSpPr txBox="1"/>
            <p:nvPr/>
          </p:nvSpPr>
          <p:spPr>
            <a:xfrm>
              <a:off x="0" y="9525"/>
              <a:ext cx="3621024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6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APIs y servicios</a:t>
              </a:r>
              <a:endParaRPr sz="1506"/>
            </a:p>
          </p:txBody>
        </p:sp>
      </p:grpSp>
      <p:sp>
        <p:nvSpPr>
          <p:cNvPr id="662" name="Google Shape;662;p11"/>
          <p:cNvSpPr/>
          <p:nvPr/>
        </p:nvSpPr>
        <p:spPr>
          <a:xfrm>
            <a:off x="11153332" y="2642700"/>
            <a:ext cx="3239839" cy="2014131"/>
          </a:xfrm>
          <a:custGeom>
            <a:rect b="b" l="l" r="r" t="t"/>
            <a:pathLst>
              <a:path extrusionOk="0" h="2494280" w="4012184">
                <a:moveTo>
                  <a:pt x="0" y="249428"/>
                </a:moveTo>
                <a:cubicBezTo>
                  <a:pt x="0" y="111633"/>
                  <a:pt x="111633" y="0"/>
                  <a:pt x="249428" y="0"/>
                </a:cubicBezTo>
                <a:lnTo>
                  <a:pt x="3762756" y="0"/>
                </a:lnTo>
                <a:cubicBezTo>
                  <a:pt x="3900551" y="0"/>
                  <a:pt x="4012184" y="111633"/>
                  <a:pt x="4012184" y="249428"/>
                </a:cubicBezTo>
                <a:lnTo>
                  <a:pt x="4012184" y="2244852"/>
                </a:lnTo>
                <a:cubicBezTo>
                  <a:pt x="4012184" y="2382647"/>
                  <a:pt x="3900551" y="2494280"/>
                  <a:pt x="3762756" y="2494280"/>
                </a:cubicBezTo>
                <a:lnTo>
                  <a:pt x="249428" y="2494280"/>
                </a:lnTo>
                <a:cubicBezTo>
                  <a:pt x="111633" y="2494280"/>
                  <a:pt x="0" y="2382647"/>
                  <a:pt x="0" y="2244852"/>
                </a:cubicBezTo>
                <a:close/>
              </a:path>
            </a:pathLst>
          </a:custGeom>
          <a:solidFill>
            <a:srgbClr val="F5F8FC"/>
          </a:solidFill>
          <a:ln cap="sq" cmpd="sng" w="20475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9150" lIns="98325" spcFirstLastPara="1" rIns="98325" wrap="square" tIns="49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1"/>
          <p:cNvSpPr txBox="1"/>
          <p:nvPr/>
        </p:nvSpPr>
        <p:spPr>
          <a:xfrm>
            <a:off x="11163577" y="2918501"/>
            <a:ext cx="3216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34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🗄️</a:t>
            </a:r>
            <a:endParaRPr sz="1506"/>
          </a:p>
        </p:txBody>
      </p:sp>
      <p:grpSp>
        <p:nvGrpSpPr>
          <p:cNvPr id="664" name="Google Shape;664;p11"/>
          <p:cNvGrpSpPr/>
          <p:nvPr/>
        </p:nvGrpSpPr>
        <p:grpSpPr>
          <a:xfrm>
            <a:off x="11311108" y="3803687"/>
            <a:ext cx="2921080" cy="737646"/>
            <a:chOff x="0" y="0"/>
            <a:chExt cx="3621024" cy="914400"/>
          </a:xfrm>
        </p:grpSpPr>
        <p:sp>
          <p:nvSpPr>
            <p:cNvPr id="665" name="Google Shape;665;p11"/>
            <p:cNvSpPr/>
            <p:nvPr/>
          </p:nvSpPr>
          <p:spPr>
            <a:xfrm>
              <a:off x="0" y="0"/>
              <a:ext cx="3621024" cy="914400"/>
            </a:xfrm>
            <a:custGeom>
              <a:rect b="b" l="l" r="r" t="t"/>
              <a:pathLst>
                <a:path extrusionOk="0" h="9144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160" l="0" r="0" t="-27160"/>
              </a:stretch>
            </a:blipFill>
            <a:ln>
              <a:noFill/>
            </a:ln>
          </p:spPr>
          <p:txBody>
            <a:bodyPr anchorCtr="0" anchor="t" bIns="49150" lIns="98325" spcFirstLastPara="1" rIns="98325" wrap="square" tIns="49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1"/>
            <p:cNvSpPr txBox="1"/>
            <p:nvPr/>
          </p:nvSpPr>
          <p:spPr>
            <a:xfrm>
              <a:off x="0" y="9525"/>
              <a:ext cx="3621024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6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Bases de datos</a:t>
              </a:r>
              <a:endParaRPr sz="1506"/>
            </a:p>
          </p:txBody>
        </p:sp>
      </p:grpSp>
      <p:sp>
        <p:nvSpPr>
          <p:cNvPr id="667" name="Google Shape;667;p11"/>
          <p:cNvSpPr/>
          <p:nvPr/>
        </p:nvSpPr>
        <p:spPr>
          <a:xfrm>
            <a:off x="14782589" y="2642700"/>
            <a:ext cx="3239839" cy="2014131"/>
          </a:xfrm>
          <a:custGeom>
            <a:rect b="b" l="l" r="r" t="t"/>
            <a:pathLst>
              <a:path extrusionOk="0" h="2494280" w="4012184">
                <a:moveTo>
                  <a:pt x="0" y="249428"/>
                </a:moveTo>
                <a:cubicBezTo>
                  <a:pt x="0" y="111633"/>
                  <a:pt x="111633" y="0"/>
                  <a:pt x="249428" y="0"/>
                </a:cubicBezTo>
                <a:lnTo>
                  <a:pt x="3762756" y="0"/>
                </a:lnTo>
                <a:cubicBezTo>
                  <a:pt x="3900551" y="0"/>
                  <a:pt x="4012184" y="111633"/>
                  <a:pt x="4012184" y="249428"/>
                </a:cubicBezTo>
                <a:lnTo>
                  <a:pt x="4012184" y="2244852"/>
                </a:lnTo>
                <a:cubicBezTo>
                  <a:pt x="4012184" y="2382647"/>
                  <a:pt x="3900551" y="2494280"/>
                  <a:pt x="3762756" y="2494280"/>
                </a:cubicBezTo>
                <a:lnTo>
                  <a:pt x="249428" y="2494280"/>
                </a:lnTo>
                <a:cubicBezTo>
                  <a:pt x="111633" y="2494280"/>
                  <a:pt x="0" y="2382647"/>
                  <a:pt x="0" y="2244852"/>
                </a:cubicBezTo>
                <a:close/>
              </a:path>
            </a:pathLst>
          </a:custGeom>
          <a:solidFill>
            <a:srgbClr val="F5F8FC"/>
          </a:solidFill>
          <a:ln cap="sq" cmpd="sng" w="20475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9150" lIns="98325" spcFirstLastPara="1" rIns="98325" wrap="square" tIns="49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1"/>
          <p:cNvSpPr txBox="1"/>
          <p:nvPr/>
        </p:nvSpPr>
        <p:spPr>
          <a:xfrm>
            <a:off x="14792834" y="2918501"/>
            <a:ext cx="3216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34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🔐</a:t>
            </a:r>
            <a:endParaRPr sz="1506"/>
          </a:p>
        </p:txBody>
      </p:sp>
      <p:grpSp>
        <p:nvGrpSpPr>
          <p:cNvPr id="669" name="Google Shape;669;p11"/>
          <p:cNvGrpSpPr/>
          <p:nvPr/>
        </p:nvGrpSpPr>
        <p:grpSpPr>
          <a:xfrm>
            <a:off x="14940365" y="3803687"/>
            <a:ext cx="2921080" cy="737646"/>
            <a:chOff x="0" y="0"/>
            <a:chExt cx="3621024" cy="914400"/>
          </a:xfrm>
        </p:grpSpPr>
        <p:sp>
          <p:nvSpPr>
            <p:cNvPr id="670" name="Google Shape;670;p11"/>
            <p:cNvSpPr/>
            <p:nvPr/>
          </p:nvSpPr>
          <p:spPr>
            <a:xfrm>
              <a:off x="0" y="0"/>
              <a:ext cx="3621024" cy="914400"/>
            </a:xfrm>
            <a:custGeom>
              <a:rect b="b" l="l" r="r" t="t"/>
              <a:pathLst>
                <a:path extrusionOk="0" h="9144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160" l="0" r="0" t="-27160"/>
              </a:stretch>
            </a:blipFill>
            <a:ln>
              <a:noFill/>
            </a:ln>
          </p:spPr>
          <p:txBody>
            <a:bodyPr anchorCtr="0" anchor="t" bIns="49150" lIns="98325" spcFirstLastPara="1" rIns="98325" wrap="square" tIns="49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1"/>
            <p:cNvSpPr txBox="1"/>
            <p:nvPr/>
          </p:nvSpPr>
          <p:spPr>
            <a:xfrm>
              <a:off x="0" y="9525"/>
              <a:ext cx="3621024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6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Autenticación y seguridad</a:t>
              </a:r>
              <a:endParaRPr sz="1506"/>
            </a:p>
          </p:txBody>
        </p:sp>
      </p:grpSp>
      <p:sp>
        <p:nvSpPr>
          <p:cNvPr id="672" name="Google Shape;672;p11"/>
          <p:cNvSpPr/>
          <p:nvPr/>
        </p:nvSpPr>
        <p:spPr>
          <a:xfrm>
            <a:off x="265562" y="5047456"/>
            <a:ext cx="3239839" cy="2014131"/>
          </a:xfrm>
          <a:custGeom>
            <a:rect b="b" l="l" r="r" t="t"/>
            <a:pathLst>
              <a:path extrusionOk="0" h="2494280" w="4012184">
                <a:moveTo>
                  <a:pt x="0" y="249428"/>
                </a:moveTo>
                <a:cubicBezTo>
                  <a:pt x="0" y="111633"/>
                  <a:pt x="111633" y="0"/>
                  <a:pt x="249428" y="0"/>
                </a:cubicBezTo>
                <a:lnTo>
                  <a:pt x="3762756" y="0"/>
                </a:lnTo>
                <a:cubicBezTo>
                  <a:pt x="3900551" y="0"/>
                  <a:pt x="4012184" y="111633"/>
                  <a:pt x="4012184" y="249428"/>
                </a:cubicBezTo>
                <a:lnTo>
                  <a:pt x="4012184" y="2244852"/>
                </a:lnTo>
                <a:cubicBezTo>
                  <a:pt x="4012184" y="2382647"/>
                  <a:pt x="3900551" y="2494280"/>
                  <a:pt x="3762756" y="2494280"/>
                </a:cubicBezTo>
                <a:lnTo>
                  <a:pt x="249428" y="2494280"/>
                </a:lnTo>
                <a:cubicBezTo>
                  <a:pt x="111633" y="2494280"/>
                  <a:pt x="0" y="2382647"/>
                  <a:pt x="0" y="2244852"/>
                </a:cubicBezTo>
                <a:close/>
              </a:path>
            </a:pathLst>
          </a:custGeom>
          <a:solidFill>
            <a:srgbClr val="F5F8FC"/>
          </a:solidFill>
          <a:ln cap="sq" cmpd="sng" w="20475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9150" lIns="98325" spcFirstLastPara="1" rIns="98325" wrap="square" tIns="49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1"/>
          <p:cNvSpPr txBox="1"/>
          <p:nvPr/>
        </p:nvSpPr>
        <p:spPr>
          <a:xfrm>
            <a:off x="275808" y="5323257"/>
            <a:ext cx="3216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34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sz="1506"/>
          </a:p>
        </p:txBody>
      </p:sp>
      <p:grpSp>
        <p:nvGrpSpPr>
          <p:cNvPr id="674" name="Google Shape;674;p11"/>
          <p:cNvGrpSpPr/>
          <p:nvPr/>
        </p:nvGrpSpPr>
        <p:grpSpPr>
          <a:xfrm>
            <a:off x="423338" y="6208443"/>
            <a:ext cx="2921080" cy="737646"/>
            <a:chOff x="0" y="0"/>
            <a:chExt cx="3621024" cy="914400"/>
          </a:xfrm>
        </p:grpSpPr>
        <p:sp>
          <p:nvSpPr>
            <p:cNvPr id="675" name="Google Shape;675;p11"/>
            <p:cNvSpPr/>
            <p:nvPr/>
          </p:nvSpPr>
          <p:spPr>
            <a:xfrm>
              <a:off x="0" y="0"/>
              <a:ext cx="3621024" cy="914400"/>
            </a:xfrm>
            <a:custGeom>
              <a:rect b="b" l="l" r="r" t="t"/>
              <a:pathLst>
                <a:path extrusionOk="0" h="9144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160" l="0" r="0" t="-27160"/>
              </a:stretch>
            </a:blipFill>
            <a:ln>
              <a:noFill/>
            </a:ln>
          </p:spPr>
          <p:txBody>
            <a:bodyPr anchorCtr="0" anchor="t" bIns="49150" lIns="98325" spcFirstLastPara="1" rIns="98325" wrap="square" tIns="49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1"/>
            <p:cNvSpPr txBox="1"/>
            <p:nvPr/>
          </p:nvSpPr>
          <p:spPr>
            <a:xfrm>
              <a:off x="0" y="9525"/>
              <a:ext cx="3621024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6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Lógica de negocio</a:t>
              </a:r>
              <a:endParaRPr sz="1506"/>
            </a:p>
          </p:txBody>
        </p:sp>
      </p:grpSp>
      <p:sp>
        <p:nvSpPr>
          <p:cNvPr id="677" name="Google Shape;677;p11"/>
          <p:cNvSpPr/>
          <p:nvPr/>
        </p:nvSpPr>
        <p:spPr>
          <a:xfrm>
            <a:off x="3894819" y="5047456"/>
            <a:ext cx="3239839" cy="2014131"/>
          </a:xfrm>
          <a:custGeom>
            <a:rect b="b" l="l" r="r" t="t"/>
            <a:pathLst>
              <a:path extrusionOk="0" h="2494280" w="4012184">
                <a:moveTo>
                  <a:pt x="0" y="249428"/>
                </a:moveTo>
                <a:cubicBezTo>
                  <a:pt x="0" y="111633"/>
                  <a:pt x="111633" y="0"/>
                  <a:pt x="249428" y="0"/>
                </a:cubicBezTo>
                <a:lnTo>
                  <a:pt x="3762756" y="0"/>
                </a:lnTo>
                <a:cubicBezTo>
                  <a:pt x="3900551" y="0"/>
                  <a:pt x="4012184" y="111633"/>
                  <a:pt x="4012184" y="249428"/>
                </a:cubicBezTo>
                <a:lnTo>
                  <a:pt x="4012184" y="2244852"/>
                </a:lnTo>
                <a:cubicBezTo>
                  <a:pt x="4012184" y="2382647"/>
                  <a:pt x="3900551" y="2494280"/>
                  <a:pt x="3762756" y="2494280"/>
                </a:cubicBezTo>
                <a:lnTo>
                  <a:pt x="249428" y="2494280"/>
                </a:lnTo>
                <a:cubicBezTo>
                  <a:pt x="111633" y="2494280"/>
                  <a:pt x="0" y="2382647"/>
                  <a:pt x="0" y="2244852"/>
                </a:cubicBezTo>
                <a:close/>
              </a:path>
            </a:pathLst>
          </a:custGeom>
          <a:solidFill>
            <a:srgbClr val="F5F8FC"/>
          </a:solidFill>
          <a:ln cap="sq" cmpd="sng" w="20475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9150" lIns="98325" spcFirstLastPara="1" rIns="98325" wrap="square" tIns="49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1"/>
          <p:cNvSpPr txBox="1"/>
          <p:nvPr/>
        </p:nvSpPr>
        <p:spPr>
          <a:xfrm>
            <a:off x="3905064" y="5323257"/>
            <a:ext cx="3216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34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🎨</a:t>
            </a:r>
            <a:endParaRPr sz="1506"/>
          </a:p>
        </p:txBody>
      </p:sp>
      <p:grpSp>
        <p:nvGrpSpPr>
          <p:cNvPr id="679" name="Google Shape;679;p11"/>
          <p:cNvGrpSpPr/>
          <p:nvPr/>
        </p:nvGrpSpPr>
        <p:grpSpPr>
          <a:xfrm>
            <a:off x="4052595" y="6208443"/>
            <a:ext cx="2921080" cy="737646"/>
            <a:chOff x="0" y="0"/>
            <a:chExt cx="3621024" cy="914400"/>
          </a:xfrm>
        </p:grpSpPr>
        <p:sp>
          <p:nvSpPr>
            <p:cNvPr id="680" name="Google Shape;680;p11"/>
            <p:cNvSpPr/>
            <p:nvPr/>
          </p:nvSpPr>
          <p:spPr>
            <a:xfrm>
              <a:off x="0" y="0"/>
              <a:ext cx="3621024" cy="914400"/>
            </a:xfrm>
            <a:custGeom>
              <a:rect b="b" l="l" r="r" t="t"/>
              <a:pathLst>
                <a:path extrusionOk="0" h="9144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160" l="0" r="0" t="-27160"/>
              </a:stretch>
            </a:blipFill>
            <a:ln>
              <a:noFill/>
            </a:ln>
          </p:spPr>
          <p:txBody>
            <a:bodyPr anchorCtr="0" anchor="t" bIns="49150" lIns="98325" spcFirstLastPara="1" rIns="98325" wrap="square" tIns="49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1"/>
            <p:cNvSpPr txBox="1"/>
            <p:nvPr/>
          </p:nvSpPr>
          <p:spPr>
            <a:xfrm>
              <a:off x="0" y="9525"/>
              <a:ext cx="3621024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6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Experiencia de usuario</a:t>
              </a:r>
              <a:endParaRPr sz="1506"/>
            </a:p>
          </p:txBody>
        </p:sp>
      </p:grpSp>
      <p:sp>
        <p:nvSpPr>
          <p:cNvPr id="682" name="Google Shape;682;p11"/>
          <p:cNvSpPr/>
          <p:nvPr/>
        </p:nvSpPr>
        <p:spPr>
          <a:xfrm>
            <a:off x="7524076" y="5047456"/>
            <a:ext cx="3239839" cy="2014131"/>
          </a:xfrm>
          <a:custGeom>
            <a:rect b="b" l="l" r="r" t="t"/>
            <a:pathLst>
              <a:path extrusionOk="0" h="2494280" w="4012184">
                <a:moveTo>
                  <a:pt x="0" y="249428"/>
                </a:moveTo>
                <a:cubicBezTo>
                  <a:pt x="0" y="111633"/>
                  <a:pt x="111633" y="0"/>
                  <a:pt x="249428" y="0"/>
                </a:cubicBezTo>
                <a:lnTo>
                  <a:pt x="3762756" y="0"/>
                </a:lnTo>
                <a:cubicBezTo>
                  <a:pt x="3900551" y="0"/>
                  <a:pt x="4012184" y="111633"/>
                  <a:pt x="4012184" y="249428"/>
                </a:cubicBezTo>
                <a:lnTo>
                  <a:pt x="4012184" y="2244852"/>
                </a:lnTo>
                <a:cubicBezTo>
                  <a:pt x="4012184" y="2382647"/>
                  <a:pt x="3900551" y="2494280"/>
                  <a:pt x="3762756" y="2494280"/>
                </a:cubicBezTo>
                <a:lnTo>
                  <a:pt x="249428" y="2494280"/>
                </a:lnTo>
                <a:cubicBezTo>
                  <a:pt x="111633" y="2494280"/>
                  <a:pt x="0" y="2382647"/>
                  <a:pt x="0" y="2244852"/>
                </a:cubicBezTo>
                <a:close/>
              </a:path>
            </a:pathLst>
          </a:custGeom>
          <a:solidFill>
            <a:srgbClr val="F5F8FC"/>
          </a:solidFill>
          <a:ln cap="sq" cmpd="sng" w="20475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9150" lIns="98325" spcFirstLastPara="1" rIns="98325" wrap="square" tIns="49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1"/>
          <p:cNvSpPr txBox="1"/>
          <p:nvPr/>
        </p:nvSpPr>
        <p:spPr>
          <a:xfrm>
            <a:off x="7534321" y="5323257"/>
            <a:ext cx="3216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34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1506"/>
          </a:p>
        </p:txBody>
      </p:sp>
      <p:grpSp>
        <p:nvGrpSpPr>
          <p:cNvPr id="684" name="Google Shape;684;p11"/>
          <p:cNvGrpSpPr/>
          <p:nvPr/>
        </p:nvGrpSpPr>
        <p:grpSpPr>
          <a:xfrm>
            <a:off x="7681852" y="6208443"/>
            <a:ext cx="2921080" cy="737646"/>
            <a:chOff x="0" y="0"/>
            <a:chExt cx="3621024" cy="914400"/>
          </a:xfrm>
        </p:grpSpPr>
        <p:sp>
          <p:nvSpPr>
            <p:cNvPr id="685" name="Google Shape;685;p11"/>
            <p:cNvSpPr/>
            <p:nvPr/>
          </p:nvSpPr>
          <p:spPr>
            <a:xfrm>
              <a:off x="0" y="0"/>
              <a:ext cx="3621024" cy="914400"/>
            </a:xfrm>
            <a:custGeom>
              <a:rect b="b" l="l" r="r" t="t"/>
              <a:pathLst>
                <a:path extrusionOk="0" h="9144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160" l="0" r="0" t="-27160"/>
              </a:stretch>
            </a:blipFill>
            <a:ln>
              <a:noFill/>
            </a:ln>
          </p:spPr>
          <p:txBody>
            <a:bodyPr anchorCtr="0" anchor="t" bIns="49150" lIns="98325" spcFirstLastPara="1" rIns="98325" wrap="square" tIns="49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1"/>
            <p:cNvSpPr txBox="1"/>
            <p:nvPr/>
          </p:nvSpPr>
          <p:spPr>
            <a:xfrm>
              <a:off x="0" y="9525"/>
              <a:ext cx="3621024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6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Pruebas de software</a:t>
              </a:r>
              <a:endParaRPr sz="1506"/>
            </a:p>
          </p:txBody>
        </p:sp>
      </p:grpSp>
      <p:sp>
        <p:nvSpPr>
          <p:cNvPr id="687" name="Google Shape;687;p11"/>
          <p:cNvSpPr/>
          <p:nvPr/>
        </p:nvSpPr>
        <p:spPr>
          <a:xfrm>
            <a:off x="11153332" y="5047456"/>
            <a:ext cx="3239839" cy="2014131"/>
          </a:xfrm>
          <a:custGeom>
            <a:rect b="b" l="l" r="r" t="t"/>
            <a:pathLst>
              <a:path extrusionOk="0" h="2494280" w="4012184">
                <a:moveTo>
                  <a:pt x="0" y="249428"/>
                </a:moveTo>
                <a:cubicBezTo>
                  <a:pt x="0" y="111633"/>
                  <a:pt x="111633" y="0"/>
                  <a:pt x="249428" y="0"/>
                </a:cubicBezTo>
                <a:lnTo>
                  <a:pt x="3762756" y="0"/>
                </a:lnTo>
                <a:cubicBezTo>
                  <a:pt x="3900551" y="0"/>
                  <a:pt x="4012184" y="111633"/>
                  <a:pt x="4012184" y="249428"/>
                </a:cubicBezTo>
                <a:lnTo>
                  <a:pt x="4012184" y="2244852"/>
                </a:lnTo>
                <a:cubicBezTo>
                  <a:pt x="4012184" y="2382647"/>
                  <a:pt x="3900551" y="2494280"/>
                  <a:pt x="3762756" y="2494280"/>
                </a:cubicBezTo>
                <a:lnTo>
                  <a:pt x="249428" y="2494280"/>
                </a:lnTo>
                <a:cubicBezTo>
                  <a:pt x="111633" y="2494280"/>
                  <a:pt x="0" y="2382647"/>
                  <a:pt x="0" y="2244852"/>
                </a:cubicBezTo>
                <a:close/>
              </a:path>
            </a:pathLst>
          </a:custGeom>
          <a:solidFill>
            <a:srgbClr val="F5F8FC"/>
          </a:solidFill>
          <a:ln cap="sq" cmpd="sng" w="20475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9150" lIns="98325" spcFirstLastPara="1" rIns="98325" wrap="square" tIns="49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1"/>
          <p:cNvSpPr txBox="1"/>
          <p:nvPr/>
        </p:nvSpPr>
        <p:spPr>
          <a:xfrm>
            <a:off x="11163577" y="5323257"/>
            <a:ext cx="3216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34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🧩</a:t>
            </a:r>
            <a:endParaRPr sz="1506"/>
          </a:p>
        </p:txBody>
      </p:sp>
      <p:grpSp>
        <p:nvGrpSpPr>
          <p:cNvPr id="689" name="Google Shape;689;p11"/>
          <p:cNvGrpSpPr/>
          <p:nvPr/>
        </p:nvGrpSpPr>
        <p:grpSpPr>
          <a:xfrm>
            <a:off x="11311108" y="6208443"/>
            <a:ext cx="2921080" cy="737646"/>
            <a:chOff x="0" y="0"/>
            <a:chExt cx="3621024" cy="914400"/>
          </a:xfrm>
        </p:grpSpPr>
        <p:sp>
          <p:nvSpPr>
            <p:cNvPr id="690" name="Google Shape;690;p11"/>
            <p:cNvSpPr/>
            <p:nvPr/>
          </p:nvSpPr>
          <p:spPr>
            <a:xfrm>
              <a:off x="0" y="0"/>
              <a:ext cx="3621024" cy="914400"/>
            </a:xfrm>
            <a:custGeom>
              <a:rect b="b" l="l" r="r" t="t"/>
              <a:pathLst>
                <a:path extrusionOk="0" h="9144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160" l="0" r="0" t="-27160"/>
              </a:stretch>
            </a:blipFill>
            <a:ln>
              <a:noFill/>
            </a:ln>
          </p:spPr>
          <p:txBody>
            <a:bodyPr anchorCtr="0" anchor="t" bIns="49150" lIns="98325" spcFirstLastPara="1" rIns="98325" wrap="square" tIns="49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1"/>
            <p:cNvSpPr txBox="1"/>
            <p:nvPr/>
          </p:nvSpPr>
          <p:spPr>
            <a:xfrm>
              <a:off x="0" y="9525"/>
              <a:ext cx="3621024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6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Integración de componentes</a:t>
              </a:r>
              <a:endParaRPr sz="1506"/>
            </a:p>
          </p:txBody>
        </p:sp>
      </p:grpSp>
      <p:sp>
        <p:nvSpPr>
          <p:cNvPr id="692" name="Google Shape;692;p11"/>
          <p:cNvSpPr/>
          <p:nvPr/>
        </p:nvSpPr>
        <p:spPr>
          <a:xfrm>
            <a:off x="14782589" y="5047456"/>
            <a:ext cx="3239839" cy="2014131"/>
          </a:xfrm>
          <a:custGeom>
            <a:rect b="b" l="l" r="r" t="t"/>
            <a:pathLst>
              <a:path extrusionOk="0" h="2494280" w="4012184">
                <a:moveTo>
                  <a:pt x="0" y="249428"/>
                </a:moveTo>
                <a:cubicBezTo>
                  <a:pt x="0" y="111633"/>
                  <a:pt x="111633" y="0"/>
                  <a:pt x="249428" y="0"/>
                </a:cubicBezTo>
                <a:lnTo>
                  <a:pt x="3762756" y="0"/>
                </a:lnTo>
                <a:cubicBezTo>
                  <a:pt x="3900551" y="0"/>
                  <a:pt x="4012184" y="111633"/>
                  <a:pt x="4012184" y="249428"/>
                </a:cubicBezTo>
                <a:lnTo>
                  <a:pt x="4012184" y="2244852"/>
                </a:lnTo>
                <a:cubicBezTo>
                  <a:pt x="4012184" y="2382647"/>
                  <a:pt x="3900551" y="2494280"/>
                  <a:pt x="3762756" y="2494280"/>
                </a:cubicBezTo>
                <a:lnTo>
                  <a:pt x="249428" y="2494280"/>
                </a:lnTo>
                <a:cubicBezTo>
                  <a:pt x="111633" y="2494280"/>
                  <a:pt x="0" y="2382647"/>
                  <a:pt x="0" y="2244852"/>
                </a:cubicBezTo>
                <a:close/>
              </a:path>
            </a:pathLst>
          </a:custGeom>
          <a:solidFill>
            <a:srgbClr val="F5F8FC"/>
          </a:solidFill>
          <a:ln cap="sq" cmpd="sng" w="20475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9150" lIns="98325" spcFirstLastPara="1" rIns="98325" wrap="square" tIns="49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1"/>
          <p:cNvSpPr txBox="1"/>
          <p:nvPr/>
        </p:nvSpPr>
        <p:spPr>
          <a:xfrm>
            <a:off x="14792834" y="5323257"/>
            <a:ext cx="3216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34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endParaRPr sz="1506"/>
          </a:p>
        </p:txBody>
      </p:sp>
      <p:grpSp>
        <p:nvGrpSpPr>
          <p:cNvPr id="694" name="Google Shape;694;p11"/>
          <p:cNvGrpSpPr/>
          <p:nvPr/>
        </p:nvGrpSpPr>
        <p:grpSpPr>
          <a:xfrm>
            <a:off x="14940365" y="6208443"/>
            <a:ext cx="2921080" cy="737646"/>
            <a:chOff x="0" y="0"/>
            <a:chExt cx="3621024" cy="914400"/>
          </a:xfrm>
        </p:grpSpPr>
        <p:sp>
          <p:nvSpPr>
            <p:cNvPr id="695" name="Google Shape;695;p11"/>
            <p:cNvSpPr/>
            <p:nvPr/>
          </p:nvSpPr>
          <p:spPr>
            <a:xfrm>
              <a:off x="0" y="0"/>
              <a:ext cx="3621024" cy="914400"/>
            </a:xfrm>
            <a:custGeom>
              <a:rect b="b" l="l" r="r" t="t"/>
              <a:pathLst>
                <a:path extrusionOk="0" h="9144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7160" l="0" r="0" t="-27160"/>
              </a:stretch>
            </a:blipFill>
            <a:ln>
              <a:noFill/>
            </a:ln>
          </p:spPr>
          <p:txBody>
            <a:bodyPr anchorCtr="0" anchor="t" bIns="49150" lIns="98325" spcFirstLastPara="1" rIns="98325" wrap="square" tIns="49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11"/>
            <p:cNvSpPr txBox="1"/>
            <p:nvPr/>
          </p:nvSpPr>
          <p:spPr>
            <a:xfrm>
              <a:off x="0" y="9525"/>
              <a:ext cx="3621024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36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Gestión de proyecto</a:t>
              </a:r>
              <a:endParaRPr sz="1506"/>
            </a:p>
          </p:txBody>
        </p:sp>
      </p:grpSp>
      <p:grpSp>
        <p:nvGrpSpPr>
          <p:cNvPr id="697" name="Google Shape;697;p11"/>
          <p:cNvGrpSpPr/>
          <p:nvPr/>
        </p:nvGrpSpPr>
        <p:grpSpPr>
          <a:xfrm>
            <a:off x="1234440" y="7612380"/>
            <a:ext cx="15814549" cy="1371600"/>
            <a:chOff x="0" y="0"/>
            <a:chExt cx="21086065" cy="1828800"/>
          </a:xfrm>
        </p:grpSpPr>
        <p:sp>
          <p:nvSpPr>
            <p:cNvPr id="698" name="Google Shape;698;p11"/>
            <p:cNvSpPr/>
            <p:nvPr/>
          </p:nvSpPr>
          <p:spPr>
            <a:xfrm>
              <a:off x="0" y="0"/>
              <a:ext cx="21086065" cy="1828800"/>
            </a:xfrm>
            <a:custGeom>
              <a:rect b="b" l="l" r="r" t="t"/>
              <a:pathLst>
                <a:path extrusionOk="0" h="1828800" w="2108606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0903185" y="0"/>
                  </a:lnTo>
                  <a:cubicBezTo>
                    <a:pt x="21004149" y="0"/>
                    <a:pt x="21086065" y="81915"/>
                    <a:pt x="21086065" y="182880"/>
                  </a:cubicBezTo>
                  <a:lnTo>
                    <a:pt x="21086065" y="1645920"/>
                  </a:lnTo>
                  <a:cubicBezTo>
                    <a:pt x="21086065" y="1746885"/>
                    <a:pt x="21004149" y="1828800"/>
                    <a:pt x="20903185" y="1828800"/>
                  </a:cubicBezTo>
                  <a:lnTo>
                    <a:pt x="182880" y="1828800"/>
                  </a:lnTo>
                  <a:cubicBezTo>
                    <a:pt x="81915" y="1828800"/>
                    <a:pt x="0" y="1746885"/>
                    <a:pt x="0" y="1645920"/>
                  </a:cubicBezTo>
                  <a:close/>
                </a:path>
              </a:pathLst>
            </a:custGeom>
            <a:solidFill>
              <a:srgbClr val="164E8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11"/>
            <p:cNvSpPr txBox="1"/>
            <p:nvPr/>
          </p:nvSpPr>
          <p:spPr>
            <a:xfrm>
              <a:off x="0" y="0"/>
              <a:ext cx="21086064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Splash integra frontend, backend, datos, tiempo real, seguridad y gestión: el rango completo de competencias de Ingeniería en Informática.</a:t>
              </a:r>
              <a:endParaRPr/>
            </a:p>
          </p:txBody>
        </p:sp>
      </p:grpSp>
      <p:grpSp>
        <p:nvGrpSpPr>
          <p:cNvPr id="700" name="Google Shape;700;p11"/>
          <p:cNvGrpSpPr/>
          <p:nvPr/>
        </p:nvGrpSpPr>
        <p:grpSpPr>
          <a:xfrm>
            <a:off x="1234440" y="9628632"/>
            <a:ext cx="10972800" cy="411480"/>
            <a:chOff x="0" y="0"/>
            <a:chExt cx="14630400" cy="548640"/>
          </a:xfrm>
        </p:grpSpPr>
        <p:sp>
          <p:nvSpPr>
            <p:cNvPr id="701" name="Google Shape;701;p11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1"/>
            <p:cNvSpPr txBox="1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Splash  ·  Capstone PTY4614  ·  Propuesta de proyecto</a:t>
              </a:r>
              <a:endParaRPr/>
            </a:p>
          </p:txBody>
        </p:sp>
      </p:grpSp>
      <p:grpSp>
        <p:nvGrpSpPr>
          <p:cNvPr id="703" name="Google Shape;703;p11"/>
          <p:cNvGrpSpPr/>
          <p:nvPr/>
        </p:nvGrpSpPr>
        <p:grpSpPr>
          <a:xfrm>
            <a:off x="15636240" y="9628632"/>
            <a:ext cx="1412748" cy="411480"/>
            <a:chOff x="0" y="0"/>
            <a:chExt cx="1883664" cy="548640"/>
          </a:xfrm>
        </p:grpSpPr>
        <p:sp>
          <p:nvSpPr>
            <p:cNvPr id="704" name="Google Shape;704;p11"/>
            <p:cNvSpPr/>
            <p:nvPr/>
          </p:nvSpPr>
          <p:spPr>
            <a:xfrm>
              <a:off x="0" y="0"/>
              <a:ext cx="1883664" cy="548640"/>
            </a:xfrm>
            <a:custGeom>
              <a:rect b="b" l="l" r="r" t="t"/>
              <a:pathLst>
                <a:path extrusionOk="0" h="548640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99" l="0" r="0" t="-168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1"/>
            <p:cNvSpPr txBox="1"/>
            <p:nvPr/>
          </p:nvSpPr>
          <p:spPr>
            <a:xfrm>
              <a:off x="0" y="0"/>
              <a:ext cx="18836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</p:grpSp>
      <p:sp>
        <p:nvSpPr>
          <p:cNvPr id="706" name="Google Shape;706;p11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2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6" name="Google Shape;716;p12"/>
          <p:cNvGrpSpPr/>
          <p:nvPr/>
        </p:nvGrpSpPr>
        <p:grpSpPr>
          <a:xfrm>
            <a:off x="1865376" y="850392"/>
            <a:ext cx="8229600" cy="480060"/>
            <a:chOff x="0" y="0"/>
            <a:chExt cx="10972800" cy="640080"/>
          </a:xfrm>
        </p:grpSpPr>
        <p:sp>
          <p:nvSpPr>
            <p:cNvPr id="717" name="Google Shape;717;p12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2"/>
            <p:cNvSpPr txBox="1"/>
            <p:nvPr/>
          </p:nvSpPr>
          <p:spPr>
            <a:xfrm>
              <a:off x="0" y="0"/>
              <a:ext cx="10972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MODELO DE NEGOCIO</a:t>
              </a:r>
              <a:endParaRPr/>
            </a:p>
          </p:txBody>
        </p:sp>
      </p:grpSp>
      <p:sp>
        <p:nvSpPr>
          <p:cNvPr id="719" name="Google Shape;719;p12"/>
          <p:cNvSpPr txBox="1"/>
          <p:nvPr/>
        </p:nvSpPr>
        <p:spPr>
          <a:xfrm>
            <a:off x="1257300" y="1596202"/>
            <a:ext cx="1577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Freemium para captar; comisión para monetizar</a:t>
            </a:r>
            <a:endParaRPr/>
          </a:p>
        </p:txBody>
      </p:sp>
      <p:sp>
        <p:nvSpPr>
          <p:cNvPr id="720" name="Google Shape;720;p12"/>
          <p:cNvSpPr/>
          <p:nvPr/>
        </p:nvSpPr>
        <p:spPr>
          <a:xfrm>
            <a:off x="1224915" y="2665095"/>
            <a:ext cx="7727442" cy="2926842"/>
          </a:xfrm>
          <a:custGeom>
            <a:rect b="b" l="l" r="r" t="t"/>
            <a:pathLst>
              <a:path extrusionOk="0" h="3902456" w="10303256">
                <a:moveTo>
                  <a:pt x="0" y="273177"/>
                </a:moveTo>
                <a:cubicBezTo>
                  <a:pt x="0" y="122301"/>
                  <a:pt x="122301" y="0"/>
                  <a:pt x="273177" y="0"/>
                </a:cubicBezTo>
                <a:lnTo>
                  <a:pt x="10030079" y="0"/>
                </a:lnTo>
                <a:cubicBezTo>
                  <a:pt x="10180955" y="0"/>
                  <a:pt x="10303256" y="122301"/>
                  <a:pt x="10303256" y="273177"/>
                </a:cubicBezTo>
                <a:lnTo>
                  <a:pt x="10303256" y="3629279"/>
                </a:lnTo>
                <a:cubicBezTo>
                  <a:pt x="10303256" y="3780155"/>
                  <a:pt x="10180955" y="3902456"/>
                  <a:pt x="10030079" y="3902456"/>
                </a:cubicBezTo>
                <a:lnTo>
                  <a:pt x="273177" y="3902456"/>
                </a:lnTo>
                <a:cubicBezTo>
                  <a:pt x="122301" y="3902456"/>
                  <a:pt x="0" y="3780155"/>
                  <a:pt x="0" y="3629279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1" name="Google Shape;721;p12"/>
          <p:cNvGrpSpPr/>
          <p:nvPr/>
        </p:nvGrpSpPr>
        <p:grpSpPr>
          <a:xfrm>
            <a:off x="1673352" y="3086100"/>
            <a:ext cx="987552" cy="987552"/>
            <a:chOff x="0" y="0"/>
            <a:chExt cx="1316736" cy="1316736"/>
          </a:xfrm>
        </p:grpSpPr>
        <p:sp>
          <p:nvSpPr>
            <p:cNvPr id="722" name="Google Shape;722;p12"/>
            <p:cNvSpPr/>
            <p:nvPr/>
          </p:nvSpPr>
          <p:spPr>
            <a:xfrm>
              <a:off x="0" y="0"/>
              <a:ext cx="1316736" cy="1316736"/>
            </a:xfrm>
            <a:custGeom>
              <a:rect b="b" l="l" r="r" t="t"/>
              <a:pathLst>
                <a:path extrusionOk="0" h="1316736" w="1316736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1027049" y="0"/>
                  </a:lnTo>
                  <a:cubicBezTo>
                    <a:pt x="1187069" y="0"/>
                    <a:pt x="1316736" y="129667"/>
                    <a:pt x="1316736" y="289687"/>
                  </a:cubicBezTo>
                  <a:lnTo>
                    <a:pt x="1316736" y="1027049"/>
                  </a:lnTo>
                  <a:cubicBezTo>
                    <a:pt x="1316736" y="1187069"/>
                    <a:pt x="1187069" y="1316736"/>
                    <a:pt x="1027049" y="1316736"/>
                  </a:cubicBezTo>
                  <a:lnTo>
                    <a:pt x="289687" y="1316736"/>
                  </a:lnTo>
                  <a:cubicBezTo>
                    <a:pt x="129667" y="1316736"/>
                    <a:pt x="0" y="1187069"/>
                    <a:pt x="0" y="1027049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2"/>
            <p:cNvSpPr txBox="1"/>
            <p:nvPr/>
          </p:nvSpPr>
          <p:spPr>
            <a:xfrm>
              <a:off x="0" y="0"/>
              <a:ext cx="1316736" cy="1316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🆓</a:t>
              </a:r>
              <a:endParaRPr/>
            </a:p>
          </p:txBody>
        </p:sp>
      </p:grpSp>
      <p:grpSp>
        <p:nvGrpSpPr>
          <p:cNvPr id="724" name="Google Shape;724;p12"/>
          <p:cNvGrpSpPr/>
          <p:nvPr/>
        </p:nvGrpSpPr>
        <p:grpSpPr>
          <a:xfrm>
            <a:off x="2935224" y="3140964"/>
            <a:ext cx="5788152" cy="905256"/>
            <a:chOff x="0" y="0"/>
            <a:chExt cx="7717536" cy="1207008"/>
          </a:xfrm>
        </p:grpSpPr>
        <p:sp>
          <p:nvSpPr>
            <p:cNvPr id="725" name="Google Shape;725;p12"/>
            <p:cNvSpPr/>
            <p:nvPr/>
          </p:nvSpPr>
          <p:spPr>
            <a:xfrm>
              <a:off x="0" y="0"/>
              <a:ext cx="7717536" cy="1207008"/>
            </a:xfrm>
            <a:custGeom>
              <a:rect b="b" l="l" r="r" t="t"/>
              <a:pathLst>
                <a:path extrusionOk="0" h="1207008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589" l="0" r="0" t="-745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2"/>
            <p:cNvSpPr txBox="1"/>
            <p:nvPr/>
          </p:nvSpPr>
          <p:spPr>
            <a:xfrm>
              <a:off x="0" y="0"/>
              <a:ext cx="7717536" cy="12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Acceso freemium</a:t>
              </a:r>
              <a:endParaRPr/>
            </a:p>
          </p:txBody>
        </p:sp>
      </p:grpSp>
      <p:sp>
        <p:nvSpPr>
          <p:cNvPr id="727" name="Google Shape;727;p12"/>
          <p:cNvSpPr txBox="1"/>
          <p:nvPr/>
        </p:nvSpPr>
        <p:spPr>
          <a:xfrm>
            <a:off x="1700784" y="4246626"/>
            <a:ext cx="68031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</a:rPr>
              <a:t>Registro, búsqueda, solicitud, historial y calificación sin costo de membresía. Baja la barrera de entrada para captar usuarios.</a:t>
            </a:r>
            <a:endParaRPr sz="1800">
              <a:solidFill>
                <a:srgbClr val="627287"/>
              </a:solidFill>
            </a:endParaRPr>
          </a:p>
        </p:txBody>
      </p:sp>
      <p:sp>
        <p:nvSpPr>
          <p:cNvPr id="728" name="Google Shape;728;p12"/>
          <p:cNvSpPr/>
          <p:nvPr/>
        </p:nvSpPr>
        <p:spPr>
          <a:xfrm>
            <a:off x="9331071" y="2665095"/>
            <a:ext cx="7727442" cy="2926842"/>
          </a:xfrm>
          <a:custGeom>
            <a:rect b="b" l="l" r="r" t="t"/>
            <a:pathLst>
              <a:path extrusionOk="0" h="3902456" w="10303256">
                <a:moveTo>
                  <a:pt x="0" y="273177"/>
                </a:moveTo>
                <a:cubicBezTo>
                  <a:pt x="0" y="122301"/>
                  <a:pt x="122301" y="0"/>
                  <a:pt x="273177" y="0"/>
                </a:cubicBezTo>
                <a:lnTo>
                  <a:pt x="10030079" y="0"/>
                </a:lnTo>
                <a:cubicBezTo>
                  <a:pt x="10180955" y="0"/>
                  <a:pt x="10303256" y="122301"/>
                  <a:pt x="10303256" y="273177"/>
                </a:cubicBezTo>
                <a:lnTo>
                  <a:pt x="10303256" y="3629279"/>
                </a:lnTo>
                <a:cubicBezTo>
                  <a:pt x="10303256" y="3780155"/>
                  <a:pt x="10180955" y="3902456"/>
                  <a:pt x="10030079" y="3902456"/>
                </a:cubicBezTo>
                <a:lnTo>
                  <a:pt x="273177" y="3902456"/>
                </a:lnTo>
                <a:cubicBezTo>
                  <a:pt x="122301" y="3902456"/>
                  <a:pt x="0" y="3780155"/>
                  <a:pt x="0" y="3629279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9" name="Google Shape;729;p12"/>
          <p:cNvGrpSpPr/>
          <p:nvPr/>
        </p:nvGrpSpPr>
        <p:grpSpPr>
          <a:xfrm>
            <a:off x="9779508" y="3086100"/>
            <a:ext cx="987552" cy="987552"/>
            <a:chOff x="0" y="0"/>
            <a:chExt cx="1316736" cy="1316736"/>
          </a:xfrm>
        </p:grpSpPr>
        <p:sp>
          <p:nvSpPr>
            <p:cNvPr id="730" name="Google Shape;730;p12"/>
            <p:cNvSpPr/>
            <p:nvPr/>
          </p:nvSpPr>
          <p:spPr>
            <a:xfrm>
              <a:off x="0" y="0"/>
              <a:ext cx="1316736" cy="1316736"/>
            </a:xfrm>
            <a:custGeom>
              <a:rect b="b" l="l" r="r" t="t"/>
              <a:pathLst>
                <a:path extrusionOk="0" h="1316736" w="1316736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1027049" y="0"/>
                  </a:lnTo>
                  <a:cubicBezTo>
                    <a:pt x="1187069" y="0"/>
                    <a:pt x="1316736" y="129667"/>
                    <a:pt x="1316736" y="289687"/>
                  </a:cubicBezTo>
                  <a:lnTo>
                    <a:pt x="1316736" y="1027049"/>
                  </a:lnTo>
                  <a:cubicBezTo>
                    <a:pt x="1316736" y="1187069"/>
                    <a:pt x="1187069" y="1316736"/>
                    <a:pt x="1027049" y="1316736"/>
                  </a:cubicBezTo>
                  <a:lnTo>
                    <a:pt x="289687" y="1316736"/>
                  </a:lnTo>
                  <a:cubicBezTo>
                    <a:pt x="129667" y="1316736"/>
                    <a:pt x="0" y="1187069"/>
                    <a:pt x="0" y="1027049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12"/>
            <p:cNvSpPr txBox="1"/>
            <p:nvPr/>
          </p:nvSpPr>
          <p:spPr>
            <a:xfrm>
              <a:off x="0" y="0"/>
              <a:ext cx="1316736" cy="1316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💳</a:t>
              </a:r>
              <a:endParaRPr/>
            </a:p>
          </p:txBody>
        </p:sp>
      </p:grpSp>
      <p:grpSp>
        <p:nvGrpSpPr>
          <p:cNvPr id="732" name="Google Shape;732;p12"/>
          <p:cNvGrpSpPr/>
          <p:nvPr/>
        </p:nvGrpSpPr>
        <p:grpSpPr>
          <a:xfrm>
            <a:off x="11041380" y="3140964"/>
            <a:ext cx="5788152" cy="905256"/>
            <a:chOff x="0" y="0"/>
            <a:chExt cx="7717536" cy="1207008"/>
          </a:xfrm>
        </p:grpSpPr>
        <p:sp>
          <p:nvSpPr>
            <p:cNvPr id="733" name="Google Shape;733;p12"/>
            <p:cNvSpPr/>
            <p:nvPr/>
          </p:nvSpPr>
          <p:spPr>
            <a:xfrm>
              <a:off x="0" y="0"/>
              <a:ext cx="7717536" cy="1207008"/>
            </a:xfrm>
            <a:custGeom>
              <a:rect b="b" l="l" r="r" t="t"/>
              <a:pathLst>
                <a:path extrusionOk="0" h="1207008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589" l="0" r="0" t="-745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12"/>
            <p:cNvSpPr txBox="1"/>
            <p:nvPr/>
          </p:nvSpPr>
          <p:spPr>
            <a:xfrm>
              <a:off x="0" y="0"/>
              <a:ext cx="7717536" cy="12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Solo pago digital</a:t>
              </a:r>
              <a:endParaRPr/>
            </a:p>
          </p:txBody>
        </p:sp>
      </p:grpSp>
      <p:sp>
        <p:nvSpPr>
          <p:cNvPr id="735" name="Google Shape;735;p12"/>
          <p:cNvSpPr txBox="1"/>
          <p:nvPr/>
        </p:nvSpPr>
        <p:spPr>
          <a:xfrm>
            <a:off x="9806940" y="4246626"/>
            <a:ext cx="68031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</a:rPr>
              <a:t>Pago 100% digital vía Mercado Pago: el cliente paga al solicitar y el monto queda retenido (escrow) hasta que confirma el servicio. </a:t>
            </a:r>
            <a:endParaRPr/>
          </a:p>
        </p:txBody>
      </p:sp>
      <p:sp>
        <p:nvSpPr>
          <p:cNvPr id="736" name="Google Shape;736;p12"/>
          <p:cNvSpPr/>
          <p:nvPr/>
        </p:nvSpPr>
        <p:spPr>
          <a:xfrm>
            <a:off x="1224915" y="5929503"/>
            <a:ext cx="7727442" cy="2926842"/>
          </a:xfrm>
          <a:custGeom>
            <a:rect b="b" l="l" r="r" t="t"/>
            <a:pathLst>
              <a:path extrusionOk="0" h="3902456" w="10303256">
                <a:moveTo>
                  <a:pt x="0" y="273177"/>
                </a:moveTo>
                <a:cubicBezTo>
                  <a:pt x="0" y="122301"/>
                  <a:pt x="122301" y="0"/>
                  <a:pt x="273177" y="0"/>
                </a:cubicBezTo>
                <a:lnTo>
                  <a:pt x="10030079" y="0"/>
                </a:lnTo>
                <a:cubicBezTo>
                  <a:pt x="10180955" y="0"/>
                  <a:pt x="10303256" y="122301"/>
                  <a:pt x="10303256" y="273177"/>
                </a:cubicBezTo>
                <a:lnTo>
                  <a:pt x="10303256" y="3629279"/>
                </a:lnTo>
                <a:cubicBezTo>
                  <a:pt x="10303256" y="3780155"/>
                  <a:pt x="10180955" y="3902456"/>
                  <a:pt x="10030079" y="3902456"/>
                </a:cubicBezTo>
                <a:lnTo>
                  <a:pt x="273177" y="3902456"/>
                </a:lnTo>
                <a:cubicBezTo>
                  <a:pt x="122301" y="3902456"/>
                  <a:pt x="0" y="3780155"/>
                  <a:pt x="0" y="3629279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7" name="Google Shape;737;p12"/>
          <p:cNvGrpSpPr/>
          <p:nvPr/>
        </p:nvGrpSpPr>
        <p:grpSpPr>
          <a:xfrm>
            <a:off x="1673352" y="6350508"/>
            <a:ext cx="987552" cy="987552"/>
            <a:chOff x="0" y="0"/>
            <a:chExt cx="1316736" cy="1316736"/>
          </a:xfrm>
        </p:grpSpPr>
        <p:sp>
          <p:nvSpPr>
            <p:cNvPr id="738" name="Google Shape;738;p12"/>
            <p:cNvSpPr/>
            <p:nvPr/>
          </p:nvSpPr>
          <p:spPr>
            <a:xfrm>
              <a:off x="0" y="0"/>
              <a:ext cx="1316736" cy="1316736"/>
            </a:xfrm>
            <a:custGeom>
              <a:rect b="b" l="l" r="r" t="t"/>
              <a:pathLst>
                <a:path extrusionOk="0" h="1316736" w="1316736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1027049" y="0"/>
                  </a:lnTo>
                  <a:cubicBezTo>
                    <a:pt x="1187069" y="0"/>
                    <a:pt x="1316736" y="129667"/>
                    <a:pt x="1316736" y="289687"/>
                  </a:cubicBezTo>
                  <a:lnTo>
                    <a:pt x="1316736" y="1027049"/>
                  </a:lnTo>
                  <a:cubicBezTo>
                    <a:pt x="1316736" y="1187069"/>
                    <a:pt x="1187069" y="1316736"/>
                    <a:pt x="1027049" y="1316736"/>
                  </a:cubicBezTo>
                  <a:lnTo>
                    <a:pt x="289687" y="1316736"/>
                  </a:lnTo>
                  <a:cubicBezTo>
                    <a:pt x="129667" y="1316736"/>
                    <a:pt x="0" y="1187069"/>
                    <a:pt x="0" y="1027049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12"/>
            <p:cNvSpPr txBox="1"/>
            <p:nvPr/>
          </p:nvSpPr>
          <p:spPr>
            <a:xfrm>
              <a:off x="0" y="0"/>
              <a:ext cx="1316736" cy="1316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📈</a:t>
              </a:r>
              <a:endParaRPr/>
            </a:p>
          </p:txBody>
        </p:sp>
      </p:grpSp>
      <p:grpSp>
        <p:nvGrpSpPr>
          <p:cNvPr id="740" name="Google Shape;740;p12"/>
          <p:cNvGrpSpPr/>
          <p:nvPr/>
        </p:nvGrpSpPr>
        <p:grpSpPr>
          <a:xfrm>
            <a:off x="2935224" y="6405372"/>
            <a:ext cx="5788152" cy="905256"/>
            <a:chOff x="0" y="0"/>
            <a:chExt cx="7717536" cy="1207008"/>
          </a:xfrm>
        </p:grpSpPr>
        <p:sp>
          <p:nvSpPr>
            <p:cNvPr id="741" name="Google Shape;741;p12"/>
            <p:cNvSpPr/>
            <p:nvPr/>
          </p:nvSpPr>
          <p:spPr>
            <a:xfrm>
              <a:off x="0" y="0"/>
              <a:ext cx="7717536" cy="1207008"/>
            </a:xfrm>
            <a:custGeom>
              <a:rect b="b" l="l" r="r" t="t"/>
              <a:pathLst>
                <a:path extrusionOk="0" h="1207008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589" l="0" r="0" t="-745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12"/>
            <p:cNvSpPr txBox="1"/>
            <p:nvPr/>
          </p:nvSpPr>
          <p:spPr>
            <a:xfrm>
              <a:off x="0" y="0"/>
              <a:ext cx="7717536" cy="12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B66A11"/>
                  </a:solidFill>
                  <a:latin typeface="Arial"/>
                  <a:ea typeface="Arial"/>
                  <a:cs typeface="Arial"/>
                  <a:sym typeface="Arial"/>
                </a:rPr>
                <a:t>Ingreso principal</a:t>
              </a:r>
              <a:endParaRPr/>
            </a:p>
          </p:txBody>
        </p:sp>
      </p:grpSp>
      <p:sp>
        <p:nvSpPr>
          <p:cNvPr id="743" name="Google Shape;743;p12"/>
          <p:cNvSpPr txBox="1"/>
          <p:nvPr/>
        </p:nvSpPr>
        <p:spPr>
          <a:xfrm>
            <a:off x="1700784" y="7511034"/>
            <a:ext cx="68031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</a:rPr>
              <a:t>Comisión del 15% (take rate) sobre cada servicio, descontada al liberar el pago. Es la fuente principal de ingresos.</a:t>
            </a:r>
            <a:endParaRPr/>
          </a:p>
        </p:txBody>
      </p:sp>
      <p:sp>
        <p:nvSpPr>
          <p:cNvPr id="744" name="Google Shape;744;p12"/>
          <p:cNvSpPr/>
          <p:nvPr/>
        </p:nvSpPr>
        <p:spPr>
          <a:xfrm>
            <a:off x="9331071" y="5929503"/>
            <a:ext cx="7727442" cy="2926842"/>
          </a:xfrm>
          <a:custGeom>
            <a:rect b="b" l="l" r="r" t="t"/>
            <a:pathLst>
              <a:path extrusionOk="0" h="3902456" w="10303256">
                <a:moveTo>
                  <a:pt x="0" y="273177"/>
                </a:moveTo>
                <a:cubicBezTo>
                  <a:pt x="0" y="122301"/>
                  <a:pt x="122301" y="0"/>
                  <a:pt x="273177" y="0"/>
                </a:cubicBezTo>
                <a:lnTo>
                  <a:pt x="10030079" y="0"/>
                </a:lnTo>
                <a:cubicBezTo>
                  <a:pt x="10180955" y="0"/>
                  <a:pt x="10303256" y="122301"/>
                  <a:pt x="10303256" y="273177"/>
                </a:cubicBezTo>
                <a:lnTo>
                  <a:pt x="10303256" y="3629279"/>
                </a:lnTo>
                <a:cubicBezTo>
                  <a:pt x="10303256" y="3780155"/>
                  <a:pt x="10180955" y="3902456"/>
                  <a:pt x="10030079" y="3902456"/>
                </a:cubicBezTo>
                <a:lnTo>
                  <a:pt x="273177" y="3902456"/>
                </a:lnTo>
                <a:cubicBezTo>
                  <a:pt x="122301" y="3902456"/>
                  <a:pt x="0" y="3780155"/>
                  <a:pt x="0" y="3629279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5" name="Google Shape;745;p12"/>
          <p:cNvGrpSpPr/>
          <p:nvPr/>
        </p:nvGrpSpPr>
        <p:grpSpPr>
          <a:xfrm>
            <a:off x="9779508" y="6350508"/>
            <a:ext cx="987552" cy="987552"/>
            <a:chOff x="0" y="0"/>
            <a:chExt cx="1316736" cy="1316736"/>
          </a:xfrm>
        </p:grpSpPr>
        <p:sp>
          <p:nvSpPr>
            <p:cNvPr id="746" name="Google Shape;746;p12"/>
            <p:cNvSpPr/>
            <p:nvPr/>
          </p:nvSpPr>
          <p:spPr>
            <a:xfrm>
              <a:off x="0" y="0"/>
              <a:ext cx="1316736" cy="1316736"/>
            </a:xfrm>
            <a:custGeom>
              <a:rect b="b" l="l" r="r" t="t"/>
              <a:pathLst>
                <a:path extrusionOk="0" h="1316736" w="1316736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1027049" y="0"/>
                  </a:lnTo>
                  <a:cubicBezTo>
                    <a:pt x="1187069" y="0"/>
                    <a:pt x="1316736" y="129667"/>
                    <a:pt x="1316736" y="289687"/>
                  </a:cubicBezTo>
                  <a:lnTo>
                    <a:pt x="1316736" y="1027049"/>
                  </a:lnTo>
                  <a:cubicBezTo>
                    <a:pt x="1316736" y="1187069"/>
                    <a:pt x="1187069" y="1316736"/>
                    <a:pt x="1027049" y="1316736"/>
                  </a:cubicBezTo>
                  <a:lnTo>
                    <a:pt x="289687" y="1316736"/>
                  </a:lnTo>
                  <a:cubicBezTo>
                    <a:pt x="129667" y="1316736"/>
                    <a:pt x="0" y="1187069"/>
                    <a:pt x="0" y="1027049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2"/>
            <p:cNvSpPr txBox="1"/>
            <p:nvPr/>
          </p:nvSpPr>
          <p:spPr>
            <a:xfrm>
              <a:off x="0" y="0"/>
              <a:ext cx="1316736" cy="1316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⭐</a:t>
              </a:r>
              <a:endParaRPr/>
            </a:p>
          </p:txBody>
        </p:sp>
      </p:grpSp>
      <p:grpSp>
        <p:nvGrpSpPr>
          <p:cNvPr id="748" name="Google Shape;748;p12"/>
          <p:cNvGrpSpPr/>
          <p:nvPr/>
        </p:nvGrpSpPr>
        <p:grpSpPr>
          <a:xfrm>
            <a:off x="11041380" y="6405372"/>
            <a:ext cx="5788152" cy="905256"/>
            <a:chOff x="0" y="0"/>
            <a:chExt cx="7717536" cy="1207008"/>
          </a:xfrm>
        </p:grpSpPr>
        <p:sp>
          <p:nvSpPr>
            <p:cNvPr id="749" name="Google Shape;749;p12"/>
            <p:cNvSpPr/>
            <p:nvPr/>
          </p:nvSpPr>
          <p:spPr>
            <a:xfrm>
              <a:off x="0" y="0"/>
              <a:ext cx="7717536" cy="1207008"/>
            </a:xfrm>
            <a:custGeom>
              <a:rect b="b" l="l" r="r" t="t"/>
              <a:pathLst>
                <a:path extrusionOk="0" h="1207008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589" l="0" r="0" t="-745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12"/>
            <p:cNvSpPr txBox="1"/>
            <p:nvPr/>
          </p:nvSpPr>
          <p:spPr>
            <a:xfrm>
              <a:off x="0" y="0"/>
              <a:ext cx="7717536" cy="12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84545"/>
                  </a:solidFill>
                  <a:latin typeface="Arial"/>
                  <a:ea typeface="Arial"/>
                  <a:cs typeface="Arial"/>
                  <a:sym typeface="Arial"/>
                </a:rPr>
                <a:t>Capa premium</a:t>
              </a:r>
              <a:endParaRPr/>
            </a:p>
          </p:txBody>
        </p:sp>
      </p:grpSp>
      <p:sp>
        <p:nvSpPr>
          <p:cNvPr id="751" name="Google Shape;751;p12"/>
          <p:cNvSpPr txBox="1"/>
          <p:nvPr/>
        </p:nvSpPr>
        <p:spPr>
          <a:xfrm>
            <a:off x="9806940" y="7511034"/>
            <a:ext cx="68031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</a:rPr>
              <a:t>Suscripción opcional (Plan Splash / Splash Pro) con prioridad, beneficios y descuentos. Genera ingreso recurrente.</a:t>
            </a:r>
            <a:endParaRPr/>
          </a:p>
        </p:txBody>
      </p:sp>
      <p:grpSp>
        <p:nvGrpSpPr>
          <p:cNvPr id="752" name="Google Shape;752;p12"/>
          <p:cNvGrpSpPr/>
          <p:nvPr/>
        </p:nvGrpSpPr>
        <p:grpSpPr>
          <a:xfrm>
            <a:off x="1234440" y="9628632"/>
            <a:ext cx="10972800" cy="411480"/>
            <a:chOff x="0" y="0"/>
            <a:chExt cx="14630400" cy="548640"/>
          </a:xfrm>
        </p:grpSpPr>
        <p:sp>
          <p:nvSpPr>
            <p:cNvPr id="753" name="Google Shape;753;p12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12"/>
            <p:cNvSpPr txBox="1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Splash  ·  Capstone PTY4614  ·  Propuesta de proyecto</a:t>
              </a:r>
              <a:endParaRPr/>
            </a:p>
          </p:txBody>
        </p:sp>
      </p:grpSp>
      <p:grpSp>
        <p:nvGrpSpPr>
          <p:cNvPr id="755" name="Google Shape;755;p12"/>
          <p:cNvGrpSpPr/>
          <p:nvPr/>
        </p:nvGrpSpPr>
        <p:grpSpPr>
          <a:xfrm>
            <a:off x="15636240" y="9628632"/>
            <a:ext cx="1412748" cy="411480"/>
            <a:chOff x="0" y="0"/>
            <a:chExt cx="1883664" cy="548640"/>
          </a:xfrm>
        </p:grpSpPr>
        <p:sp>
          <p:nvSpPr>
            <p:cNvPr id="756" name="Google Shape;756;p12"/>
            <p:cNvSpPr/>
            <p:nvPr/>
          </p:nvSpPr>
          <p:spPr>
            <a:xfrm>
              <a:off x="0" y="0"/>
              <a:ext cx="1883664" cy="548640"/>
            </a:xfrm>
            <a:custGeom>
              <a:rect b="b" l="l" r="r" t="t"/>
              <a:pathLst>
                <a:path extrusionOk="0" h="548640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99" l="0" r="0" t="-168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12"/>
            <p:cNvSpPr txBox="1"/>
            <p:nvPr/>
          </p:nvSpPr>
          <p:spPr>
            <a:xfrm>
              <a:off x="0" y="0"/>
              <a:ext cx="18836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/>
            </a:p>
          </p:txBody>
        </p:sp>
      </p:grpSp>
      <p:sp>
        <p:nvSpPr>
          <p:cNvPr id="758" name="Google Shape;758;p12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3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8" name="Google Shape;768;p13"/>
          <p:cNvGrpSpPr/>
          <p:nvPr/>
        </p:nvGrpSpPr>
        <p:grpSpPr>
          <a:xfrm>
            <a:off x="1865376" y="850392"/>
            <a:ext cx="8229600" cy="480060"/>
            <a:chOff x="0" y="0"/>
            <a:chExt cx="10972800" cy="640080"/>
          </a:xfrm>
        </p:grpSpPr>
        <p:sp>
          <p:nvSpPr>
            <p:cNvPr id="769" name="Google Shape;769;p13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13"/>
            <p:cNvSpPr txBox="1"/>
            <p:nvPr/>
          </p:nvSpPr>
          <p:spPr>
            <a:xfrm>
              <a:off x="0" y="0"/>
              <a:ext cx="10972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EVOLUCIÓN DEL MODELO DE NEGOCIO</a:t>
              </a:r>
              <a:endParaRPr/>
            </a:p>
          </p:txBody>
        </p:sp>
      </p:grpSp>
      <p:sp>
        <p:nvSpPr>
          <p:cNvPr id="771" name="Google Shape;771;p13"/>
          <p:cNvSpPr txBox="1"/>
          <p:nvPr/>
        </p:nvSpPr>
        <p:spPr>
          <a:xfrm>
            <a:off x="1234440" y="1389507"/>
            <a:ext cx="15773400" cy="1243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El modelo suma ingresos después de validar</a:t>
            </a:r>
            <a:endParaRPr/>
          </a:p>
        </p:txBody>
      </p:sp>
      <p:sp>
        <p:nvSpPr>
          <p:cNvPr id="772" name="Google Shape;772;p13"/>
          <p:cNvSpPr/>
          <p:nvPr/>
        </p:nvSpPr>
        <p:spPr>
          <a:xfrm>
            <a:off x="1234440" y="2674620"/>
            <a:ext cx="15814549" cy="1536192"/>
          </a:xfrm>
          <a:custGeom>
            <a:rect b="b" l="l" r="r" t="t"/>
            <a:pathLst>
              <a:path extrusionOk="0" h="2048256" w="21086065">
                <a:moveTo>
                  <a:pt x="0" y="143383"/>
                </a:moveTo>
                <a:cubicBezTo>
                  <a:pt x="0" y="64135"/>
                  <a:pt x="64135" y="0"/>
                  <a:pt x="143383" y="0"/>
                </a:cubicBezTo>
                <a:lnTo>
                  <a:pt x="20942681" y="0"/>
                </a:lnTo>
                <a:cubicBezTo>
                  <a:pt x="21021929" y="0"/>
                  <a:pt x="21086065" y="64135"/>
                  <a:pt x="21086065" y="143383"/>
                </a:cubicBezTo>
                <a:lnTo>
                  <a:pt x="21086065" y="1904873"/>
                </a:lnTo>
                <a:cubicBezTo>
                  <a:pt x="21086065" y="1984121"/>
                  <a:pt x="21021929" y="2048256"/>
                  <a:pt x="20942681" y="2048256"/>
                </a:cubicBezTo>
                <a:lnTo>
                  <a:pt x="143383" y="2048256"/>
                </a:lnTo>
                <a:cubicBezTo>
                  <a:pt x="64135" y="2048256"/>
                  <a:pt x="0" y="1984121"/>
                  <a:pt x="0" y="1904873"/>
                </a:cubicBezTo>
                <a:close/>
              </a:path>
            </a:pathLst>
          </a:custGeom>
          <a:solidFill>
            <a:srgbClr val="EAF2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3"/>
          <p:cNvSpPr/>
          <p:nvPr/>
        </p:nvSpPr>
        <p:spPr>
          <a:xfrm>
            <a:off x="1234440" y="2674620"/>
            <a:ext cx="219456" cy="1536192"/>
          </a:xfrm>
          <a:custGeom>
            <a:rect b="b" l="l" r="r" t="t"/>
            <a:pathLst>
              <a:path extrusionOk="0" h="2048256" w="292608">
                <a:moveTo>
                  <a:pt x="0" y="0"/>
                </a:moveTo>
                <a:lnTo>
                  <a:pt x="292608" y="0"/>
                </a:lnTo>
                <a:lnTo>
                  <a:pt x="292608" y="2048256"/>
                </a:lnTo>
                <a:lnTo>
                  <a:pt x="0" y="2048256"/>
                </a:lnTo>
                <a:close/>
              </a:path>
            </a:pathLst>
          </a:custGeom>
          <a:solidFill>
            <a:srgbClr val="0A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4" name="Google Shape;774;p13"/>
          <p:cNvGrpSpPr/>
          <p:nvPr/>
        </p:nvGrpSpPr>
        <p:grpSpPr>
          <a:xfrm>
            <a:off x="1714500" y="2674620"/>
            <a:ext cx="3703320" cy="1536192"/>
            <a:chOff x="0" y="0"/>
            <a:chExt cx="4937760" cy="2048256"/>
          </a:xfrm>
        </p:grpSpPr>
        <p:sp>
          <p:nvSpPr>
            <p:cNvPr id="775" name="Google Shape;775;p13"/>
            <p:cNvSpPr/>
            <p:nvPr/>
          </p:nvSpPr>
          <p:spPr>
            <a:xfrm>
              <a:off x="0" y="0"/>
              <a:ext cx="4937760" cy="2048256"/>
            </a:xfrm>
            <a:custGeom>
              <a:rect b="b" l="l" r="r" t="t"/>
              <a:pathLst>
                <a:path extrusionOk="0" h="204825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222" r="-322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13"/>
            <p:cNvSpPr txBox="1"/>
            <p:nvPr/>
          </p:nvSpPr>
          <p:spPr>
            <a:xfrm>
              <a:off x="0" y="0"/>
              <a:ext cx="4937760" cy="2048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0A2A4A"/>
                  </a:solidFill>
                  <a:latin typeface="Arial"/>
                  <a:ea typeface="Arial"/>
                  <a:cs typeface="Arial"/>
                  <a:sym typeface="Arial"/>
                </a:rPr>
                <a:t>Núcleo</a:t>
              </a:r>
              <a:endParaRPr/>
            </a:p>
          </p:txBody>
        </p:sp>
      </p:grpSp>
      <p:grpSp>
        <p:nvGrpSpPr>
          <p:cNvPr id="777" name="Google Shape;777;p13"/>
          <p:cNvGrpSpPr/>
          <p:nvPr/>
        </p:nvGrpSpPr>
        <p:grpSpPr>
          <a:xfrm>
            <a:off x="5545455" y="3104007"/>
            <a:ext cx="3570160" cy="677418"/>
            <a:chOff x="0" y="0"/>
            <a:chExt cx="4760214" cy="903224"/>
          </a:xfrm>
        </p:grpSpPr>
        <p:sp>
          <p:nvSpPr>
            <p:cNvPr id="778" name="Google Shape;778;p13"/>
            <p:cNvSpPr/>
            <p:nvPr/>
          </p:nvSpPr>
          <p:spPr>
            <a:xfrm>
              <a:off x="0" y="0"/>
              <a:ext cx="4760214" cy="903224"/>
            </a:xfrm>
            <a:custGeom>
              <a:rect b="b" l="l" r="r" t="t"/>
              <a:pathLst>
                <a:path extrusionOk="0" h="903224" w="4760214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398899" y="0"/>
                  </a:lnTo>
                  <a:cubicBezTo>
                    <a:pt x="4598416" y="0"/>
                    <a:pt x="4760214" y="161798"/>
                    <a:pt x="4760214" y="361315"/>
                  </a:cubicBezTo>
                  <a:lnTo>
                    <a:pt x="4760214" y="541909"/>
                  </a:lnTo>
                  <a:cubicBezTo>
                    <a:pt x="4760214" y="741426"/>
                    <a:pt x="4598416" y="903224"/>
                    <a:pt x="4398899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3"/>
            <p:cNvSpPr txBox="1"/>
            <p:nvPr/>
          </p:nvSpPr>
          <p:spPr>
            <a:xfrm>
              <a:off x="0" y="0"/>
              <a:ext cx="4760163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Comisión por transacción</a:t>
              </a:r>
              <a:endParaRPr/>
            </a:p>
          </p:txBody>
        </p:sp>
      </p:grpSp>
      <p:grpSp>
        <p:nvGrpSpPr>
          <p:cNvPr id="780" name="Google Shape;780;p13"/>
          <p:cNvGrpSpPr/>
          <p:nvPr/>
        </p:nvGrpSpPr>
        <p:grpSpPr>
          <a:xfrm>
            <a:off x="9261119" y="3104007"/>
            <a:ext cx="3570160" cy="677418"/>
            <a:chOff x="0" y="0"/>
            <a:chExt cx="4760214" cy="903224"/>
          </a:xfrm>
        </p:grpSpPr>
        <p:sp>
          <p:nvSpPr>
            <p:cNvPr id="781" name="Google Shape;781;p13"/>
            <p:cNvSpPr/>
            <p:nvPr/>
          </p:nvSpPr>
          <p:spPr>
            <a:xfrm>
              <a:off x="0" y="0"/>
              <a:ext cx="4760214" cy="903224"/>
            </a:xfrm>
            <a:custGeom>
              <a:rect b="b" l="l" r="r" t="t"/>
              <a:pathLst>
                <a:path extrusionOk="0" h="903224" w="4760214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398899" y="0"/>
                  </a:lnTo>
                  <a:cubicBezTo>
                    <a:pt x="4598416" y="0"/>
                    <a:pt x="4760214" y="161798"/>
                    <a:pt x="4760214" y="361315"/>
                  </a:cubicBezTo>
                  <a:lnTo>
                    <a:pt x="4760214" y="541909"/>
                  </a:lnTo>
                  <a:cubicBezTo>
                    <a:pt x="4760214" y="741426"/>
                    <a:pt x="4598416" y="903224"/>
                    <a:pt x="4398899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3"/>
            <p:cNvSpPr txBox="1"/>
            <p:nvPr/>
          </p:nvSpPr>
          <p:spPr>
            <a:xfrm>
              <a:off x="0" y="0"/>
              <a:ext cx="4760163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Pago digital y escrow</a:t>
              </a:r>
              <a:endParaRPr/>
            </a:p>
          </p:txBody>
        </p:sp>
      </p:grpSp>
      <p:grpSp>
        <p:nvGrpSpPr>
          <p:cNvPr id="783" name="Google Shape;783;p13"/>
          <p:cNvGrpSpPr/>
          <p:nvPr/>
        </p:nvGrpSpPr>
        <p:grpSpPr>
          <a:xfrm>
            <a:off x="12976784" y="3104007"/>
            <a:ext cx="2669000" cy="677418"/>
            <a:chOff x="0" y="0"/>
            <a:chExt cx="3558667" cy="903224"/>
          </a:xfrm>
        </p:grpSpPr>
        <p:sp>
          <p:nvSpPr>
            <p:cNvPr id="784" name="Google Shape;784;p13"/>
            <p:cNvSpPr/>
            <p:nvPr/>
          </p:nvSpPr>
          <p:spPr>
            <a:xfrm>
              <a:off x="0" y="0"/>
              <a:ext cx="3558667" cy="903224"/>
            </a:xfrm>
            <a:custGeom>
              <a:rect b="b" l="l" r="r" t="t"/>
              <a:pathLst>
                <a:path extrusionOk="0" h="903224" w="3558667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3197352" y="0"/>
                  </a:lnTo>
                  <a:cubicBezTo>
                    <a:pt x="3396869" y="0"/>
                    <a:pt x="3558667" y="161798"/>
                    <a:pt x="3558667" y="361315"/>
                  </a:cubicBezTo>
                  <a:lnTo>
                    <a:pt x="3558667" y="541909"/>
                  </a:lnTo>
                  <a:cubicBezTo>
                    <a:pt x="3558667" y="741426"/>
                    <a:pt x="3396869" y="903224"/>
                    <a:pt x="3197352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13"/>
            <p:cNvSpPr txBox="1"/>
            <p:nvPr/>
          </p:nvSpPr>
          <p:spPr>
            <a:xfrm>
              <a:off x="0" y="0"/>
              <a:ext cx="3558642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Sin efectivo</a:t>
              </a:r>
              <a:endParaRPr/>
            </a:p>
          </p:txBody>
        </p:sp>
      </p:grpSp>
      <p:sp>
        <p:nvSpPr>
          <p:cNvPr id="786" name="Google Shape;786;p13"/>
          <p:cNvSpPr/>
          <p:nvPr/>
        </p:nvSpPr>
        <p:spPr>
          <a:xfrm>
            <a:off x="8922258" y="4183380"/>
            <a:ext cx="466344" cy="219456"/>
          </a:xfrm>
          <a:custGeom>
            <a:rect b="b" l="l" r="r" t="t"/>
            <a:pathLst>
              <a:path extrusionOk="0" h="292608" w="621792">
                <a:moveTo>
                  <a:pt x="0" y="131699"/>
                </a:moveTo>
                <a:lnTo>
                  <a:pt x="139954" y="131699"/>
                </a:lnTo>
                <a:lnTo>
                  <a:pt x="139954" y="0"/>
                </a:lnTo>
                <a:lnTo>
                  <a:pt x="481838" y="0"/>
                </a:lnTo>
                <a:lnTo>
                  <a:pt x="481838" y="131699"/>
                </a:lnTo>
                <a:lnTo>
                  <a:pt x="621792" y="131699"/>
                </a:lnTo>
                <a:lnTo>
                  <a:pt x="310896" y="292608"/>
                </a:lnTo>
                <a:close/>
              </a:path>
            </a:pathLst>
          </a:custGeom>
          <a:solidFill>
            <a:srgbClr val="6272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3"/>
          <p:cNvSpPr/>
          <p:nvPr/>
        </p:nvSpPr>
        <p:spPr>
          <a:xfrm>
            <a:off x="1234440" y="4402836"/>
            <a:ext cx="15814549" cy="1536192"/>
          </a:xfrm>
          <a:custGeom>
            <a:rect b="b" l="l" r="r" t="t"/>
            <a:pathLst>
              <a:path extrusionOk="0" h="2048256" w="21086065">
                <a:moveTo>
                  <a:pt x="0" y="143383"/>
                </a:moveTo>
                <a:cubicBezTo>
                  <a:pt x="0" y="64135"/>
                  <a:pt x="64135" y="0"/>
                  <a:pt x="143383" y="0"/>
                </a:cubicBezTo>
                <a:lnTo>
                  <a:pt x="20942681" y="0"/>
                </a:lnTo>
                <a:cubicBezTo>
                  <a:pt x="21021929" y="0"/>
                  <a:pt x="21086065" y="64135"/>
                  <a:pt x="21086065" y="143383"/>
                </a:cubicBezTo>
                <a:lnTo>
                  <a:pt x="21086065" y="1904873"/>
                </a:lnTo>
                <a:cubicBezTo>
                  <a:pt x="21086065" y="1984121"/>
                  <a:pt x="21021929" y="2048256"/>
                  <a:pt x="20942681" y="2048256"/>
                </a:cubicBezTo>
                <a:lnTo>
                  <a:pt x="143383" y="2048256"/>
                </a:lnTo>
                <a:cubicBezTo>
                  <a:pt x="64135" y="2048256"/>
                  <a:pt x="0" y="1984121"/>
                  <a:pt x="0" y="1904873"/>
                </a:cubicBezTo>
                <a:close/>
              </a:path>
            </a:pathLst>
          </a:custGeom>
          <a:solidFill>
            <a:srgbClr val="E8F5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3"/>
          <p:cNvSpPr/>
          <p:nvPr/>
        </p:nvSpPr>
        <p:spPr>
          <a:xfrm>
            <a:off x="1234440" y="4402836"/>
            <a:ext cx="219456" cy="1536192"/>
          </a:xfrm>
          <a:custGeom>
            <a:rect b="b" l="l" r="r" t="t"/>
            <a:pathLst>
              <a:path extrusionOk="0" h="2048256" w="292608">
                <a:moveTo>
                  <a:pt x="0" y="0"/>
                </a:moveTo>
                <a:lnTo>
                  <a:pt x="292608" y="0"/>
                </a:lnTo>
                <a:lnTo>
                  <a:pt x="292608" y="2048256"/>
                </a:lnTo>
                <a:lnTo>
                  <a:pt x="0" y="2048256"/>
                </a:lnTo>
                <a:close/>
              </a:path>
            </a:pathLst>
          </a:custGeom>
          <a:solidFill>
            <a:srgbClr val="1687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9" name="Google Shape;789;p13"/>
          <p:cNvGrpSpPr/>
          <p:nvPr/>
        </p:nvGrpSpPr>
        <p:grpSpPr>
          <a:xfrm>
            <a:off x="1714500" y="4402836"/>
            <a:ext cx="3703320" cy="1536192"/>
            <a:chOff x="0" y="0"/>
            <a:chExt cx="4937760" cy="2048256"/>
          </a:xfrm>
        </p:grpSpPr>
        <p:sp>
          <p:nvSpPr>
            <p:cNvPr id="790" name="Google Shape;790;p13"/>
            <p:cNvSpPr/>
            <p:nvPr/>
          </p:nvSpPr>
          <p:spPr>
            <a:xfrm>
              <a:off x="0" y="0"/>
              <a:ext cx="4937760" cy="2048256"/>
            </a:xfrm>
            <a:custGeom>
              <a:rect b="b" l="l" r="r" t="t"/>
              <a:pathLst>
                <a:path extrusionOk="0" h="204825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222" r="-322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3"/>
            <p:cNvSpPr txBox="1"/>
            <p:nvPr/>
          </p:nvSpPr>
          <p:spPr>
            <a:xfrm>
              <a:off x="0" y="0"/>
              <a:ext cx="4937760" cy="2048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Recurrencia</a:t>
              </a:r>
              <a:endParaRPr/>
            </a:p>
          </p:txBody>
        </p:sp>
      </p:grpSp>
      <p:grpSp>
        <p:nvGrpSpPr>
          <p:cNvPr id="792" name="Google Shape;792;p13"/>
          <p:cNvGrpSpPr/>
          <p:nvPr/>
        </p:nvGrpSpPr>
        <p:grpSpPr>
          <a:xfrm>
            <a:off x="5545455" y="4832223"/>
            <a:ext cx="3470053" cy="677418"/>
            <a:chOff x="0" y="0"/>
            <a:chExt cx="4626737" cy="903224"/>
          </a:xfrm>
        </p:grpSpPr>
        <p:sp>
          <p:nvSpPr>
            <p:cNvPr id="793" name="Google Shape;793;p13"/>
            <p:cNvSpPr/>
            <p:nvPr/>
          </p:nvSpPr>
          <p:spPr>
            <a:xfrm>
              <a:off x="0" y="0"/>
              <a:ext cx="4626737" cy="903224"/>
            </a:xfrm>
            <a:custGeom>
              <a:rect b="b" l="l" r="r" t="t"/>
              <a:pathLst>
                <a:path extrusionOk="0" h="903224" w="4626737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265422" y="0"/>
                  </a:lnTo>
                  <a:cubicBezTo>
                    <a:pt x="4464939" y="0"/>
                    <a:pt x="4626737" y="161798"/>
                    <a:pt x="4626737" y="361315"/>
                  </a:cubicBezTo>
                  <a:lnTo>
                    <a:pt x="4626737" y="541909"/>
                  </a:lnTo>
                  <a:cubicBezTo>
                    <a:pt x="4626737" y="741426"/>
                    <a:pt x="4464939" y="903224"/>
                    <a:pt x="4265422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13"/>
            <p:cNvSpPr txBox="1"/>
            <p:nvPr/>
          </p:nvSpPr>
          <p:spPr>
            <a:xfrm>
              <a:off x="0" y="0"/>
              <a:ext cx="4626661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Plan premium</a:t>
              </a:r>
              <a:endParaRPr/>
            </a:p>
          </p:txBody>
        </p:sp>
      </p:grpSp>
      <p:grpSp>
        <p:nvGrpSpPr>
          <p:cNvPr id="795" name="Google Shape;795;p13"/>
          <p:cNvGrpSpPr/>
          <p:nvPr/>
        </p:nvGrpSpPr>
        <p:grpSpPr>
          <a:xfrm>
            <a:off x="9160993" y="4832223"/>
            <a:ext cx="2568892" cy="677418"/>
            <a:chOff x="0" y="0"/>
            <a:chExt cx="3425190" cy="903224"/>
          </a:xfrm>
        </p:grpSpPr>
        <p:sp>
          <p:nvSpPr>
            <p:cNvPr id="796" name="Google Shape;796;p13"/>
            <p:cNvSpPr/>
            <p:nvPr/>
          </p:nvSpPr>
          <p:spPr>
            <a:xfrm>
              <a:off x="0" y="0"/>
              <a:ext cx="3425190" cy="903224"/>
            </a:xfrm>
            <a:custGeom>
              <a:rect b="b" l="l" r="r" t="t"/>
              <a:pathLst>
                <a:path extrusionOk="0" h="903224" w="3425190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3063875" y="0"/>
                  </a:lnTo>
                  <a:cubicBezTo>
                    <a:pt x="3263392" y="0"/>
                    <a:pt x="3425190" y="161798"/>
                    <a:pt x="3425190" y="361315"/>
                  </a:cubicBezTo>
                  <a:lnTo>
                    <a:pt x="3425190" y="541909"/>
                  </a:lnTo>
                  <a:cubicBezTo>
                    <a:pt x="3425190" y="741426"/>
                    <a:pt x="3263392" y="903224"/>
                    <a:pt x="3063875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13"/>
            <p:cNvSpPr txBox="1"/>
            <p:nvPr/>
          </p:nvSpPr>
          <p:spPr>
            <a:xfrm>
              <a:off x="0" y="0"/>
              <a:ext cx="3425139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Servicios programados</a:t>
              </a:r>
              <a:endParaRPr/>
            </a:p>
          </p:txBody>
        </p:sp>
      </p:grpSp>
      <p:grpSp>
        <p:nvGrpSpPr>
          <p:cNvPr id="798" name="Google Shape;798;p13"/>
          <p:cNvGrpSpPr/>
          <p:nvPr/>
        </p:nvGrpSpPr>
        <p:grpSpPr>
          <a:xfrm>
            <a:off x="11875389" y="4832223"/>
            <a:ext cx="3722370" cy="677418"/>
            <a:chOff x="0" y="0"/>
            <a:chExt cx="4963160" cy="903224"/>
          </a:xfrm>
        </p:grpSpPr>
        <p:sp>
          <p:nvSpPr>
            <p:cNvPr id="799" name="Google Shape;799;p13"/>
            <p:cNvSpPr/>
            <p:nvPr/>
          </p:nvSpPr>
          <p:spPr>
            <a:xfrm>
              <a:off x="0" y="0"/>
              <a:ext cx="4963160" cy="903224"/>
            </a:xfrm>
            <a:custGeom>
              <a:rect b="b" l="l" r="r" t="t"/>
              <a:pathLst>
                <a:path extrusionOk="0" h="903224" w="4963160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601845" y="0"/>
                  </a:lnTo>
                  <a:cubicBezTo>
                    <a:pt x="4801362" y="0"/>
                    <a:pt x="4963160" y="161798"/>
                    <a:pt x="4963160" y="361315"/>
                  </a:cubicBezTo>
                  <a:lnTo>
                    <a:pt x="4963160" y="541909"/>
                  </a:lnTo>
                  <a:cubicBezTo>
                    <a:pt x="4963160" y="741426"/>
                    <a:pt x="4801362" y="903224"/>
                    <a:pt x="4601845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13"/>
            <p:cNvSpPr txBox="1"/>
            <p:nvPr/>
          </p:nvSpPr>
          <p:spPr>
            <a:xfrm>
              <a:off x="0" y="0"/>
              <a:ext cx="4963160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Beneficios y descuentos</a:t>
              </a:r>
              <a:endParaRPr/>
            </a:p>
          </p:txBody>
        </p:sp>
      </p:grpSp>
      <p:sp>
        <p:nvSpPr>
          <p:cNvPr id="801" name="Google Shape;801;p13"/>
          <p:cNvSpPr/>
          <p:nvPr/>
        </p:nvSpPr>
        <p:spPr>
          <a:xfrm>
            <a:off x="8922258" y="5911596"/>
            <a:ext cx="466344" cy="219456"/>
          </a:xfrm>
          <a:custGeom>
            <a:rect b="b" l="l" r="r" t="t"/>
            <a:pathLst>
              <a:path extrusionOk="0" h="292608" w="621792">
                <a:moveTo>
                  <a:pt x="0" y="131699"/>
                </a:moveTo>
                <a:lnTo>
                  <a:pt x="139954" y="131699"/>
                </a:lnTo>
                <a:lnTo>
                  <a:pt x="139954" y="0"/>
                </a:lnTo>
                <a:lnTo>
                  <a:pt x="481838" y="0"/>
                </a:lnTo>
                <a:lnTo>
                  <a:pt x="481838" y="131699"/>
                </a:lnTo>
                <a:lnTo>
                  <a:pt x="621792" y="131699"/>
                </a:lnTo>
                <a:lnTo>
                  <a:pt x="310896" y="292608"/>
                </a:lnTo>
                <a:close/>
              </a:path>
            </a:pathLst>
          </a:custGeom>
          <a:solidFill>
            <a:srgbClr val="6272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3"/>
          <p:cNvSpPr/>
          <p:nvPr/>
        </p:nvSpPr>
        <p:spPr>
          <a:xfrm>
            <a:off x="1234440" y="6131052"/>
            <a:ext cx="15814549" cy="1536192"/>
          </a:xfrm>
          <a:custGeom>
            <a:rect b="b" l="l" r="r" t="t"/>
            <a:pathLst>
              <a:path extrusionOk="0" h="2048256" w="21086065">
                <a:moveTo>
                  <a:pt x="0" y="143383"/>
                </a:moveTo>
                <a:cubicBezTo>
                  <a:pt x="0" y="64135"/>
                  <a:pt x="64135" y="0"/>
                  <a:pt x="143383" y="0"/>
                </a:cubicBezTo>
                <a:lnTo>
                  <a:pt x="20942681" y="0"/>
                </a:lnTo>
                <a:cubicBezTo>
                  <a:pt x="21021929" y="0"/>
                  <a:pt x="21086065" y="64135"/>
                  <a:pt x="21086065" y="143383"/>
                </a:cubicBezTo>
                <a:lnTo>
                  <a:pt x="21086065" y="1904873"/>
                </a:lnTo>
                <a:cubicBezTo>
                  <a:pt x="21086065" y="1984121"/>
                  <a:pt x="21021929" y="2048256"/>
                  <a:pt x="20942681" y="2048256"/>
                </a:cubicBezTo>
                <a:lnTo>
                  <a:pt x="143383" y="2048256"/>
                </a:lnTo>
                <a:cubicBezTo>
                  <a:pt x="64135" y="2048256"/>
                  <a:pt x="0" y="1984121"/>
                  <a:pt x="0" y="1904873"/>
                </a:cubicBezTo>
                <a:close/>
              </a:path>
            </a:pathLst>
          </a:custGeom>
          <a:solidFill>
            <a:srgbClr val="FBF2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3"/>
          <p:cNvSpPr/>
          <p:nvPr/>
        </p:nvSpPr>
        <p:spPr>
          <a:xfrm>
            <a:off x="1234440" y="6131052"/>
            <a:ext cx="219456" cy="1536192"/>
          </a:xfrm>
          <a:custGeom>
            <a:rect b="b" l="l" r="r" t="t"/>
            <a:pathLst>
              <a:path extrusionOk="0" h="2048256" w="292608">
                <a:moveTo>
                  <a:pt x="0" y="0"/>
                </a:moveTo>
                <a:lnTo>
                  <a:pt x="292608" y="0"/>
                </a:lnTo>
                <a:lnTo>
                  <a:pt x="292608" y="2048256"/>
                </a:lnTo>
                <a:lnTo>
                  <a:pt x="0" y="2048256"/>
                </a:lnTo>
                <a:close/>
              </a:path>
            </a:pathLst>
          </a:custGeom>
          <a:solidFill>
            <a:srgbClr val="B66A1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4" name="Google Shape;804;p13"/>
          <p:cNvGrpSpPr/>
          <p:nvPr/>
        </p:nvGrpSpPr>
        <p:grpSpPr>
          <a:xfrm>
            <a:off x="1714500" y="6131052"/>
            <a:ext cx="3703320" cy="1536192"/>
            <a:chOff x="0" y="0"/>
            <a:chExt cx="4937760" cy="2048256"/>
          </a:xfrm>
        </p:grpSpPr>
        <p:sp>
          <p:nvSpPr>
            <p:cNvPr id="805" name="Google Shape;805;p13"/>
            <p:cNvSpPr/>
            <p:nvPr/>
          </p:nvSpPr>
          <p:spPr>
            <a:xfrm>
              <a:off x="0" y="0"/>
              <a:ext cx="4937760" cy="2048256"/>
            </a:xfrm>
            <a:custGeom>
              <a:rect b="b" l="l" r="r" t="t"/>
              <a:pathLst>
                <a:path extrusionOk="0" h="204825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222" r="-322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3"/>
            <p:cNvSpPr txBox="1"/>
            <p:nvPr/>
          </p:nvSpPr>
          <p:spPr>
            <a:xfrm>
              <a:off x="0" y="0"/>
              <a:ext cx="4937760" cy="2048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B66A11"/>
                  </a:solidFill>
                  <a:latin typeface="Arial"/>
                  <a:ea typeface="Arial"/>
                  <a:cs typeface="Arial"/>
                  <a:sym typeface="Arial"/>
                </a:rPr>
                <a:t>Expansión</a:t>
              </a:r>
              <a:endParaRPr/>
            </a:p>
          </p:txBody>
        </p:sp>
      </p:grpSp>
      <p:grpSp>
        <p:nvGrpSpPr>
          <p:cNvPr id="807" name="Google Shape;807;p13"/>
          <p:cNvGrpSpPr/>
          <p:nvPr/>
        </p:nvGrpSpPr>
        <p:grpSpPr>
          <a:xfrm>
            <a:off x="5545455" y="6560439"/>
            <a:ext cx="1467517" cy="677418"/>
            <a:chOff x="0" y="0"/>
            <a:chExt cx="1956689" cy="903224"/>
          </a:xfrm>
        </p:grpSpPr>
        <p:sp>
          <p:nvSpPr>
            <p:cNvPr id="808" name="Google Shape;808;p13"/>
            <p:cNvSpPr/>
            <p:nvPr/>
          </p:nvSpPr>
          <p:spPr>
            <a:xfrm>
              <a:off x="0" y="0"/>
              <a:ext cx="1956689" cy="903224"/>
            </a:xfrm>
            <a:custGeom>
              <a:rect b="b" l="l" r="r" t="t"/>
              <a:pathLst>
                <a:path extrusionOk="0" h="903224" w="1956689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1595374" y="0"/>
                  </a:lnTo>
                  <a:cubicBezTo>
                    <a:pt x="1794891" y="0"/>
                    <a:pt x="1956689" y="161798"/>
                    <a:pt x="1956689" y="361315"/>
                  </a:cubicBezTo>
                  <a:lnTo>
                    <a:pt x="1956689" y="541909"/>
                  </a:lnTo>
                  <a:cubicBezTo>
                    <a:pt x="1956689" y="741426"/>
                    <a:pt x="1794891" y="903224"/>
                    <a:pt x="1595374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13"/>
            <p:cNvSpPr txBox="1"/>
            <p:nvPr/>
          </p:nvSpPr>
          <p:spPr>
            <a:xfrm>
              <a:off x="0" y="0"/>
              <a:ext cx="1956613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Nuevas categorías</a:t>
              </a:r>
              <a:endParaRPr/>
            </a:p>
          </p:txBody>
        </p:sp>
      </p:grpSp>
      <p:grpSp>
        <p:nvGrpSpPr>
          <p:cNvPr id="810" name="Google Shape;810;p13"/>
          <p:cNvGrpSpPr/>
          <p:nvPr/>
        </p:nvGrpSpPr>
        <p:grpSpPr>
          <a:xfrm>
            <a:off x="7158457" y="6560439"/>
            <a:ext cx="2969419" cy="677418"/>
            <a:chOff x="0" y="0"/>
            <a:chExt cx="3959225" cy="903224"/>
          </a:xfrm>
        </p:grpSpPr>
        <p:sp>
          <p:nvSpPr>
            <p:cNvPr id="811" name="Google Shape;811;p13"/>
            <p:cNvSpPr/>
            <p:nvPr/>
          </p:nvSpPr>
          <p:spPr>
            <a:xfrm>
              <a:off x="0" y="0"/>
              <a:ext cx="3959225" cy="903224"/>
            </a:xfrm>
            <a:custGeom>
              <a:rect b="b" l="l" r="r" t="t"/>
              <a:pathLst>
                <a:path extrusionOk="0" h="903224" w="3959225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3597910" y="0"/>
                  </a:lnTo>
                  <a:cubicBezTo>
                    <a:pt x="3797427" y="0"/>
                    <a:pt x="3959225" y="161798"/>
                    <a:pt x="3959225" y="361315"/>
                  </a:cubicBezTo>
                  <a:lnTo>
                    <a:pt x="3959225" y="541909"/>
                  </a:lnTo>
                  <a:cubicBezTo>
                    <a:pt x="3959225" y="741426"/>
                    <a:pt x="3797427" y="903224"/>
                    <a:pt x="3597910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13"/>
            <p:cNvSpPr txBox="1"/>
            <p:nvPr/>
          </p:nvSpPr>
          <p:spPr>
            <a:xfrm>
              <a:off x="0" y="0"/>
              <a:ext cx="3959149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B2B y condominios</a:t>
              </a:r>
              <a:endParaRPr/>
            </a:p>
          </p:txBody>
        </p:sp>
      </p:grpSp>
      <p:grpSp>
        <p:nvGrpSpPr>
          <p:cNvPr id="813" name="Google Shape;813;p13"/>
          <p:cNvGrpSpPr/>
          <p:nvPr/>
        </p:nvGrpSpPr>
        <p:grpSpPr>
          <a:xfrm>
            <a:off x="10273360" y="6560439"/>
            <a:ext cx="3722370" cy="677418"/>
            <a:chOff x="0" y="0"/>
            <a:chExt cx="4963160" cy="903224"/>
          </a:xfrm>
        </p:grpSpPr>
        <p:sp>
          <p:nvSpPr>
            <p:cNvPr id="814" name="Google Shape;814;p13"/>
            <p:cNvSpPr/>
            <p:nvPr/>
          </p:nvSpPr>
          <p:spPr>
            <a:xfrm>
              <a:off x="0" y="0"/>
              <a:ext cx="4963160" cy="903224"/>
            </a:xfrm>
            <a:custGeom>
              <a:rect b="b" l="l" r="r" t="t"/>
              <a:pathLst>
                <a:path extrusionOk="0" h="903224" w="4963160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601845" y="0"/>
                  </a:lnTo>
                  <a:cubicBezTo>
                    <a:pt x="4801362" y="0"/>
                    <a:pt x="4963160" y="161798"/>
                    <a:pt x="4963160" y="361315"/>
                  </a:cubicBezTo>
                  <a:lnTo>
                    <a:pt x="4963160" y="541909"/>
                  </a:lnTo>
                  <a:cubicBezTo>
                    <a:pt x="4963160" y="741426"/>
                    <a:pt x="4801362" y="903224"/>
                    <a:pt x="4601845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3"/>
            <p:cNvSpPr txBox="1"/>
            <p:nvPr/>
          </p:nvSpPr>
          <p:spPr>
            <a:xfrm>
              <a:off x="0" y="0"/>
              <a:ext cx="4963160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Prestadores especializados</a:t>
              </a:r>
              <a:endParaRPr/>
            </a:p>
          </p:txBody>
        </p:sp>
      </p:grpSp>
      <p:sp>
        <p:nvSpPr>
          <p:cNvPr id="816" name="Google Shape;816;p13"/>
          <p:cNvSpPr/>
          <p:nvPr/>
        </p:nvSpPr>
        <p:spPr>
          <a:xfrm>
            <a:off x="8922258" y="7639812"/>
            <a:ext cx="466344" cy="219456"/>
          </a:xfrm>
          <a:custGeom>
            <a:rect b="b" l="l" r="r" t="t"/>
            <a:pathLst>
              <a:path extrusionOk="0" h="292608" w="621792">
                <a:moveTo>
                  <a:pt x="0" y="131699"/>
                </a:moveTo>
                <a:lnTo>
                  <a:pt x="139954" y="131699"/>
                </a:lnTo>
                <a:lnTo>
                  <a:pt x="139954" y="0"/>
                </a:lnTo>
                <a:lnTo>
                  <a:pt x="481838" y="0"/>
                </a:lnTo>
                <a:lnTo>
                  <a:pt x="481838" y="131699"/>
                </a:lnTo>
                <a:lnTo>
                  <a:pt x="621792" y="131699"/>
                </a:lnTo>
                <a:lnTo>
                  <a:pt x="310896" y="292608"/>
                </a:lnTo>
                <a:close/>
              </a:path>
            </a:pathLst>
          </a:custGeom>
          <a:solidFill>
            <a:srgbClr val="6272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3"/>
          <p:cNvSpPr/>
          <p:nvPr/>
        </p:nvSpPr>
        <p:spPr>
          <a:xfrm>
            <a:off x="1234440" y="7859268"/>
            <a:ext cx="15814549" cy="1536192"/>
          </a:xfrm>
          <a:custGeom>
            <a:rect b="b" l="l" r="r" t="t"/>
            <a:pathLst>
              <a:path extrusionOk="0" h="2048256" w="21086065">
                <a:moveTo>
                  <a:pt x="0" y="143383"/>
                </a:moveTo>
                <a:cubicBezTo>
                  <a:pt x="0" y="64135"/>
                  <a:pt x="64135" y="0"/>
                  <a:pt x="143383" y="0"/>
                </a:cubicBezTo>
                <a:lnTo>
                  <a:pt x="20942681" y="0"/>
                </a:lnTo>
                <a:cubicBezTo>
                  <a:pt x="21021929" y="0"/>
                  <a:pt x="21086065" y="64135"/>
                  <a:pt x="21086065" y="143383"/>
                </a:cubicBezTo>
                <a:lnTo>
                  <a:pt x="21086065" y="1904873"/>
                </a:lnTo>
                <a:cubicBezTo>
                  <a:pt x="21086065" y="1984121"/>
                  <a:pt x="21021929" y="2048256"/>
                  <a:pt x="20942681" y="2048256"/>
                </a:cubicBezTo>
                <a:lnTo>
                  <a:pt x="143383" y="2048256"/>
                </a:lnTo>
                <a:cubicBezTo>
                  <a:pt x="64135" y="2048256"/>
                  <a:pt x="0" y="1984121"/>
                  <a:pt x="0" y="1904873"/>
                </a:cubicBezTo>
                <a:close/>
              </a:path>
            </a:pathLst>
          </a:custGeom>
          <a:solidFill>
            <a:srgbClr val="F1EE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3"/>
          <p:cNvSpPr/>
          <p:nvPr/>
        </p:nvSpPr>
        <p:spPr>
          <a:xfrm>
            <a:off x="1234440" y="7859268"/>
            <a:ext cx="219456" cy="1536192"/>
          </a:xfrm>
          <a:custGeom>
            <a:rect b="b" l="l" r="r" t="t"/>
            <a:pathLst>
              <a:path extrusionOk="0" h="2048256" w="292608">
                <a:moveTo>
                  <a:pt x="0" y="0"/>
                </a:moveTo>
                <a:lnTo>
                  <a:pt x="292608" y="0"/>
                </a:lnTo>
                <a:lnTo>
                  <a:pt x="292608" y="2048256"/>
                </a:lnTo>
                <a:lnTo>
                  <a:pt x="0" y="2048256"/>
                </a:lnTo>
                <a:close/>
              </a:path>
            </a:pathLst>
          </a:custGeom>
          <a:solidFill>
            <a:srgbClr val="6551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9" name="Google Shape;819;p13"/>
          <p:cNvGrpSpPr/>
          <p:nvPr/>
        </p:nvGrpSpPr>
        <p:grpSpPr>
          <a:xfrm>
            <a:off x="1714500" y="7859268"/>
            <a:ext cx="3703320" cy="1536192"/>
            <a:chOff x="0" y="0"/>
            <a:chExt cx="4937760" cy="2048256"/>
          </a:xfrm>
        </p:grpSpPr>
        <p:sp>
          <p:nvSpPr>
            <p:cNvPr id="820" name="Google Shape;820;p13"/>
            <p:cNvSpPr/>
            <p:nvPr/>
          </p:nvSpPr>
          <p:spPr>
            <a:xfrm>
              <a:off x="0" y="0"/>
              <a:ext cx="4937760" cy="2048256"/>
            </a:xfrm>
            <a:custGeom>
              <a:rect b="b" l="l" r="r" t="t"/>
              <a:pathLst>
                <a:path extrusionOk="0" h="204825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222" r="-322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13"/>
            <p:cNvSpPr txBox="1"/>
            <p:nvPr/>
          </p:nvSpPr>
          <p:spPr>
            <a:xfrm>
              <a:off x="0" y="0"/>
              <a:ext cx="4937760" cy="2048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6551A5"/>
                  </a:solidFill>
                  <a:latin typeface="Arial"/>
                  <a:ea typeface="Arial"/>
                  <a:cs typeface="Arial"/>
                  <a:sym typeface="Arial"/>
                </a:rPr>
                <a:t>Ecosistema</a:t>
              </a:r>
              <a:endParaRPr/>
            </a:p>
          </p:txBody>
        </p:sp>
      </p:grpSp>
      <p:grpSp>
        <p:nvGrpSpPr>
          <p:cNvPr id="822" name="Google Shape;822;p13"/>
          <p:cNvGrpSpPr/>
          <p:nvPr/>
        </p:nvGrpSpPr>
        <p:grpSpPr>
          <a:xfrm>
            <a:off x="5545455" y="8288655"/>
            <a:ext cx="2568892" cy="677418"/>
            <a:chOff x="0" y="0"/>
            <a:chExt cx="3425190" cy="903224"/>
          </a:xfrm>
        </p:grpSpPr>
        <p:sp>
          <p:nvSpPr>
            <p:cNvPr id="823" name="Google Shape;823;p13"/>
            <p:cNvSpPr/>
            <p:nvPr/>
          </p:nvSpPr>
          <p:spPr>
            <a:xfrm>
              <a:off x="0" y="0"/>
              <a:ext cx="3425190" cy="903224"/>
            </a:xfrm>
            <a:custGeom>
              <a:rect b="b" l="l" r="r" t="t"/>
              <a:pathLst>
                <a:path extrusionOk="0" h="903224" w="3425190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3063875" y="0"/>
                  </a:lnTo>
                  <a:cubicBezTo>
                    <a:pt x="3263392" y="0"/>
                    <a:pt x="3425190" y="161798"/>
                    <a:pt x="3425190" y="361315"/>
                  </a:cubicBezTo>
                  <a:lnTo>
                    <a:pt x="3425190" y="541909"/>
                  </a:lnTo>
                  <a:cubicBezTo>
                    <a:pt x="3425190" y="741426"/>
                    <a:pt x="3263392" y="903224"/>
                    <a:pt x="3063875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13"/>
            <p:cNvSpPr txBox="1"/>
            <p:nvPr/>
          </p:nvSpPr>
          <p:spPr>
            <a:xfrm>
              <a:off x="0" y="0"/>
              <a:ext cx="3425139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Marketplace de insumos</a:t>
              </a:r>
              <a:endParaRPr/>
            </a:p>
          </p:txBody>
        </p:sp>
      </p:grpSp>
      <p:grpSp>
        <p:nvGrpSpPr>
          <p:cNvPr id="825" name="Google Shape;825;p13"/>
          <p:cNvGrpSpPr/>
          <p:nvPr/>
        </p:nvGrpSpPr>
        <p:grpSpPr>
          <a:xfrm>
            <a:off x="8259851" y="8288655"/>
            <a:ext cx="1867967" cy="677418"/>
            <a:chOff x="0" y="0"/>
            <a:chExt cx="2490622" cy="903224"/>
          </a:xfrm>
        </p:grpSpPr>
        <p:sp>
          <p:nvSpPr>
            <p:cNvPr id="826" name="Google Shape;826;p13"/>
            <p:cNvSpPr/>
            <p:nvPr/>
          </p:nvSpPr>
          <p:spPr>
            <a:xfrm>
              <a:off x="0" y="0"/>
              <a:ext cx="2490597" cy="903224"/>
            </a:xfrm>
            <a:custGeom>
              <a:rect b="b" l="l" r="r" t="t"/>
              <a:pathLst>
                <a:path extrusionOk="0" h="903224" w="2490597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2129282" y="0"/>
                  </a:lnTo>
                  <a:cubicBezTo>
                    <a:pt x="2328799" y="0"/>
                    <a:pt x="2490597" y="161798"/>
                    <a:pt x="2490597" y="361315"/>
                  </a:cubicBezTo>
                  <a:lnTo>
                    <a:pt x="2490597" y="541909"/>
                  </a:lnTo>
                  <a:cubicBezTo>
                    <a:pt x="2490597" y="741426"/>
                    <a:pt x="2328799" y="903224"/>
                    <a:pt x="2129282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13"/>
            <p:cNvSpPr txBox="1"/>
            <p:nvPr/>
          </p:nvSpPr>
          <p:spPr>
            <a:xfrm>
              <a:off x="0" y="0"/>
              <a:ext cx="2490622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Alianzas de marca</a:t>
              </a:r>
              <a:endParaRPr/>
            </a:p>
          </p:txBody>
        </p:sp>
      </p:grpSp>
      <p:grpSp>
        <p:nvGrpSpPr>
          <p:cNvPr id="828" name="Google Shape;828;p13"/>
          <p:cNvGrpSpPr/>
          <p:nvPr/>
        </p:nvGrpSpPr>
        <p:grpSpPr>
          <a:xfrm>
            <a:off x="10273360" y="8288655"/>
            <a:ext cx="3722370" cy="677418"/>
            <a:chOff x="0" y="0"/>
            <a:chExt cx="4963160" cy="903224"/>
          </a:xfrm>
        </p:grpSpPr>
        <p:sp>
          <p:nvSpPr>
            <p:cNvPr id="829" name="Google Shape;829;p13"/>
            <p:cNvSpPr/>
            <p:nvPr/>
          </p:nvSpPr>
          <p:spPr>
            <a:xfrm>
              <a:off x="0" y="0"/>
              <a:ext cx="4963160" cy="903224"/>
            </a:xfrm>
            <a:custGeom>
              <a:rect b="b" l="l" r="r" t="t"/>
              <a:pathLst>
                <a:path extrusionOk="0" h="903224" w="4963160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601845" y="0"/>
                  </a:lnTo>
                  <a:cubicBezTo>
                    <a:pt x="4801362" y="0"/>
                    <a:pt x="4963160" y="161798"/>
                    <a:pt x="4963160" y="361315"/>
                  </a:cubicBezTo>
                  <a:lnTo>
                    <a:pt x="4963160" y="541909"/>
                  </a:lnTo>
                  <a:cubicBezTo>
                    <a:pt x="4963160" y="741426"/>
                    <a:pt x="4801362" y="903224"/>
                    <a:pt x="4601845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13"/>
            <p:cNvSpPr txBox="1"/>
            <p:nvPr/>
          </p:nvSpPr>
          <p:spPr>
            <a:xfrm>
              <a:off x="0" y="0"/>
              <a:ext cx="4963160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Servicios complementarios</a:t>
              </a:r>
              <a:endParaRPr/>
            </a:p>
          </p:txBody>
        </p:sp>
      </p:grpSp>
      <p:grpSp>
        <p:nvGrpSpPr>
          <p:cNvPr id="831" name="Google Shape;831;p13"/>
          <p:cNvGrpSpPr/>
          <p:nvPr/>
        </p:nvGrpSpPr>
        <p:grpSpPr>
          <a:xfrm>
            <a:off x="1234440" y="9628632"/>
            <a:ext cx="10972800" cy="411480"/>
            <a:chOff x="0" y="0"/>
            <a:chExt cx="14630400" cy="548640"/>
          </a:xfrm>
        </p:grpSpPr>
        <p:sp>
          <p:nvSpPr>
            <p:cNvPr id="832" name="Google Shape;832;p13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13"/>
            <p:cNvSpPr txBox="1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Splash  ·  Capstone PTY4614  ·  Propuesta de proyecto</a:t>
              </a:r>
              <a:endParaRPr/>
            </a:p>
          </p:txBody>
        </p:sp>
      </p:grpSp>
      <p:grpSp>
        <p:nvGrpSpPr>
          <p:cNvPr id="834" name="Google Shape;834;p13"/>
          <p:cNvGrpSpPr/>
          <p:nvPr/>
        </p:nvGrpSpPr>
        <p:grpSpPr>
          <a:xfrm>
            <a:off x="15636240" y="9628632"/>
            <a:ext cx="1412748" cy="411480"/>
            <a:chOff x="0" y="0"/>
            <a:chExt cx="1883664" cy="548640"/>
          </a:xfrm>
        </p:grpSpPr>
        <p:sp>
          <p:nvSpPr>
            <p:cNvPr id="835" name="Google Shape;835;p13"/>
            <p:cNvSpPr/>
            <p:nvPr/>
          </p:nvSpPr>
          <p:spPr>
            <a:xfrm>
              <a:off x="0" y="0"/>
              <a:ext cx="1883664" cy="548640"/>
            </a:xfrm>
            <a:custGeom>
              <a:rect b="b" l="l" r="r" t="t"/>
              <a:pathLst>
                <a:path extrusionOk="0" h="548640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99" l="0" r="0" t="-168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3"/>
            <p:cNvSpPr txBox="1"/>
            <p:nvPr/>
          </p:nvSpPr>
          <p:spPr>
            <a:xfrm>
              <a:off x="0" y="0"/>
              <a:ext cx="18836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/>
            </a:p>
          </p:txBody>
        </p:sp>
      </p:grpSp>
      <p:sp>
        <p:nvSpPr>
          <p:cNvPr id="837" name="Google Shape;837;p13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4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4"/>
          <p:cNvSpPr txBox="1"/>
          <p:nvPr/>
        </p:nvSpPr>
        <p:spPr>
          <a:xfrm>
            <a:off x="1639890" y="831161"/>
            <a:ext cx="9818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sz="1850"/>
          </a:p>
        </p:txBody>
      </p:sp>
      <p:sp>
        <p:nvSpPr>
          <p:cNvPr id="848" name="Google Shape;848;p14"/>
          <p:cNvSpPr txBox="1"/>
          <p:nvPr/>
        </p:nvSpPr>
        <p:spPr>
          <a:xfrm>
            <a:off x="1120140" y="1322070"/>
            <a:ext cx="1410462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Controles implementados en el stack técnico</a:t>
            </a:r>
            <a:endParaRPr/>
          </a:p>
        </p:txBody>
      </p:sp>
      <p:sp>
        <p:nvSpPr>
          <p:cNvPr id="849" name="Google Shape;849;p14"/>
          <p:cNvSpPr txBox="1"/>
          <p:nvPr/>
        </p:nvSpPr>
        <p:spPr>
          <a:xfrm>
            <a:off x="1120140" y="2098358"/>
            <a:ext cx="15247620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Las medidas se vinculan directamente con Node/Express, React Native, Prisma y los componentes descritos en el informe.</a:t>
            </a:r>
            <a:endParaRPr/>
          </a:p>
        </p:txBody>
      </p:sp>
      <p:sp>
        <p:nvSpPr>
          <p:cNvPr id="850" name="Google Shape;850;p14"/>
          <p:cNvSpPr/>
          <p:nvPr/>
        </p:nvSpPr>
        <p:spPr>
          <a:xfrm>
            <a:off x="1021556" y="3107531"/>
            <a:ext cx="2943225" cy="1657350"/>
          </a:xfrm>
          <a:custGeom>
            <a:rect b="b" l="l" r="r" t="t"/>
            <a:pathLst>
              <a:path extrusionOk="0" h="2209800" w="39243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3693668" y="0"/>
                </a:lnTo>
                <a:cubicBezTo>
                  <a:pt x="3821049" y="0"/>
                  <a:pt x="3924300" y="103251"/>
                  <a:pt x="3924300" y="230632"/>
                </a:cubicBezTo>
                <a:lnTo>
                  <a:pt x="3924300" y="1979168"/>
                </a:lnTo>
                <a:cubicBezTo>
                  <a:pt x="3924300" y="2106549"/>
                  <a:pt x="3821049" y="2209800"/>
                  <a:pt x="36936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>
            <a:srgbClr val="EEF6FB"/>
          </a:solidFill>
          <a:ln cap="sq" cmpd="sng" w="14275">
            <a:solidFill>
              <a:srgbClr val="0B5A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4"/>
          <p:cNvSpPr txBox="1"/>
          <p:nvPr/>
        </p:nvSpPr>
        <p:spPr>
          <a:xfrm>
            <a:off x="1291590" y="3379470"/>
            <a:ext cx="2403158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2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Firebase Auth</a:t>
            </a:r>
            <a:endParaRPr/>
          </a:p>
        </p:txBody>
      </p:sp>
      <p:sp>
        <p:nvSpPr>
          <p:cNvPr id="852" name="Google Shape;852;p14"/>
          <p:cNvSpPr txBox="1"/>
          <p:nvPr/>
        </p:nvSpPr>
        <p:spPr>
          <a:xfrm>
            <a:off x="1291590" y="3931920"/>
            <a:ext cx="240315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Google + email</a:t>
            </a:r>
            <a:endParaRPr/>
          </a:p>
        </p:txBody>
      </p:sp>
      <p:sp>
        <p:nvSpPr>
          <p:cNvPr id="853" name="Google Shape;853;p14"/>
          <p:cNvSpPr/>
          <p:nvPr/>
        </p:nvSpPr>
        <p:spPr>
          <a:xfrm>
            <a:off x="4250531" y="3107531"/>
            <a:ext cx="2943225" cy="1657350"/>
          </a:xfrm>
          <a:custGeom>
            <a:rect b="b" l="l" r="r" t="t"/>
            <a:pathLst>
              <a:path extrusionOk="0" h="2209800" w="39243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3693668" y="0"/>
                </a:lnTo>
                <a:cubicBezTo>
                  <a:pt x="3821049" y="0"/>
                  <a:pt x="3924300" y="103251"/>
                  <a:pt x="3924300" y="230632"/>
                </a:cubicBezTo>
                <a:lnTo>
                  <a:pt x="3924300" y="1979168"/>
                </a:lnTo>
                <a:cubicBezTo>
                  <a:pt x="3924300" y="2106549"/>
                  <a:pt x="3821049" y="2209800"/>
                  <a:pt x="36936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>
            <a:srgbClr val="EEF6FB"/>
          </a:solidFill>
          <a:ln cap="sq" cmpd="sng" w="14275">
            <a:solidFill>
              <a:srgbClr val="0B5A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4"/>
          <p:cNvSpPr txBox="1"/>
          <p:nvPr/>
        </p:nvSpPr>
        <p:spPr>
          <a:xfrm>
            <a:off x="4520565" y="3379470"/>
            <a:ext cx="2403158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2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ID Token</a:t>
            </a:r>
            <a:endParaRPr/>
          </a:p>
        </p:txBody>
      </p:sp>
      <p:sp>
        <p:nvSpPr>
          <p:cNvPr id="855" name="Google Shape;855;p14"/>
          <p:cNvSpPr txBox="1"/>
          <p:nvPr/>
        </p:nvSpPr>
        <p:spPr>
          <a:xfrm>
            <a:off x="4520565" y="3931920"/>
            <a:ext cx="240315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Validación en backend</a:t>
            </a:r>
            <a:endParaRPr/>
          </a:p>
        </p:txBody>
      </p:sp>
      <p:sp>
        <p:nvSpPr>
          <p:cNvPr id="856" name="Google Shape;856;p14"/>
          <p:cNvSpPr/>
          <p:nvPr/>
        </p:nvSpPr>
        <p:spPr>
          <a:xfrm>
            <a:off x="7479506" y="3107531"/>
            <a:ext cx="2943225" cy="1657350"/>
          </a:xfrm>
          <a:custGeom>
            <a:rect b="b" l="l" r="r" t="t"/>
            <a:pathLst>
              <a:path extrusionOk="0" h="2209800" w="39243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3693668" y="0"/>
                </a:lnTo>
                <a:cubicBezTo>
                  <a:pt x="3821049" y="0"/>
                  <a:pt x="3924300" y="103251"/>
                  <a:pt x="3924300" y="230632"/>
                </a:cubicBezTo>
                <a:lnTo>
                  <a:pt x="3924300" y="1979168"/>
                </a:lnTo>
                <a:cubicBezTo>
                  <a:pt x="3924300" y="2106549"/>
                  <a:pt x="3821049" y="2209800"/>
                  <a:pt x="36936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>
            <a:srgbClr val="EEF6FB"/>
          </a:solidFill>
          <a:ln cap="sq" cmpd="sng" w="14275">
            <a:solidFill>
              <a:srgbClr val="0B5A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4"/>
          <p:cNvSpPr txBox="1"/>
          <p:nvPr/>
        </p:nvSpPr>
        <p:spPr>
          <a:xfrm>
            <a:off x="7749540" y="3379470"/>
            <a:ext cx="2403158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2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/>
          </a:p>
        </p:txBody>
      </p:sp>
      <p:sp>
        <p:nvSpPr>
          <p:cNvPr id="858" name="Google Shape;858;p14"/>
          <p:cNvSpPr txBox="1"/>
          <p:nvPr/>
        </p:nvSpPr>
        <p:spPr>
          <a:xfrm>
            <a:off x="7749540" y="3931920"/>
            <a:ext cx="240315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Cliente / trabajador / admin</a:t>
            </a:r>
            <a:endParaRPr/>
          </a:p>
        </p:txBody>
      </p:sp>
      <p:sp>
        <p:nvSpPr>
          <p:cNvPr id="859" name="Google Shape;859;p14"/>
          <p:cNvSpPr/>
          <p:nvPr/>
        </p:nvSpPr>
        <p:spPr>
          <a:xfrm>
            <a:off x="10708481" y="3107531"/>
            <a:ext cx="2943225" cy="1657350"/>
          </a:xfrm>
          <a:custGeom>
            <a:rect b="b" l="l" r="r" t="t"/>
            <a:pathLst>
              <a:path extrusionOk="0" h="2209800" w="39243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3693668" y="0"/>
                </a:lnTo>
                <a:cubicBezTo>
                  <a:pt x="3821049" y="0"/>
                  <a:pt x="3924300" y="103251"/>
                  <a:pt x="3924300" y="230632"/>
                </a:cubicBezTo>
                <a:lnTo>
                  <a:pt x="3924300" y="1979168"/>
                </a:lnTo>
                <a:cubicBezTo>
                  <a:pt x="3924300" y="2106549"/>
                  <a:pt x="3821049" y="2209800"/>
                  <a:pt x="36936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>
            <a:srgbClr val="EEF6FB"/>
          </a:solidFill>
          <a:ln cap="sq" cmpd="sng" w="14275">
            <a:solidFill>
              <a:srgbClr val="0B5A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4"/>
          <p:cNvSpPr txBox="1"/>
          <p:nvPr/>
        </p:nvSpPr>
        <p:spPr>
          <a:xfrm>
            <a:off x="10978515" y="3379470"/>
            <a:ext cx="2403158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2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Sesión móvil</a:t>
            </a:r>
            <a:endParaRPr/>
          </a:p>
        </p:txBody>
      </p:sp>
      <p:sp>
        <p:nvSpPr>
          <p:cNvPr id="861" name="Google Shape;861;p14"/>
          <p:cNvSpPr txBox="1"/>
          <p:nvPr/>
        </p:nvSpPr>
        <p:spPr>
          <a:xfrm>
            <a:off x="10978515" y="3931920"/>
            <a:ext cx="240315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Gestión segura</a:t>
            </a:r>
            <a:endParaRPr/>
          </a:p>
        </p:txBody>
      </p:sp>
      <p:sp>
        <p:nvSpPr>
          <p:cNvPr id="862" name="Google Shape;862;p14"/>
          <p:cNvSpPr/>
          <p:nvPr/>
        </p:nvSpPr>
        <p:spPr>
          <a:xfrm>
            <a:off x="13937456" y="3107531"/>
            <a:ext cx="2943225" cy="1657350"/>
          </a:xfrm>
          <a:custGeom>
            <a:rect b="b" l="l" r="r" t="t"/>
            <a:pathLst>
              <a:path extrusionOk="0" h="2209800" w="39243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3693668" y="0"/>
                </a:lnTo>
                <a:cubicBezTo>
                  <a:pt x="3821049" y="0"/>
                  <a:pt x="3924300" y="103251"/>
                  <a:pt x="3924300" y="230632"/>
                </a:cubicBezTo>
                <a:lnTo>
                  <a:pt x="3924300" y="1979168"/>
                </a:lnTo>
                <a:cubicBezTo>
                  <a:pt x="3924300" y="2106549"/>
                  <a:pt x="3821049" y="2209800"/>
                  <a:pt x="36936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>
            <a:srgbClr val="EEF6FB"/>
          </a:solidFill>
          <a:ln cap="sq" cmpd="sng" w="14275">
            <a:solidFill>
              <a:srgbClr val="0B5A9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4"/>
          <p:cNvSpPr txBox="1"/>
          <p:nvPr/>
        </p:nvSpPr>
        <p:spPr>
          <a:xfrm>
            <a:off x="14207490" y="3379470"/>
            <a:ext cx="2403158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2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Helmet</a:t>
            </a:r>
            <a:endParaRPr/>
          </a:p>
        </p:txBody>
      </p:sp>
      <p:sp>
        <p:nvSpPr>
          <p:cNvPr id="864" name="Google Shape;864;p14"/>
          <p:cNvSpPr txBox="1"/>
          <p:nvPr/>
        </p:nvSpPr>
        <p:spPr>
          <a:xfrm>
            <a:off x="14207490" y="3931920"/>
            <a:ext cx="240315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Cabeceras HTTP</a:t>
            </a:r>
            <a:endParaRPr/>
          </a:p>
        </p:txBody>
      </p:sp>
      <p:sp>
        <p:nvSpPr>
          <p:cNvPr id="865" name="Google Shape;865;p14"/>
          <p:cNvSpPr/>
          <p:nvPr/>
        </p:nvSpPr>
        <p:spPr>
          <a:xfrm>
            <a:off x="1021556" y="5179219"/>
            <a:ext cx="2943225" cy="1657350"/>
          </a:xfrm>
          <a:custGeom>
            <a:rect b="b" l="l" r="r" t="t"/>
            <a:pathLst>
              <a:path extrusionOk="0" h="2209800" w="39243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3693668" y="0"/>
                </a:lnTo>
                <a:cubicBezTo>
                  <a:pt x="3821049" y="0"/>
                  <a:pt x="3924300" y="103251"/>
                  <a:pt x="3924300" y="230632"/>
                </a:cubicBezTo>
                <a:lnTo>
                  <a:pt x="3924300" y="1979168"/>
                </a:lnTo>
                <a:cubicBezTo>
                  <a:pt x="3924300" y="2106549"/>
                  <a:pt x="3821049" y="2209800"/>
                  <a:pt x="36936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>
            <a:srgbClr val="FFF7E6"/>
          </a:solidFill>
          <a:ln cap="sq" cmpd="sng" w="14275">
            <a:solidFill>
              <a:srgbClr val="F9B7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14"/>
          <p:cNvSpPr txBox="1"/>
          <p:nvPr/>
        </p:nvSpPr>
        <p:spPr>
          <a:xfrm>
            <a:off x="1291590" y="5451158"/>
            <a:ext cx="2403158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2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CORS</a:t>
            </a:r>
            <a:endParaRPr/>
          </a:p>
        </p:txBody>
      </p:sp>
      <p:sp>
        <p:nvSpPr>
          <p:cNvPr id="867" name="Google Shape;867;p14"/>
          <p:cNvSpPr txBox="1"/>
          <p:nvPr/>
        </p:nvSpPr>
        <p:spPr>
          <a:xfrm>
            <a:off x="1291590" y="6003607"/>
            <a:ext cx="240315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Origen restrictivo</a:t>
            </a:r>
            <a:endParaRPr/>
          </a:p>
        </p:txBody>
      </p:sp>
      <p:sp>
        <p:nvSpPr>
          <p:cNvPr id="868" name="Google Shape;868;p14"/>
          <p:cNvSpPr/>
          <p:nvPr/>
        </p:nvSpPr>
        <p:spPr>
          <a:xfrm>
            <a:off x="4250531" y="5179219"/>
            <a:ext cx="2943225" cy="1657350"/>
          </a:xfrm>
          <a:custGeom>
            <a:rect b="b" l="l" r="r" t="t"/>
            <a:pathLst>
              <a:path extrusionOk="0" h="2209800" w="39243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3693668" y="0"/>
                </a:lnTo>
                <a:cubicBezTo>
                  <a:pt x="3821049" y="0"/>
                  <a:pt x="3924300" y="103251"/>
                  <a:pt x="3924300" y="230632"/>
                </a:cubicBezTo>
                <a:lnTo>
                  <a:pt x="3924300" y="1979168"/>
                </a:lnTo>
                <a:cubicBezTo>
                  <a:pt x="3924300" y="2106549"/>
                  <a:pt x="3821049" y="2209800"/>
                  <a:pt x="36936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>
            <a:srgbClr val="FFF7E6"/>
          </a:solidFill>
          <a:ln cap="sq" cmpd="sng" w="14275">
            <a:solidFill>
              <a:srgbClr val="F9B7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4"/>
          <p:cNvSpPr txBox="1"/>
          <p:nvPr/>
        </p:nvSpPr>
        <p:spPr>
          <a:xfrm>
            <a:off x="4520565" y="5451158"/>
            <a:ext cx="2403158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2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Rate limit</a:t>
            </a:r>
            <a:endParaRPr/>
          </a:p>
        </p:txBody>
      </p:sp>
      <p:sp>
        <p:nvSpPr>
          <p:cNvPr id="870" name="Google Shape;870;p14"/>
          <p:cNvSpPr txBox="1"/>
          <p:nvPr/>
        </p:nvSpPr>
        <p:spPr>
          <a:xfrm>
            <a:off x="4520565" y="6003607"/>
            <a:ext cx="240315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100 req/IP/15 min</a:t>
            </a:r>
            <a:endParaRPr/>
          </a:p>
        </p:txBody>
      </p:sp>
      <p:sp>
        <p:nvSpPr>
          <p:cNvPr id="871" name="Google Shape;871;p14"/>
          <p:cNvSpPr/>
          <p:nvPr/>
        </p:nvSpPr>
        <p:spPr>
          <a:xfrm>
            <a:off x="7479506" y="5179219"/>
            <a:ext cx="2943225" cy="1657350"/>
          </a:xfrm>
          <a:custGeom>
            <a:rect b="b" l="l" r="r" t="t"/>
            <a:pathLst>
              <a:path extrusionOk="0" h="2209800" w="39243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3693668" y="0"/>
                </a:lnTo>
                <a:cubicBezTo>
                  <a:pt x="3821049" y="0"/>
                  <a:pt x="3924300" y="103251"/>
                  <a:pt x="3924300" y="230632"/>
                </a:cubicBezTo>
                <a:lnTo>
                  <a:pt x="3924300" y="1979168"/>
                </a:lnTo>
                <a:cubicBezTo>
                  <a:pt x="3924300" y="2106549"/>
                  <a:pt x="3821049" y="2209800"/>
                  <a:pt x="36936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>
            <a:srgbClr val="FFF7E6"/>
          </a:solidFill>
          <a:ln cap="sq" cmpd="sng" w="14275">
            <a:solidFill>
              <a:srgbClr val="F9B7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4"/>
          <p:cNvSpPr txBox="1"/>
          <p:nvPr/>
        </p:nvSpPr>
        <p:spPr>
          <a:xfrm>
            <a:off x="7749540" y="5451158"/>
            <a:ext cx="2403158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2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Autorización</a:t>
            </a:r>
            <a:endParaRPr/>
          </a:p>
        </p:txBody>
      </p:sp>
      <p:sp>
        <p:nvSpPr>
          <p:cNvPr id="873" name="Google Shape;873;p14"/>
          <p:cNvSpPr txBox="1"/>
          <p:nvPr/>
        </p:nvSpPr>
        <p:spPr>
          <a:xfrm>
            <a:off x="7749540" y="6003607"/>
            <a:ext cx="240315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Roles por endpoint</a:t>
            </a:r>
            <a:endParaRPr/>
          </a:p>
        </p:txBody>
      </p:sp>
      <p:sp>
        <p:nvSpPr>
          <p:cNvPr id="874" name="Google Shape;874;p14"/>
          <p:cNvSpPr/>
          <p:nvPr/>
        </p:nvSpPr>
        <p:spPr>
          <a:xfrm>
            <a:off x="10708481" y="5179219"/>
            <a:ext cx="2943225" cy="1657350"/>
          </a:xfrm>
          <a:custGeom>
            <a:rect b="b" l="l" r="r" t="t"/>
            <a:pathLst>
              <a:path extrusionOk="0" h="2209800" w="39243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3693668" y="0"/>
                </a:lnTo>
                <a:cubicBezTo>
                  <a:pt x="3821049" y="0"/>
                  <a:pt x="3924300" y="103251"/>
                  <a:pt x="3924300" y="230632"/>
                </a:cubicBezTo>
                <a:lnTo>
                  <a:pt x="3924300" y="1979168"/>
                </a:lnTo>
                <a:cubicBezTo>
                  <a:pt x="3924300" y="2106549"/>
                  <a:pt x="3821049" y="2209800"/>
                  <a:pt x="36936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>
            <a:srgbClr val="FFF7E6"/>
          </a:solidFill>
          <a:ln cap="sq" cmpd="sng" w="14275">
            <a:solidFill>
              <a:srgbClr val="F9B7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4"/>
          <p:cNvSpPr txBox="1"/>
          <p:nvPr/>
        </p:nvSpPr>
        <p:spPr>
          <a:xfrm>
            <a:off x="10978515" y="5451158"/>
            <a:ext cx="2403158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2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Zod</a:t>
            </a:r>
            <a:endParaRPr/>
          </a:p>
        </p:txBody>
      </p:sp>
      <p:sp>
        <p:nvSpPr>
          <p:cNvPr id="876" name="Google Shape;876;p14"/>
          <p:cNvSpPr txBox="1"/>
          <p:nvPr/>
        </p:nvSpPr>
        <p:spPr>
          <a:xfrm>
            <a:off x="10978515" y="6003607"/>
            <a:ext cx="240315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Validación + JSON 10 KB</a:t>
            </a:r>
            <a:endParaRPr/>
          </a:p>
        </p:txBody>
      </p:sp>
      <p:sp>
        <p:nvSpPr>
          <p:cNvPr id="877" name="Google Shape;877;p14"/>
          <p:cNvSpPr/>
          <p:nvPr/>
        </p:nvSpPr>
        <p:spPr>
          <a:xfrm>
            <a:off x="13937456" y="5179219"/>
            <a:ext cx="2943225" cy="1657350"/>
          </a:xfrm>
          <a:custGeom>
            <a:rect b="b" l="l" r="r" t="t"/>
            <a:pathLst>
              <a:path extrusionOk="0" h="2209800" w="39243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3693668" y="0"/>
                </a:lnTo>
                <a:cubicBezTo>
                  <a:pt x="3821049" y="0"/>
                  <a:pt x="3924300" y="103251"/>
                  <a:pt x="3924300" y="230632"/>
                </a:cubicBezTo>
                <a:lnTo>
                  <a:pt x="3924300" y="1979168"/>
                </a:lnTo>
                <a:cubicBezTo>
                  <a:pt x="3924300" y="2106549"/>
                  <a:pt x="3821049" y="2209800"/>
                  <a:pt x="36936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>
            <a:srgbClr val="FFF7E6"/>
          </a:solidFill>
          <a:ln cap="sq" cmpd="sng" w="14275">
            <a:solidFill>
              <a:srgbClr val="F9B71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4"/>
          <p:cNvSpPr txBox="1"/>
          <p:nvPr/>
        </p:nvSpPr>
        <p:spPr>
          <a:xfrm>
            <a:off x="14207490" y="5451158"/>
            <a:ext cx="2403158" cy="37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2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.env</a:t>
            </a:r>
            <a:endParaRPr/>
          </a:p>
        </p:txBody>
      </p:sp>
      <p:sp>
        <p:nvSpPr>
          <p:cNvPr id="879" name="Google Shape;879;p14"/>
          <p:cNvSpPr txBox="1"/>
          <p:nvPr/>
        </p:nvSpPr>
        <p:spPr>
          <a:xfrm>
            <a:off x="14207490" y="6003607"/>
            <a:ext cx="2403158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2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Secretos fuera del código</a:t>
            </a:r>
            <a:endParaRPr/>
          </a:p>
        </p:txBody>
      </p:sp>
      <p:sp>
        <p:nvSpPr>
          <p:cNvPr id="880" name="Google Shape;880;p14"/>
          <p:cNvSpPr txBox="1"/>
          <p:nvPr/>
        </p:nvSpPr>
        <p:spPr>
          <a:xfrm>
            <a:off x="1520190" y="7579995"/>
            <a:ext cx="15247620" cy="661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Además: validación de tokens de Firebase en el backend, mínimo privilegio, respuestas genéricas de autenticación y secretos fuera del repositorio.</a:t>
            </a:r>
            <a:endParaRPr/>
          </a:p>
        </p:txBody>
      </p:sp>
      <p:sp>
        <p:nvSpPr>
          <p:cNvPr id="881" name="Google Shape;881;p14"/>
          <p:cNvSpPr txBox="1"/>
          <p:nvPr/>
        </p:nvSpPr>
        <p:spPr>
          <a:xfrm>
            <a:off x="1120140" y="9661207"/>
            <a:ext cx="1124712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882" name="Google Shape;882;p14"/>
          <p:cNvSpPr txBox="1"/>
          <p:nvPr/>
        </p:nvSpPr>
        <p:spPr>
          <a:xfrm>
            <a:off x="15950565" y="9661207"/>
            <a:ext cx="1102995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883" name="Google Shape;883;p14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5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3" name="Google Shape;893;p15"/>
          <p:cNvGrpSpPr/>
          <p:nvPr/>
        </p:nvGrpSpPr>
        <p:grpSpPr>
          <a:xfrm>
            <a:off x="1865376" y="850392"/>
            <a:ext cx="8229600" cy="480060"/>
            <a:chOff x="0" y="0"/>
            <a:chExt cx="10972800" cy="640080"/>
          </a:xfrm>
        </p:grpSpPr>
        <p:sp>
          <p:nvSpPr>
            <p:cNvPr id="894" name="Google Shape;894;p15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5"/>
            <p:cNvSpPr txBox="1"/>
            <p:nvPr/>
          </p:nvSpPr>
          <p:spPr>
            <a:xfrm>
              <a:off x="0" y="0"/>
              <a:ext cx="10972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PROTECCIÓN DE DATOS</a:t>
              </a:r>
              <a:endParaRPr/>
            </a:p>
          </p:txBody>
        </p:sp>
      </p:grpSp>
      <p:sp>
        <p:nvSpPr>
          <p:cNvPr id="896" name="Google Shape;896;p15"/>
          <p:cNvSpPr txBox="1"/>
          <p:nvPr/>
        </p:nvSpPr>
        <p:spPr>
          <a:xfrm>
            <a:off x="1234440" y="1389507"/>
            <a:ext cx="15773400" cy="1243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Ley 21.719: cumplimiento desde el diseño</a:t>
            </a:r>
            <a:endParaRPr/>
          </a:p>
        </p:txBody>
      </p:sp>
      <p:sp>
        <p:nvSpPr>
          <p:cNvPr id="897" name="Google Shape;897;p15"/>
          <p:cNvSpPr/>
          <p:nvPr/>
        </p:nvSpPr>
        <p:spPr>
          <a:xfrm>
            <a:off x="1224915" y="2665095"/>
            <a:ext cx="7727442" cy="2926842"/>
          </a:xfrm>
          <a:custGeom>
            <a:rect b="b" l="l" r="r" t="t"/>
            <a:pathLst>
              <a:path extrusionOk="0" h="3902456" w="10303256">
                <a:moveTo>
                  <a:pt x="0" y="273177"/>
                </a:moveTo>
                <a:cubicBezTo>
                  <a:pt x="0" y="122301"/>
                  <a:pt x="122301" y="0"/>
                  <a:pt x="273177" y="0"/>
                </a:cubicBezTo>
                <a:lnTo>
                  <a:pt x="10030079" y="0"/>
                </a:lnTo>
                <a:cubicBezTo>
                  <a:pt x="10180955" y="0"/>
                  <a:pt x="10303256" y="122301"/>
                  <a:pt x="10303256" y="273177"/>
                </a:cubicBezTo>
                <a:lnTo>
                  <a:pt x="10303256" y="3629279"/>
                </a:lnTo>
                <a:cubicBezTo>
                  <a:pt x="10303256" y="3780155"/>
                  <a:pt x="10180955" y="3902456"/>
                  <a:pt x="10030079" y="3902456"/>
                </a:cubicBezTo>
                <a:lnTo>
                  <a:pt x="273177" y="3902456"/>
                </a:lnTo>
                <a:cubicBezTo>
                  <a:pt x="122301" y="3902456"/>
                  <a:pt x="0" y="3780155"/>
                  <a:pt x="0" y="3629279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8" name="Google Shape;898;p15"/>
          <p:cNvGrpSpPr/>
          <p:nvPr/>
        </p:nvGrpSpPr>
        <p:grpSpPr>
          <a:xfrm>
            <a:off x="1673352" y="3086100"/>
            <a:ext cx="987552" cy="987552"/>
            <a:chOff x="0" y="0"/>
            <a:chExt cx="1316736" cy="1316736"/>
          </a:xfrm>
        </p:grpSpPr>
        <p:sp>
          <p:nvSpPr>
            <p:cNvPr id="899" name="Google Shape;899;p15"/>
            <p:cNvSpPr/>
            <p:nvPr/>
          </p:nvSpPr>
          <p:spPr>
            <a:xfrm>
              <a:off x="0" y="0"/>
              <a:ext cx="1316736" cy="1316736"/>
            </a:xfrm>
            <a:custGeom>
              <a:rect b="b" l="l" r="r" t="t"/>
              <a:pathLst>
                <a:path extrusionOk="0" h="1316736" w="1316736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1027049" y="0"/>
                  </a:lnTo>
                  <a:cubicBezTo>
                    <a:pt x="1187069" y="0"/>
                    <a:pt x="1316736" y="129667"/>
                    <a:pt x="1316736" y="289687"/>
                  </a:cubicBezTo>
                  <a:lnTo>
                    <a:pt x="1316736" y="1027049"/>
                  </a:lnTo>
                  <a:cubicBezTo>
                    <a:pt x="1316736" y="1187069"/>
                    <a:pt x="1187069" y="1316736"/>
                    <a:pt x="1027049" y="1316736"/>
                  </a:cubicBezTo>
                  <a:lnTo>
                    <a:pt x="289687" y="1316736"/>
                  </a:lnTo>
                  <a:cubicBezTo>
                    <a:pt x="129667" y="1316736"/>
                    <a:pt x="0" y="1187069"/>
                    <a:pt x="0" y="1027049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15"/>
            <p:cNvSpPr txBox="1"/>
            <p:nvPr/>
          </p:nvSpPr>
          <p:spPr>
            <a:xfrm>
              <a:off x="0" y="0"/>
              <a:ext cx="1316736" cy="1316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⚖️</a:t>
              </a:r>
              <a:endParaRPr/>
            </a:p>
          </p:txBody>
        </p:sp>
      </p:grpSp>
      <p:grpSp>
        <p:nvGrpSpPr>
          <p:cNvPr id="901" name="Google Shape;901;p15"/>
          <p:cNvGrpSpPr/>
          <p:nvPr/>
        </p:nvGrpSpPr>
        <p:grpSpPr>
          <a:xfrm>
            <a:off x="2935224" y="3140964"/>
            <a:ext cx="5788152" cy="905256"/>
            <a:chOff x="0" y="0"/>
            <a:chExt cx="7717536" cy="1207008"/>
          </a:xfrm>
        </p:grpSpPr>
        <p:sp>
          <p:nvSpPr>
            <p:cNvPr id="902" name="Google Shape;902;p15"/>
            <p:cNvSpPr/>
            <p:nvPr/>
          </p:nvSpPr>
          <p:spPr>
            <a:xfrm>
              <a:off x="0" y="0"/>
              <a:ext cx="7717536" cy="1207008"/>
            </a:xfrm>
            <a:custGeom>
              <a:rect b="b" l="l" r="r" t="t"/>
              <a:pathLst>
                <a:path extrusionOk="0" h="1207008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589" l="0" r="0" t="-745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15"/>
            <p:cNvSpPr txBox="1"/>
            <p:nvPr/>
          </p:nvSpPr>
          <p:spPr>
            <a:xfrm>
              <a:off x="0" y="0"/>
              <a:ext cx="7717536" cy="12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Principios</a:t>
              </a:r>
              <a:endParaRPr/>
            </a:p>
          </p:txBody>
        </p:sp>
      </p:grpSp>
      <p:sp>
        <p:nvSpPr>
          <p:cNvPr id="904" name="Google Shape;904;p15"/>
          <p:cNvSpPr txBox="1"/>
          <p:nvPr/>
        </p:nvSpPr>
        <p:spPr>
          <a:xfrm>
            <a:off x="1700784" y="4246626"/>
            <a:ext cx="6803136" cy="11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Licitud, finalidad, proporcionalidad, calidad, seguridad, transparencia y responsabilidad.</a:t>
            </a:r>
            <a:endParaRPr/>
          </a:p>
        </p:txBody>
      </p:sp>
      <p:sp>
        <p:nvSpPr>
          <p:cNvPr id="905" name="Google Shape;905;p15"/>
          <p:cNvSpPr/>
          <p:nvPr/>
        </p:nvSpPr>
        <p:spPr>
          <a:xfrm>
            <a:off x="9331071" y="2665095"/>
            <a:ext cx="7727442" cy="2926842"/>
          </a:xfrm>
          <a:custGeom>
            <a:rect b="b" l="l" r="r" t="t"/>
            <a:pathLst>
              <a:path extrusionOk="0" h="3902456" w="10303256">
                <a:moveTo>
                  <a:pt x="0" y="273177"/>
                </a:moveTo>
                <a:cubicBezTo>
                  <a:pt x="0" y="122301"/>
                  <a:pt x="122301" y="0"/>
                  <a:pt x="273177" y="0"/>
                </a:cubicBezTo>
                <a:lnTo>
                  <a:pt x="10030079" y="0"/>
                </a:lnTo>
                <a:cubicBezTo>
                  <a:pt x="10180955" y="0"/>
                  <a:pt x="10303256" y="122301"/>
                  <a:pt x="10303256" y="273177"/>
                </a:cubicBezTo>
                <a:lnTo>
                  <a:pt x="10303256" y="3629279"/>
                </a:lnTo>
                <a:cubicBezTo>
                  <a:pt x="10303256" y="3780155"/>
                  <a:pt x="10180955" y="3902456"/>
                  <a:pt x="10030079" y="3902456"/>
                </a:cubicBezTo>
                <a:lnTo>
                  <a:pt x="273177" y="3902456"/>
                </a:lnTo>
                <a:cubicBezTo>
                  <a:pt x="122301" y="3902456"/>
                  <a:pt x="0" y="3780155"/>
                  <a:pt x="0" y="3629279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6" name="Google Shape;906;p15"/>
          <p:cNvGrpSpPr/>
          <p:nvPr/>
        </p:nvGrpSpPr>
        <p:grpSpPr>
          <a:xfrm>
            <a:off x="9779508" y="3086100"/>
            <a:ext cx="987552" cy="987552"/>
            <a:chOff x="0" y="0"/>
            <a:chExt cx="1316736" cy="1316736"/>
          </a:xfrm>
        </p:grpSpPr>
        <p:sp>
          <p:nvSpPr>
            <p:cNvPr id="907" name="Google Shape;907;p15"/>
            <p:cNvSpPr/>
            <p:nvPr/>
          </p:nvSpPr>
          <p:spPr>
            <a:xfrm>
              <a:off x="0" y="0"/>
              <a:ext cx="1316736" cy="1316736"/>
            </a:xfrm>
            <a:custGeom>
              <a:rect b="b" l="l" r="r" t="t"/>
              <a:pathLst>
                <a:path extrusionOk="0" h="1316736" w="1316736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1027049" y="0"/>
                  </a:lnTo>
                  <a:cubicBezTo>
                    <a:pt x="1187069" y="0"/>
                    <a:pt x="1316736" y="129667"/>
                    <a:pt x="1316736" y="289687"/>
                  </a:cubicBezTo>
                  <a:lnTo>
                    <a:pt x="1316736" y="1027049"/>
                  </a:lnTo>
                  <a:cubicBezTo>
                    <a:pt x="1316736" y="1187069"/>
                    <a:pt x="1187069" y="1316736"/>
                    <a:pt x="1027049" y="1316736"/>
                  </a:cubicBezTo>
                  <a:lnTo>
                    <a:pt x="289687" y="1316736"/>
                  </a:lnTo>
                  <a:cubicBezTo>
                    <a:pt x="129667" y="1316736"/>
                    <a:pt x="0" y="1187069"/>
                    <a:pt x="0" y="1027049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5"/>
            <p:cNvSpPr txBox="1"/>
            <p:nvPr/>
          </p:nvSpPr>
          <p:spPr>
            <a:xfrm>
              <a:off x="0" y="0"/>
              <a:ext cx="1316736" cy="1316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🙋</a:t>
              </a:r>
              <a:endParaRPr/>
            </a:p>
          </p:txBody>
        </p:sp>
      </p:grpSp>
      <p:grpSp>
        <p:nvGrpSpPr>
          <p:cNvPr id="909" name="Google Shape;909;p15"/>
          <p:cNvGrpSpPr/>
          <p:nvPr/>
        </p:nvGrpSpPr>
        <p:grpSpPr>
          <a:xfrm>
            <a:off x="11041380" y="3140964"/>
            <a:ext cx="5788152" cy="905256"/>
            <a:chOff x="0" y="0"/>
            <a:chExt cx="7717536" cy="1207008"/>
          </a:xfrm>
        </p:grpSpPr>
        <p:sp>
          <p:nvSpPr>
            <p:cNvPr id="910" name="Google Shape;910;p15"/>
            <p:cNvSpPr/>
            <p:nvPr/>
          </p:nvSpPr>
          <p:spPr>
            <a:xfrm>
              <a:off x="0" y="0"/>
              <a:ext cx="7717536" cy="1207008"/>
            </a:xfrm>
            <a:custGeom>
              <a:rect b="b" l="l" r="r" t="t"/>
              <a:pathLst>
                <a:path extrusionOk="0" h="1207008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589" l="0" r="0" t="-745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5"/>
            <p:cNvSpPr txBox="1"/>
            <p:nvPr/>
          </p:nvSpPr>
          <p:spPr>
            <a:xfrm>
              <a:off x="0" y="0"/>
              <a:ext cx="7717536" cy="12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Derechos del titular</a:t>
              </a:r>
              <a:endParaRPr/>
            </a:p>
          </p:txBody>
        </p:sp>
      </p:grpSp>
      <p:sp>
        <p:nvSpPr>
          <p:cNvPr id="912" name="Google Shape;912;p15"/>
          <p:cNvSpPr txBox="1"/>
          <p:nvPr/>
        </p:nvSpPr>
        <p:spPr>
          <a:xfrm>
            <a:off x="9806940" y="4246626"/>
            <a:ext cx="6803136" cy="11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Canal para acceso, rectificación, supresión, oposición, portabilidad y bloqueo cuando corresponda.</a:t>
            </a:r>
            <a:endParaRPr/>
          </a:p>
        </p:txBody>
      </p:sp>
      <p:sp>
        <p:nvSpPr>
          <p:cNvPr id="913" name="Google Shape;913;p15"/>
          <p:cNvSpPr/>
          <p:nvPr/>
        </p:nvSpPr>
        <p:spPr>
          <a:xfrm>
            <a:off x="1224915" y="5929503"/>
            <a:ext cx="7727442" cy="2926842"/>
          </a:xfrm>
          <a:custGeom>
            <a:rect b="b" l="l" r="r" t="t"/>
            <a:pathLst>
              <a:path extrusionOk="0" h="3902456" w="10303256">
                <a:moveTo>
                  <a:pt x="0" y="273177"/>
                </a:moveTo>
                <a:cubicBezTo>
                  <a:pt x="0" y="122301"/>
                  <a:pt x="122301" y="0"/>
                  <a:pt x="273177" y="0"/>
                </a:cubicBezTo>
                <a:lnTo>
                  <a:pt x="10030079" y="0"/>
                </a:lnTo>
                <a:cubicBezTo>
                  <a:pt x="10180955" y="0"/>
                  <a:pt x="10303256" y="122301"/>
                  <a:pt x="10303256" y="273177"/>
                </a:cubicBezTo>
                <a:lnTo>
                  <a:pt x="10303256" y="3629279"/>
                </a:lnTo>
                <a:cubicBezTo>
                  <a:pt x="10303256" y="3780155"/>
                  <a:pt x="10180955" y="3902456"/>
                  <a:pt x="10030079" y="3902456"/>
                </a:cubicBezTo>
                <a:lnTo>
                  <a:pt x="273177" y="3902456"/>
                </a:lnTo>
                <a:cubicBezTo>
                  <a:pt x="122301" y="3902456"/>
                  <a:pt x="0" y="3780155"/>
                  <a:pt x="0" y="3629279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4" name="Google Shape;914;p15"/>
          <p:cNvGrpSpPr/>
          <p:nvPr/>
        </p:nvGrpSpPr>
        <p:grpSpPr>
          <a:xfrm>
            <a:off x="1673352" y="6350508"/>
            <a:ext cx="987552" cy="987552"/>
            <a:chOff x="0" y="0"/>
            <a:chExt cx="1316736" cy="1316736"/>
          </a:xfrm>
        </p:grpSpPr>
        <p:sp>
          <p:nvSpPr>
            <p:cNvPr id="915" name="Google Shape;915;p15"/>
            <p:cNvSpPr/>
            <p:nvPr/>
          </p:nvSpPr>
          <p:spPr>
            <a:xfrm>
              <a:off x="0" y="0"/>
              <a:ext cx="1316736" cy="1316736"/>
            </a:xfrm>
            <a:custGeom>
              <a:rect b="b" l="l" r="r" t="t"/>
              <a:pathLst>
                <a:path extrusionOk="0" h="1316736" w="1316736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1027049" y="0"/>
                  </a:lnTo>
                  <a:cubicBezTo>
                    <a:pt x="1187069" y="0"/>
                    <a:pt x="1316736" y="129667"/>
                    <a:pt x="1316736" y="289687"/>
                  </a:cubicBezTo>
                  <a:lnTo>
                    <a:pt x="1316736" y="1027049"/>
                  </a:lnTo>
                  <a:cubicBezTo>
                    <a:pt x="1316736" y="1187069"/>
                    <a:pt x="1187069" y="1316736"/>
                    <a:pt x="1027049" y="1316736"/>
                  </a:cubicBezTo>
                  <a:lnTo>
                    <a:pt x="289687" y="1316736"/>
                  </a:lnTo>
                  <a:cubicBezTo>
                    <a:pt x="129667" y="1316736"/>
                    <a:pt x="0" y="1187069"/>
                    <a:pt x="0" y="1027049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15"/>
            <p:cNvSpPr txBox="1"/>
            <p:nvPr/>
          </p:nvSpPr>
          <p:spPr>
            <a:xfrm>
              <a:off x="0" y="0"/>
              <a:ext cx="1316736" cy="1316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🧩</a:t>
              </a:r>
              <a:endParaRPr/>
            </a:p>
          </p:txBody>
        </p:sp>
      </p:grpSp>
      <p:grpSp>
        <p:nvGrpSpPr>
          <p:cNvPr id="917" name="Google Shape;917;p15"/>
          <p:cNvGrpSpPr/>
          <p:nvPr/>
        </p:nvGrpSpPr>
        <p:grpSpPr>
          <a:xfrm>
            <a:off x="2935224" y="6405372"/>
            <a:ext cx="5788152" cy="905256"/>
            <a:chOff x="0" y="0"/>
            <a:chExt cx="7717536" cy="1207008"/>
          </a:xfrm>
        </p:grpSpPr>
        <p:sp>
          <p:nvSpPr>
            <p:cNvPr id="918" name="Google Shape;918;p15"/>
            <p:cNvSpPr/>
            <p:nvPr/>
          </p:nvSpPr>
          <p:spPr>
            <a:xfrm>
              <a:off x="0" y="0"/>
              <a:ext cx="7717536" cy="1207008"/>
            </a:xfrm>
            <a:custGeom>
              <a:rect b="b" l="l" r="r" t="t"/>
              <a:pathLst>
                <a:path extrusionOk="0" h="1207008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589" l="0" r="0" t="-745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15"/>
            <p:cNvSpPr txBox="1"/>
            <p:nvPr/>
          </p:nvSpPr>
          <p:spPr>
            <a:xfrm>
              <a:off x="0" y="0"/>
              <a:ext cx="7717536" cy="12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B66A11"/>
                  </a:solidFill>
                  <a:latin typeface="Arial"/>
                  <a:ea typeface="Arial"/>
                  <a:cs typeface="Arial"/>
                  <a:sym typeface="Arial"/>
                </a:rPr>
                <a:t>Cumplimiento demostrable</a:t>
              </a:r>
              <a:endParaRPr/>
            </a:p>
          </p:txBody>
        </p:sp>
      </p:grpSp>
      <p:sp>
        <p:nvSpPr>
          <p:cNvPr id="920" name="Google Shape;920;p15"/>
          <p:cNvSpPr txBox="1"/>
          <p:nvPr/>
        </p:nvSpPr>
        <p:spPr>
          <a:xfrm>
            <a:off x="1700784" y="7511034"/>
            <a:ext cx="6803136" cy="11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Inventario de datos, base de licitud, contratos con encargados, retención y evaluación de impacto.</a:t>
            </a:r>
            <a:endParaRPr/>
          </a:p>
        </p:txBody>
      </p:sp>
      <p:sp>
        <p:nvSpPr>
          <p:cNvPr id="921" name="Google Shape;921;p15"/>
          <p:cNvSpPr/>
          <p:nvPr/>
        </p:nvSpPr>
        <p:spPr>
          <a:xfrm>
            <a:off x="9331071" y="5929503"/>
            <a:ext cx="7727442" cy="2926842"/>
          </a:xfrm>
          <a:custGeom>
            <a:rect b="b" l="l" r="r" t="t"/>
            <a:pathLst>
              <a:path extrusionOk="0" h="3902456" w="10303256">
                <a:moveTo>
                  <a:pt x="0" y="273177"/>
                </a:moveTo>
                <a:cubicBezTo>
                  <a:pt x="0" y="122301"/>
                  <a:pt x="122301" y="0"/>
                  <a:pt x="273177" y="0"/>
                </a:cubicBezTo>
                <a:lnTo>
                  <a:pt x="10030079" y="0"/>
                </a:lnTo>
                <a:cubicBezTo>
                  <a:pt x="10180955" y="0"/>
                  <a:pt x="10303256" y="122301"/>
                  <a:pt x="10303256" y="273177"/>
                </a:cubicBezTo>
                <a:lnTo>
                  <a:pt x="10303256" y="3629279"/>
                </a:lnTo>
                <a:cubicBezTo>
                  <a:pt x="10303256" y="3780155"/>
                  <a:pt x="10180955" y="3902456"/>
                  <a:pt x="10030079" y="3902456"/>
                </a:cubicBezTo>
                <a:lnTo>
                  <a:pt x="273177" y="3902456"/>
                </a:lnTo>
                <a:cubicBezTo>
                  <a:pt x="122301" y="3902456"/>
                  <a:pt x="0" y="3780155"/>
                  <a:pt x="0" y="3629279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2" name="Google Shape;922;p15"/>
          <p:cNvGrpSpPr/>
          <p:nvPr/>
        </p:nvGrpSpPr>
        <p:grpSpPr>
          <a:xfrm>
            <a:off x="9779508" y="6350508"/>
            <a:ext cx="987552" cy="987552"/>
            <a:chOff x="0" y="0"/>
            <a:chExt cx="1316736" cy="1316736"/>
          </a:xfrm>
        </p:grpSpPr>
        <p:sp>
          <p:nvSpPr>
            <p:cNvPr id="923" name="Google Shape;923;p15"/>
            <p:cNvSpPr/>
            <p:nvPr/>
          </p:nvSpPr>
          <p:spPr>
            <a:xfrm>
              <a:off x="0" y="0"/>
              <a:ext cx="1316736" cy="1316736"/>
            </a:xfrm>
            <a:custGeom>
              <a:rect b="b" l="l" r="r" t="t"/>
              <a:pathLst>
                <a:path extrusionOk="0" h="1316736" w="1316736">
                  <a:moveTo>
                    <a:pt x="0" y="289687"/>
                  </a:moveTo>
                  <a:cubicBezTo>
                    <a:pt x="0" y="129667"/>
                    <a:pt x="129667" y="0"/>
                    <a:pt x="289687" y="0"/>
                  </a:cubicBezTo>
                  <a:lnTo>
                    <a:pt x="1027049" y="0"/>
                  </a:lnTo>
                  <a:cubicBezTo>
                    <a:pt x="1187069" y="0"/>
                    <a:pt x="1316736" y="129667"/>
                    <a:pt x="1316736" y="289687"/>
                  </a:cubicBezTo>
                  <a:lnTo>
                    <a:pt x="1316736" y="1027049"/>
                  </a:lnTo>
                  <a:cubicBezTo>
                    <a:pt x="1316736" y="1187069"/>
                    <a:pt x="1187069" y="1316736"/>
                    <a:pt x="1027049" y="1316736"/>
                  </a:cubicBezTo>
                  <a:lnTo>
                    <a:pt x="289687" y="1316736"/>
                  </a:lnTo>
                  <a:cubicBezTo>
                    <a:pt x="129667" y="1316736"/>
                    <a:pt x="0" y="1187069"/>
                    <a:pt x="0" y="1027049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5"/>
            <p:cNvSpPr txBox="1"/>
            <p:nvPr/>
          </p:nvSpPr>
          <p:spPr>
            <a:xfrm>
              <a:off x="0" y="0"/>
              <a:ext cx="1316736" cy="1316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50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🏛️</a:t>
              </a:r>
              <a:endParaRPr/>
            </a:p>
          </p:txBody>
        </p:sp>
      </p:grpSp>
      <p:grpSp>
        <p:nvGrpSpPr>
          <p:cNvPr id="925" name="Google Shape;925;p15"/>
          <p:cNvGrpSpPr/>
          <p:nvPr/>
        </p:nvGrpSpPr>
        <p:grpSpPr>
          <a:xfrm>
            <a:off x="11041380" y="6405372"/>
            <a:ext cx="5788152" cy="905256"/>
            <a:chOff x="0" y="0"/>
            <a:chExt cx="7717536" cy="1207008"/>
          </a:xfrm>
        </p:grpSpPr>
        <p:sp>
          <p:nvSpPr>
            <p:cNvPr id="926" name="Google Shape;926;p15"/>
            <p:cNvSpPr/>
            <p:nvPr/>
          </p:nvSpPr>
          <p:spPr>
            <a:xfrm>
              <a:off x="0" y="0"/>
              <a:ext cx="7717536" cy="1207008"/>
            </a:xfrm>
            <a:custGeom>
              <a:rect b="b" l="l" r="r" t="t"/>
              <a:pathLst>
                <a:path extrusionOk="0" h="1207008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589" l="0" r="0" t="-745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5"/>
            <p:cNvSpPr txBox="1"/>
            <p:nvPr/>
          </p:nvSpPr>
          <p:spPr>
            <a:xfrm>
              <a:off x="0" y="0"/>
              <a:ext cx="7717536" cy="12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C84545"/>
                  </a:solidFill>
                  <a:latin typeface="Arial"/>
                  <a:ea typeface="Arial"/>
                  <a:cs typeface="Arial"/>
                  <a:sym typeface="Arial"/>
                </a:rPr>
                <a:t>Nueva institucionalidad</a:t>
              </a:r>
              <a:endParaRPr/>
            </a:p>
          </p:txBody>
        </p:sp>
      </p:grpSp>
      <p:sp>
        <p:nvSpPr>
          <p:cNvPr id="928" name="Google Shape;928;p15"/>
          <p:cNvSpPr txBox="1"/>
          <p:nvPr/>
        </p:nvSpPr>
        <p:spPr>
          <a:xfrm>
            <a:off x="9806940" y="7511034"/>
            <a:ext cx="6803136" cy="11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La Agencia de Protección de Datos Personales fiscalizará y podrá aplicar sanciones y medidas correctivas.</a:t>
            </a:r>
            <a:endParaRPr/>
          </a:p>
        </p:txBody>
      </p:sp>
      <p:grpSp>
        <p:nvGrpSpPr>
          <p:cNvPr id="929" name="Google Shape;929;p15"/>
          <p:cNvGrpSpPr/>
          <p:nvPr/>
        </p:nvGrpSpPr>
        <p:grpSpPr>
          <a:xfrm>
            <a:off x="1234440" y="9628632"/>
            <a:ext cx="10972800" cy="411480"/>
            <a:chOff x="0" y="0"/>
            <a:chExt cx="14630400" cy="548640"/>
          </a:xfrm>
        </p:grpSpPr>
        <p:sp>
          <p:nvSpPr>
            <p:cNvPr id="930" name="Google Shape;930;p15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5"/>
            <p:cNvSpPr txBox="1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Splash  ·  Capstone PTY4614  ·  Propuesta de proyecto</a:t>
              </a:r>
              <a:endParaRPr/>
            </a:p>
          </p:txBody>
        </p:sp>
      </p:grpSp>
      <p:grpSp>
        <p:nvGrpSpPr>
          <p:cNvPr id="932" name="Google Shape;932;p15"/>
          <p:cNvGrpSpPr/>
          <p:nvPr/>
        </p:nvGrpSpPr>
        <p:grpSpPr>
          <a:xfrm>
            <a:off x="15636240" y="9628632"/>
            <a:ext cx="1412748" cy="411480"/>
            <a:chOff x="0" y="0"/>
            <a:chExt cx="1883664" cy="548640"/>
          </a:xfrm>
        </p:grpSpPr>
        <p:sp>
          <p:nvSpPr>
            <p:cNvPr id="933" name="Google Shape;933;p15"/>
            <p:cNvSpPr/>
            <p:nvPr/>
          </p:nvSpPr>
          <p:spPr>
            <a:xfrm>
              <a:off x="0" y="0"/>
              <a:ext cx="1883664" cy="548640"/>
            </a:xfrm>
            <a:custGeom>
              <a:rect b="b" l="l" r="r" t="t"/>
              <a:pathLst>
                <a:path extrusionOk="0" h="548640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99" l="0" r="0" t="-168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15"/>
            <p:cNvSpPr txBox="1"/>
            <p:nvPr/>
          </p:nvSpPr>
          <p:spPr>
            <a:xfrm>
              <a:off x="0" y="0"/>
              <a:ext cx="18836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</p:grpSp>
      <p:sp>
        <p:nvSpPr>
          <p:cNvPr id="935" name="Google Shape;935;p15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6"/>
          <p:cNvSpPr/>
          <p:nvPr/>
        </p:nvSpPr>
        <p:spPr>
          <a:xfrm>
            <a:off x="1228725" y="871538"/>
            <a:ext cx="471488" cy="414338"/>
          </a:xfrm>
          <a:custGeom>
            <a:rect b="b" l="l" r="r" t="t"/>
            <a:pathLst>
              <a:path extrusionOk="0" h="552450" w="62865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400050" y="0"/>
                </a:lnTo>
                <a:cubicBezTo>
                  <a:pt x="526288" y="0"/>
                  <a:pt x="628650" y="102362"/>
                  <a:pt x="628650" y="228600"/>
                </a:cubicBezTo>
                <a:lnTo>
                  <a:pt x="628650" y="323850"/>
                </a:lnTo>
                <a:cubicBezTo>
                  <a:pt x="628650" y="450088"/>
                  <a:pt x="526288" y="552450"/>
                  <a:pt x="400050" y="552450"/>
                </a:cubicBezTo>
                <a:lnTo>
                  <a:pt x="228600" y="552450"/>
                </a:lnTo>
                <a:cubicBezTo>
                  <a:pt x="102362" y="552450"/>
                  <a:pt x="0" y="450088"/>
                  <a:pt x="0" y="3238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6"/>
          <p:cNvSpPr txBox="1"/>
          <p:nvPr/>
        </p:nvSpPr>
        <p:spPr>
          <a:xfrm>
            <a:off x="1963102" y="860107"/>
            <a:ext cx="696087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/>
          </a:p>
        </p:txBody>
      </p:sp>
      <p:sp>
        <p:nvSpPr>
          <p:cNvPr id="946" name="Google Shape;946;p16"/>
          <p:cNvSpPr txBox="1"/>
          <p:nvPr/>
        </p:nvSpPr>
        <p:spPr>
          <a:xfrm>
            <a:off x="1320165" y="1379220"/>
            <a:ext cx="15676245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Matriz de riesgos priorizada</a:t>
            </a:r>
            <a:endParaRPr/>
          </a:p>
        </p:txBody>
      </p:sp>
      <p:sp>
        <p:nvSpPr>
          <p:cNvPr id="947" name="Google Shape;947;p16"/>
          <p:cNvSpPr txBox="1"/>
          <p:nvPr/>
        </p:nvSpPr>
        <p:spPr>
          <a:xfrm>
            <a:off x="1320165" y="2226945"/>
            <a:ext cx="15676245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Escala: probabilidad e impacto de 1 (bajo) a 3 (alto). Nivel = P × I.</a:t>
            </a:r>
            <a:endParaRPr/>
          </a:p>
        </p:txBody>
      </p:sp>
      <p:graphicFrame>
        <p:nvGraphicFramePr>
          <p:cNvPr id="948" name="Google Shape;948;p16"/>
          <p:cNvGraphicFramePr/>
          <p:nvPr/>
        </p:nvGraphicFramePr>
        <p:xfrm>
          <a:off x="1057275" y="2928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{36B1848E-5290-4C2E-B867-DF8F752D7E5F}</a:tableStyleId>
              </a:tblPr>
              <a:tblGrid>
                <a:gridCol w="639700"/>
                <a:gridCol w="2061250"/>
                <a:gridCol w="5970500"/>
                <a:gridCol w="597050"/>
                <a:gridCol w="597050"/>
                <a:gridCol w="1165675"/>
                <a:gridCol w="2132325"/>
              </a:tblGrid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A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Riesgo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A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Causa / consecuencia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A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A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A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Nivel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A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A91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R1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Pago y escrow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Falla de pasarela o conciliación; cobro retenido o pérdida de confianza.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Alto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102A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Daniel Elgueta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R2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GPS y tiempo real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Conectividad o permisos; ubicación desactualizada y mala experiencia.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Medio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102A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Kevin / Daniel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R3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Datos personales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Acceso indebido o fuga; daño a titulares y exposición legal.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Alto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102A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Diego Cortes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R4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Oferta de prestadores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Baja cobertura; solicitudes sin aceptar y tiempos elevados.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Crítico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102A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Paul Carrillo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R5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Alcance y plazo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Crecimiento del backlog; retraso del MVP o funciones incompletas.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Alto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102A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Paul / Diego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R6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Dependencia externa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Caída o cambio en Maps, Firebase o pasarela; servicio degradado.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37" u="none" cap="none" strike="noStrike">
                          <a:solidFill>
                            <a:srgbClr val="243B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Medio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5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25" u="none" cap="none" strike="noStrike">
                          <a:solidFill>
                            <a:srgbClr val="102A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Daniel Elgueta</a:t>
                      </a:r>
                      <a:endParaRPr sz="1100" u="none" cap="none" strike="noStrike"/>
                    </a:p>
                  </a:txBody>
                  <a:tcPr marT="62050" marB="62050" marR="62050" marL="62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9" name="Google Shape;949;p16"/>
          <p:cNvSpPr txBox="1"/>
          <p:nvPr/>
        </p:nvSpPr>
        <p:spPr>
          <a:xfrm>
            <a:off x="1320165" y="9646920"/>
            <a:ext cx="10818495" cy="337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950" name="Google Shape;950;p16"/>
          <p:cNvSpPr txBox="1"/>
          <p:nvPr/>
        </p:nvSpPr>
        <p:spPr>
          <a:xfrm>
            <a:off x="15721965" y="9646920"/>
            <a:ext cx="1231582" cy="337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951" name="Google Shape;951;p16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7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1" name="Google Shape;961;p17"/>
          <p:cNvGrpSpPr/>
          <p:nvPr/>
        </p:nvGrpSpPr>
        <p:grpSpPr>
          <a:xfrm>
            <a:off x="1865376" y="850392"/>
            <a:ext cx="8229600" cy="480060"/>
            <a:chOff x="0" y="0"/>
            <a:chExt cx="10972800" cy="640080"/>
          </a:xfrm>
        </p:grpSpPr>
        <p:sp>
          <p:nvSpPr>
            <p:cNvPr id="962" name="Google Shape;962;p17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17"/>
            <p:cNvSpPr txBox="1"/>
            <p:nvPr/>
          </p:nvSpPr>
          <p:spPr>
            <a:xfrm>
              <a:off x="0" y="0"/>
              <a:ext cx="10972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TRATAMIENTO DE RIESGOS</a:t>
              </a:r>
              <a:endParaRPr/>
            </a:p>
          </p:txBody>
        </p:sp>
      </p:grpSp>
      <p:sp>
        <p:nvSpPr>
          <p:cNvPr id="964" name="Google Shape;964;p17"/>
          <p:cNvSpPr txBox="1"/>
          <p:nvPr/>
        </p:nvSpPr>
        <p:spPr>
          <a:xfrm>
            <a:off x="1234440" y="1389507"/>
            <a:ext cx="15773400" cy="1518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Cada riesgo debe tener respuesta, disparador y evidencia</a:t>
            </a:r>
            <a:endParaRPr/>
          </a:p>
        </p:txBody>
      </p:sp>
      <p:sp>
        <p:nvSpPr>
          <p:cNvPr id="965" name="Google Shape;965;p17"/>
          <p:cNvSpPr/>
          <p:nvPr/>
        </p:nvSpPr>
        <p:spPr>
          <a:xfrm>
            <a:off x="1234440" y="2674620"/>
            <a:ext cx="7708392" cy="6240780"/>
          </a:xfrm>
          <a:custGeom>
            <a:rect b="b" l="l" r="r" t="t"/>
            <a:pathLst>
              <a:path extrusionOk="0" h="8321040" w="10277856">
                <a:moveTo>
                  <a:pt x="0" y="416052"/>
                </a:moveTo>
                <a:cubicBezTo>
                  <a:pt x="0" y="186309"/>
                  <a:pt x="186309" y="0"/>
                  <a:pt x="416052" y="0"/>
                </a:cubicBezTo>
                <a:lnTo>
                  <a:pt x="9861804" y="0"/>
                </a:lnTo>
                <a:cubicBezTo>
                  <a:pt x="10091548" y="0"/>
                  <a:pt x="10277856" y="186309"/>
                  <a:pt x="10277856" y="416052"/>
                </a:cubicBezTo>
                <a:lnTo>
                  <a:pt x="10277856" y="7904988"/>
                </a:lnTo>
                <a:cubicBezTo>
                  <a:pt x="10277856" y="8134731"/>
                  <a:pt x="10091548" y="8321040"/>
                  <a:pt x="9861804" y="8321040"/>
                </a:cubicBezTo>
                <a:lnTo>
                  <a:pt x="416052" y="8321040"/>
                </a:lnTo>
                <a:cubicBezTo>
                  <a:pt x="186309" y="8321040"/>
                  <a:pt x="0" y="8134731"/>
                  <a:pt x="0" y="7904988"/>
                </a:cubicBezTo>
                <a:close/>
              </a:path>
            </a:pathLst>
          </a:custGeom>
          <a:solidFill>
            <a:srgbClr val="E8F5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6" name="Google Shape;966;p17"/>
          <p:cNvGrpSpPr/>
          <p:nvPr/>
        </p:nvGrpSpPr>
        <p:grpSpPr>
          <a:xfrm>
            <a:off x="1234440" y="2674620"/>
            <a:ext cx="7708392" cy="1028700"/>
            <a:chOff x="0" y="0"/>
            <a:chExt cx="10277856" cy="1371600"/>
          </a:xfrm>
        </p:grpSpPr>
        <p:sp>
          <p:nvSpPr>
            <p:cNvPr id="967" name="Google Shape;967;p17"/>
            <p:cNvSpPr/>
            <p:nvPr/>
          </p:nvSpPr>
          <p:spPr>
            <a:xfrm>
              <a:off x="0" y="0"/>
              <a:ext cx="10277856" cy="1371600"/>
            </a:xfrm>
            <a:custGeom>
              <a:rect b="b" l="l" r="r" t="t"/>
              <a:pathLst>
                <a:path extrusionOk="0" h="1371600" w="1027785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10209276" y="0"/>
                  </a:lnTo>
                  <a:cubicBezTo>
                    <a:pt x="10247122" y="0"/>
                    <a:pt x="10277856" y="30734"/>
                    <a:pt x="10277856" y="68580"/>
                  </a:cubicBezTo>
                  <a:lnTo>
                    <a:pt x="10277856" y="1303020"/>
                  </a:lnTo>
                  <a:cubicBezTo>
                    <a:pt x="10277856" y="1340866"/>
                    <a:pt x="10247122" y="1371600"/>
                    <a:pt x="10209276" y="1371600"/>
                  </a:cubicBezTo>
                  <a:lnTo>
                    <a:pt x="68580" y="1371600"/>
                  </a:lnTo>
                  <a:cubicBezTo>
                    <a:pt x="30734" y="1371600"/>
                    <a:pt x="0" y="1340866"/>
                    <a:pt x="0" y="1303020"/>
                  </a:cubicBezTo>
                  <a:close/>
                </a:path>
              </a:pathLst>
            </a:custGeom>
            <a:solidFill>
              <a:srgbClr val="1687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17"/>
            <p:cNvSpPr txBox="1"/>
            <p:nvPr/>
          </p:nvSpPr>
          <p:spPr>
            <a:xfrm>
              <a:off x="0" y="0"/>
              <a:ext cx="10277856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✓  Prevención y mitigación</a:t>
              </a:r>
              <a:endParaRPr/>
            </a:p>
          </p:txBody>
        </p:sp>
      </p:grpSp>
      <p:sp>
        <p:nvSpPr>
          <p:cNvPr id="969" name="Google Shape;969;p17"/>
          <p:cNvSpPr txBox="1"/>
          <p:nvPr/>
        </p:nvSpPr>
        <p:spPr>
          <a:xfrm>
            <a:off x="1645920" y="404622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70" name="Google Shape;970;p17"/>
          <p:cNvSpPr txBox="1"/>
          <p:nvPr/>
        </p:nvSpPr>
        <p:spPr>
          <a:xfrm>
            <a:off x="2057400" y="4036695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R1: sandbox, idempotencia, conciliación y piloto de pagos</a:t>
            </a:r>
            <a:endParaRPr/>
          </a:p>
        </p:txBody>
      </p:sp>
      <p:sp>
        <p:nvSpPr>
          <p:cNvPr id="971" name="Google Shape;971;p17"/>
          <p:cNvSpPr txBox="1"/>
          <p:nvPr/>
        </p:nvSpPr>
        <p:spPr>
          <a:xfrm>
            <a:off x="1645920" y="4848606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72" name="Google Shape;972;p17"/>
          <p:cNvSpPr txBox="1"/>
          <p:nvPr/>
        </p:nvSpPr>
        <p:spPr>
          <a:xfrm>
            <a:off x="2057400" y="4839081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R2: fallback manual, reintentos y monitoreo de ubicación</a:t>
            </a:r>
            <a:endParaRPr/>
          </a:p>
        </p:txBody>
      </p:sp>
      <p:sp>
        <p:nvSpPr>
          <p:cNvPr id="973" name="Google Shape;973;p17"/>
          <p:cNvSpPr txBox="1"/>
          <p:nvPr/>
        </p:nvSpPr>
        <p:spPr>
          <a:xfrm>
            <a:off x="1645920" y="5650992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74" name="Google Shape;974;p17"/>
          <p:cNvSpPr txBox="1"/>
          <p:nvPr/>
        </p:nvSpPr>
        <p:spPr>
          <a:xfrm>
            <a:off x="2057400" y="5641467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R3: mínimo privilegio, cifrado, logs y plan de incidentes</a:t>
            </a:r>
            <a:endParaRPr/>
          </a:p>
        </p:txBody>
      </p:sp>
      <p:sp>
        <p:nvSpPr>
          <p:cNvPr id="975" name="Google Shape;975;p17"/>
          <p:cNvSpPr txBox="1"/>
          <p:nvPr/>
        </p:nvSpPr>
        <p:spPr>
          <a:xfrm>
            <a:off x="1645920" y="6453378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76" name="Google Shape;976;p17"/>
          <p:cNvSpPr txBox="1"/>
          <p:nvPr/>
        </p:nvSpPr>
        <p:spPr>
          <a:xfrm>
            <a:off x="2057400" y="6443853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R4: piloto por zona, cupos e incentivos de disponibilidad</a:t>
            </a:r>
            <a:endParaRPr/>
          </a:p>
        </p:txBody>
      </p:sp>
      <p:sp>
        <p:nvSpPr>
          <p:cNvPr id="977" name="Google Shape;977;p17"/>
          <p:cNvSpPr txBox="1"/>
          <p:nvPr/>
        </p:nvSpPr>
        <p:spPr>
          <a:xfrm>
            <a:off x="1645920" y="7255764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78" name="Google Shape;978;p17"/>
          <p:cNvSpPr txBox="1"/>
          <p:nvPr/>
        </p:nvSpPr>
        <p:spPr>
          <a:xfrm>
            <a:off x="2057400" y="7246239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R5: backlog priorizado, criterios de salida y control semanal</a:t>
            </a:r>
            <a:endParaRPr/>
          </a:p>
        </p:txBody>
      </p:sp>
      <p:sp>
        <p:nvSpPr>
          <p:cNvPr id="979" name="Google Shape;979;p17"/>
          <p:cNvSpPr txBox="1"/>
          <p:nvPr/>
        </p:nvSpPr>
        <p:spPr>
          <a:xfrm>
            <a:off x="1645920" y="805815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80" name="Google Shape;980;p17"/>
          <p:cNvSpPr txBox="1"/>
          <p:nvPr/>
        </p:nvSpPr>
        <p:spPr>
          <a:xfrm>
            <a:off x="2057400" y="8048625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R6: abstracción de proveedores y procedimientos de contingencia</a:t>
            </a:r>
            <a:endParaRPr/>
          </a:p>
        </p:txBody>
      </p:sp>
      <p:sp>
        <p:nvSpPr>
          <p:cNvPr id="981" name="Google Shape;981;p17"/>
          <p:cNvSpPr/>
          <p:nvPr/>
        </p:nvSpPr>
        <p:spPr>
          <a:xfrm>
            <a:off x="9331071" y="2665095"/>
            <a:ext cx="7727442" cy="6259830"/>
          </a:xfrm>
          <a:custGeom>
            <a:rect b="b" l="l" r="r" t="t"/>
            <a:pathLst>
              <a:path extrusionOk="0" h="8346440" w="10303256">
                <a:moveTo>
                  <a:pt x="0" y="417322"/>
                </a:moveTo>
                <a:cubicBezTo>
                  <a:pt x="0" y="186817"/>
                  <a:pt x="186817" y="0"/>
                  <a:pt x="417322" y="0"/>
                </a:cubicBezTo>
                <a:lnTo>
                  <a:pt x="9885934" y="0"/>
                </a:lnTo>
                <a:cubicBezTo>
                  <a:pt x="10116439" y="0"/>
                  <a:pt x="10303256" y="186817"/>
                  <a:pt x="10303256" y="417322"/>
                </a:cubicBezTo>
                <a:lnTo>
                  <a:pt x="10303256" y="7929118"/>
                </a:lnTo>
                <a:cubicBezTo>
                  <a:pt x="10303256" y="8159624"/>
                  <a:pt x="10116439" y="8346440"/>
                  <a:pt x="9885934" y="8346440"/>
                </a:cubicBezTo>
                <a:lnTo>
                  <a:pt x="417322" y="8346440"/>
                </a:lnTo>
                <a:cubicBezTo>
                  <a:pt x="186817" y="8346440"/>
                  <a:pt x="0" y="8159623"/>
                  <a:pt x="0" y="7929118"/>
                </a:cubicBezTo>
                <a:close/>
              </a:path>
            </a:pathLst>
          </a:custGeom>
          <a:solidFill>
            <a:srgbClr val="F5F8FC"/>
          </a:solidFill>
          <a:ln cap="sq" cmpd="sng" w="19050">
            <a:solidFill>
              <a:srgbClr val="DCE5E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2" name="Google Shape;982;p17"/>
          <p:cNvGrpSpPr/>
          <p:nvPr/>
        </p:nvGrpSpPr>
        <p:grpSpPr>
          <a:xfrm>
            <a:off x="9340596" y="2674620"/>
            <a:ext cx="7708392" cy="1028700"/>
            <a:chOff x="0" y="0"/>
            <a:chExt cx="10277856" cy="1371600"/>
          </a:xfrm>
        </p:grpSpPr>
        <p:sp>
          <p:nvSpPr>
            <p:cNvPr id="983" name="Google Shape;983;p17"/>
            <p:cNvSpPr/>
            <p:nvPr/>
          </p:nvSpPr>
          <p:spPr>
            <a:xfrm>
              <a:off x="0" y="0"/>
              <a:ext cx="10277856" cy="1371600"/>
            </a:xfrm>
            <a:custGeom>
              <a:rect b="b" l="l" r="r" t="t"/>
              <a:pathLst>
                <a:path extrusionOk="0" h="1371600" w="10277856">
                  <a:moveTo>
                    <a:pt x="0" y="68580"/>
                  </a:moveTo>
                  <a:cubicBezTo>
                    <a:pt x="0" y="30734"/>
                    <a:pt x="30734" y="0"/>
                    <a:pt x="68580" y="0"/>
                  </a:cubicBezTo>
                  <a:lnTo>
                    <a:pt x="10209276" y="0"/>
                  </a:lnTo>
                  <a:cubicBezTo>
                    <a:pt x="10247122" y="0"/>
                    <a:pt x="10277856" y="30734"/>
                    <a:pt x="10277856" y="68580"/>
                  </a:cubicBezTo>
                  <a:lnTo>
                    <a:pt x="10277856" y="1303020"/>
                  </a:lnTo>
                  <a:cubicBezTo>
                    <a:pt x="10277856" y="1340866"/>
                    <a:pt x="10247122" y="1371600"/>
                    <a:pt x="10209276" y="1371600"/>
                  </a:cubicBezTo>
                  <a:lnTo>
                    <a:pt x="68580" y="1371600"/>
                  </a:lnTo>
                  <a:cubicBezTo>
                    <a:pt x="30734" y="1371600"/>
                    <a:pt x="0" y="1340866"/>
                    <a:pt x="0" y="1303020"/>
                  </a:cubicBezTo>
                  <a:close/>
                </a:path>
              </a:pathLst>
            </a:custGeom>
            <a:solidFill>
              <a:srgbClr val="62728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7"/>
            <p:cNvSpPr txBox="1"/>
            <p:nvPr/>
          </p:nvSpPr>
          <p:spPr>
            <a:xfrm>
              <a:off x="0" y="0"/>
              <a:ext cx="10277856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→  Seguimiento y contingencia</a:t>
              </a:r>
              <a:endParaRPr/>
            </a:p>
          </p:txBody>
        </p:sp>
      </p:grpSp>
      <p:sp>
        <p:nvSpPr>
          <p:cNvPr id="985" name="Google Shape;985;p17"/>
          <p:cNvSpPr txBox="1"/>
          <p:nvPr/>
        </p:nvSpPr>
        <p:spPr>
          <a:xfrm>
            <a:off x="9752076" y="404622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86" name="Google Shape;986;p17"/>
          <p:cNvSpPr txBox="1"/>
          <p:nvPr/>
        </p:nvSpPr>
        <p:spPr>
          <a:xfrm>
            <a:off x="10163556" y="4036695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Revisión semanal de riesgos altos y críticos</a:t>
            </a:r>
            <a:endParaRPr/>
          </a:p>
        </p:txBody>
      </p:sp>
      <p:sp>
        <p:nvSpPr>
          <p:cNvPr id="987" name="Google Shape;987;p17"/>
          <p:cNvSpPr txBox="1"/>
          <p:nvPr/>
        </p:nvSpPr>
        <p:spPr>
          <a:xfrm>
            <a:off x="9752076" y="4848606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88" name="Google Shape;988;p17"/>
          <p:cNvSpPr txBox="1"/>
          <p:nvPr/>
        </p:nvSpPr>
        <p:spPr>
          <a:xfrm>
            <a:off x="10163556" y="4839081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Disparadores: error de pago, servicio sin aceptar o incidente</a:t>
            </a:r>
            <a:endParaRPr/>
          </a:p>
        </p:txBody>
      </p:sp>
      <p:sp>
        <p:nvSpPr>
          <p:cNvPr id="989" name="Google Shape;989;p17"/>
          <p:cNvSpPr txBox="1"/>
          <p:nvPr/>
        </p:nvSpPr>
        <p:spPr>
          <a:xfrm>
            <a:off x="9752076" y="5650992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90" name="Google Shape;990;p17"/>
          <p:cNvSpPr txBox="1"/>
          <p:nvPr/>
        </p:nvSpPr>
        <p:spPr>
          <a:xfrm>
            <a:off x="10163556" y="5641467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Riesgo residual evaluado al cierre de cada iteración</a:t>
            </a:r>
            <a:endParaRPr/>
          </a:p>
        </p:txBody>
      </p:sp>
      <p:sp>
        <p:nvSpPr>
          <p:cNvPr id="991" name="Google Shape;991;p17"/>
          <p:cNvSpPr txBox="1"/>
          <p:nvPr/>
        </p:nvSpPr>
        <p:spPr>
          <a:xfrm>
            <a:off x="9752076" y="6453378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92" name="Google Shape;992;p17"/>
          <p:cNvSpPr txBox="1"/>
          <p:nvPr/>
        </p:nvSpPr>
        <p:spPr>
          <a:xfrm>
            <a:off x="10163556" y="6443853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Evidencia: pruebas, logs, actas y métricas operacionales</a:t>
            </a:r>
            <a:endParaRPr/>
          </a:p>
        </p:txBody>
      </p:sp>
      <p:sp>
        <p:nvSpPr>
          <p:cNvPr id="993" name="Google Shape;993;p17"/>
          <p:cNvSpPr txBox="1"/>
          <p:nvPr/>
        </p:nvSpPr>
        <p:spPr>
          <a:xfrm>
            <a:off x="9752076" y="7255764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94" name="Google Shape;994;p17"/>
          <p:cNvSpPr txBox="1"/>
          <p:nvPr/>
        </p:nvSpPr>
        <p:spPr>
          <a:xfrm>
            <a:off x="10163556" y="7246239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Escalamiento al responsable cuando el nivel aumenta</a:t>
            </a:r>
            <a:endParaRPr/>
          </a:p>
        </p:txBody>
      </p:sp>
      <p:sp>
        <p:nvSpPr>
          <p:cNvPr id="995" name="Google Shape;995;p17"/>
          <p:cNvSpPr txBox="1"/>
          <p:nvPr/>
        </p:nvSpPr>
        <p:spPr>
          <a:xfrm>
            <a:off x="9752076" y="8058150"/>
            <a:ext cx="548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96" name="Google Shape;996;p17"/>
          <p:cNvSpPr txBox="1"/>
          <p:nvPr/>
        </p:nvSpPr>
        <p:spPr>
          <a:xfrm>
            <a:off x="10163556" y="8048625"/>
            <a:ext cx="6652260" cy="83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26364A"/>
                </a:solidFill>
                <a:latin typeface="Arial"/>
                <a:ea typeface="Arial"/>
                <a:cs typeface="Arial"/>
                <a:sym typeface="Arial"/>
              </a:rPr>
              <a:t>Registro de decisión, acción, fecha y resultado</a:t>
            </a:r>
            <a:endParaRPr/>
          </a:p>
        </p:txBody>
      </p:sp>
      <p:grpSp>
        <p:nvGrpSpPr>
          <p:cNvPr id="997" name="Google Shape;997;p17"/>
          <p:cNvGrpSpPr/>
          <p:nvPr/>
        </p:nvGrpSpPr>
        <p:grpSpPr>
          <a:xfrm>
            <a:off x="1234440" y="9628632"/>
            <a:ext cx="10972800" cy="411480"/>
            <a:chOff x="0" y="0"/>
            <a:chExt cx="14630400" cy="548640"/>
          </a:xfrm>
        </p:grpSpPr>
        <p:sp>
          <p:nvSpPr>
            <p:cNvPr id="998" name="Google Shape;998;p17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17"/>
            <p:cNvSpPr txBox="1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Splash  ·  Capstone PTY4614  ·  Propuesta de proyecto</a:t>
              </a:r>
              <a:endParaRPr/>
            </a:p>
          </p:txBody>
        </p:sp>
      </p:grpSp>
      <p:grpSp>
        <p:nvGrpSpPr>
          <p:cNvPr id="1000" name="Google Shape;1000;p17"/>
          <p:cNvGrpSpPr/>
          <p:nvPr/>
        </p:nvGrpSpPr>
        <p:grpSpPr>
          <a:xfrm>
            <a:off x="15636240" y="9628632"/>
            <a:ext cx="1412748" cy="411480"/>
            <a:chOff x="0" y="0"/>
            <a:chExt cx="1883664" cy="548640"/>
          </a:xfrm>
        </p:grpSpPr>
        <p:sp>
          <p:nvSpPr>
            <p:cNvPr id="1001" name="Google Shape;1001;p17"/>
            <p:cNvSpPr/>
            <p:nvPr/>
          </p:nvSpPr>
          <p:spPr>
            <a:xfrm>
              <a:off x="0" y="0"/>
              <a:ext cx="1883664" cy="548640"/>
            </a:xfrm>
            <a:custGeom>
              <a:rect b="b" l="l" r="r" t="t"/>
              <a:pathLst>
                <a:path extrusionOk="0" h="548640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99" l="0" r="0" t="-168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17"/>
            <p:cNvSpPr txBox="1"/>
            <p:nvPr/>
          </p:nvSpPr>
          <p:spPr>
            <a:xfrm>
              <a:off x="0" y="0"/>
              <a:ext cx="18836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  <a:endParaRPr/>
            </a:p>
          </p:txBody>
        </p:sp>
      </p:grpSp>
      <p:sp>
        <p:nvSpPr>
          <p:cNvPr id="1003" name="Google Shape;1003;p17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8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8"/>
          <p:cNvSpPr txBox="1"/>
          <p:nvPr/>
        </p:nvSpPr>
        <p:spPr>
          <a:xfrm>
            <a:off x="1720215" y="788670"/>
            <a:ext cx="98183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/>
          </a:p>
        </p:txBody>
      </p:sp>
      <p:sp>
        <p:nvSpPr>
          <p:cNvPr id="1014" name="Google Shape;1014;p18"/>
          <p:cNvSpPr txBox="1"/>
          <p:nvPr/>
        </p:nvSpPr>
        <p:spPr>
          <a:xfrm>
            <a:off x="1120140" y="1322070"/>
            <a:ext cx="1410462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Acceso y catálogo</a:t>
            </a:r>
            <a:endParaRPr/>
          </a:p>
        </p:txBody>
      </p:sp>
      <p:sp>
        <p:nvSpPr>
          <p:cNvPr id="1015" name="Google Shape;1015;p18"/>
          <p:cNvSpPr txBox="1"/>
          <p:nvPr/>
        </p:nvSpPr>
        <p:spPr>
          <a:xfrm>
            <a:off x="1120140" y="2098358"/>
            <a:ext cx="15247620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Pantallas 1–2 del flujo validado para el MVP.</a:t>
            </a:r>
            <a:endParaRPr/>
          </a:p>
        </p:txBody>
      </p:sp>
      <p:sp>
        <p:nvSpPr>
          <p:cNvPr id="1016" name="Google Shape;1016;p18"/>
          <p:cNvSpPr/>
          <p:nvPr/>
        </p:nvSpPr>
        <p:spPr>
          <a:xfrm>
            <a:off x="2288" y="1313"/>
            <a:ext cx="18283428" cy="10284374"/>
          </a:xfrm>
          <a:custGeom>
            <a:rect b="b" l="l" r="r" t="t"/>
            <a:pathLst>
              <a:path extrusionOk="0" h="5979287" w="10629900">
                <a:moveTo>
                  <a:pt x="0" y="0"/>
                </a:moveTo>
                <a:lnTo>
                  <a:pt x="10629900" y="0"/>
                </a:lnTo>
                <a:lnTo>
                  <a:pt x="10629900" y="5979287"/>
                </a:lnTo>
                <a:lnTo>
                  <a:pt x="0" y="5979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18"/>
          <p:cNvSpPr txBox="1"/>
          <p:nvPr/>
        </p:nvSpPr>
        <p:spPr>
          <a:xfrm>
            <a:off x="1663065" y="8151495"/>
            <a:ext cx="14961870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El usuario accede y selecciona el servicio.</a:t>
            </a:r>
            <a:endParaRPr/>
          </a:p>
        </p:txBody>
      </p:sp>
      <p:sp>
        <p:nvSpPr>
          <p:cNvPr id="1018" name="Google Shape;1018;p18"/>
          <p:cNvSpPr txBox="1"/>
          <p:nvPr/>
        </p:nvSpPr>
        <p:spPr>
          <a:xfrm>
            <a:off x="1120140" y="9661207"/>
            <a:ext cx="1124712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019" name="Google Shape;1019;p18"/>
          <p:cNvSpPr txBox="1"/>
          <p:nvPr/>
        </p:nvSpPr>
        <p:spPr>
          <a:xfrm>
            <a:off x="15950565" y="9661207"/>
            <a:ext cx="1102995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020" name="Google Shape;1020;p18"/>
          <p:cNvSpPr/>
          <p:nvPr/>
        </p:nvSpPr>
        <p:spPr>
          <a:xfrm>
            <a:off x="14446321" y="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f9b34f8030_3_0"/>
          <p:cNvSpPr/>
          <p:nvPr/>
        </p:nvSpPr>
        <p:spPr>
          <a:xfrm>
            <a:off x="-20707" y="14907"/>
            <a:ext cx="18283428" cy="10284374"/>
          </a:xfrm>
          <a:custGeom>
            <a:rect b="b" l="l" r="r" t="t"/>
            <a:pathLst>
              <a:path extrusionOk="0" h="5979287" w="10629900">
                <a:moveTo>
                  <a:pt x="0" y="0"/>
                </a:moveTo>
                <a:lnTo>
                  <a:pt x="10629900" y="0"/>
                </a:lnTo>
                <a:lnTo>
                  <a:pt x="10629900" y="5979287"/>
                </a:lnTo>
                <a:lnTo>
                  <a:pt x="0" y="5979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g3f9b34f8030_3_0"/>
          <p:cNvSpPr/>
          <p:nvPr/>
        </p:nvSpPr>
        <p:spPr>
          <a:xfrm>
            <a:off x="14446321" y="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9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19"/>
          <p:cNvSpPr txBox="1"/>
          <p:nvPr/>
        </p:nvSpPr>
        <p:spPr>
          <a:xfrm>
            <a:off x="1720215" y="788670"/>
            <a:ext cx="98183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/>
          </a:p>
        </p:txBody>
      </p:sp>
      <p:sp>
        <p:nvSpPr>
          <p:cNvPr id="1041" name="Google Shape;1041;p19"/>
          <p:cNvSpPr txBox="1"/>
          <p:nvPr/>
        </p:nvSpPr>
        <p:spPr>
          <a:xfrm>
            <a:off x="1120140" y="1322070"/>
            <a:ext cx="1410462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Solicitud y agenda</a:t>
            </a:r>
            <a:endParaRPr/>
          </a:p>
        </p:txBody>
      </p:sp>
      <p:sp>
        <p:nvSpPr>
          <p:cNvPr id="1042" name="Google Shape;1042;p19"/>
          <p:cNvSpPr txBox="1"/>
          <p:nvPr/>
        </p:nvSpPr>
        <p:spPr>
          <a:xfrm>
            <a:off x="1120140" y="2098358"/>
            <a:ext cx="15247620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Pantallas 3–4 del flujo validado para el MVP.</a:t>
            </a:r>
            <a:endParaRPr/>
          </a:p>
        </p:txBody>
      </p:sp>
      <p:sp>
        <p:nvSpPr>
          <p:cNvPr id="1043" name="Google Shape;1043;p19"/>
          <p:cNvSpPr/>
          <p:nvPr/>
        </p:nvSpPr>
        <p:spPr>
          <a:xfrm>
            <a:off x="2288" y="1313"/>
            <a:ext cx="18283428" cy="10284374"/>
          </a:xfrm>
          <a:custGeom>
            <a:rect b="b" l="l" r="r" t="t"/>
            <a:pathLst>
              <a:path extrusionOk="0" h="5979287" w="10629900">
                <a:moveTo>
                  <a:pt x="0" y="0"/>
                </a:moveTo>
                <a:lnTo>
                  <a:pt x="10629900" y="0"/>
                </a:lnTo>
                <a:lnTo>
                  <a:pt x="10629900" y="5979287"/>
                </a:lnTo>
                <a:lnTo>
                  <a:pt x="0" y="5979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19"/>
          <p:cNvSpPr txBox="1"/>
          <p:nvPr/>
        </p:nvSpPr>
        <p:spPr>
          <a:xfrm>
            <a:off x="1663065" y="8151495"/>
            <a:ext cx="14961870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El usuario configura vehículo, dirección y horario.</a:t>
            </a:r>
            <a:endParaRPr/>
          </a:p>
        </p:txBody>
      </p:sp>
      <p:sp>
        <p:nvSpPr>
          <p:cNvPr id="1045" name="Google Shape;1045;p19"/>
          <p:cNvSpPr txBox="1"/>
          <p:nvPr/>
        </p:nvSpPr>
        <p:spPr>
          <a:xfrm>
            <a:off x="1120140" y="9661207"/>
            <a:ext cx="1124712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046" name="Google Shape;1046;p19"/>
          <p:cNvSpPr txBox="1"/>
          <p:nvPr/>
        </p:nvSpPr>
        <p:spPr>
          <a:xfrm>
            <a:off x="15950565" y="9661207"/>
            <a:ext cx="1102995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1047" name="Google Shape;1047;p19"/>
          <p:cNvSpPr/>
          <p:nvPr/>
        </p:nvSpPr>
        <p:spPr>
          <a:xfrm>
            <a:off x="14446321" y="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f9b34f8030_3_17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g3f9b34f8030_3_17"/>
          <p:cNvSpPr txBox="1"/>
          <p:nvPr/>
        </p:nvSpPr>
        <p:spPr>
          <a:xfrm>
            <a:off x="1720215" y="788670"/>
            <a:ext cx="98184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/>
          </a:p>
        </p:txBody>
      </p:sp>
      <p:sp>
        <p:nvSpPr>
          <p:cNvPr id="1058" name="Google Shape;1058;g3f9b34f8030_3_17"/>
          <p:cNvSpPr txBox="1"/>
          <p:nvPr/>
        </p:nvSpPr>
        <p:spPr>
          <a:xfrm>
            <a:off x="1120140" y="1322070"/>
            <a:ext cx="14104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Solicitud y agenda</a:t>
            </a:r>
            <a:endParaRPr/>
          </a:p>
        </p:txBody>
      </p:sp>
      <p:sp>
        <p:nvSpPr>
          <p:cNvPr id="1059" name="Google Shape;1059;g3f9b34f8030_3_17"/>
          <p:cNvSpPr txBox="1"/>
          <p:nvPr/>
        </p:nvSpPr>
        <p:spPr>
          <a:xfrm>
            <a:off x="1120140" y="2098358"/>
            <a:ext cx="15247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Pantallas 3–4 del flujo validado para el MVP.</a:t>
            </a:r>
            <a:endParaRPr/>
          </a:p>
        </p:txBody>
      </p:sp>
      <p:sp>
        <p:nvSpPr>
          <p:cNvPr id="1060" name="Google Shape;1060;g3f9b34f8030_3_17"/>
          <p:cNvSpPr/>
          <p:nvPr/>
        </p:nvSpPr>
        <p:spPr>
          <a:xfrm>
            <a:off x="0" y="0"/>
            <a:ext cx="18283428" cy="10284374"/>
          </a:xfrm>
          <a:custGeom>
            <a:rect b="b" l="l" r="r" t="t"/>
            <a:pathLst>
              <a:path extrusionOk="0" h="5979287" w="10629900">
                <a:moveTo>
                  <a:pt x="0" y="0"/>
                </a:moveTo>
                <a:lnTo>
                  <a:pt x="10629900" y="0"/>
                </a:lnTo>
                <a:lnTo>
                  <a:pt x="10629900" y="5979287"/>
                </a:lnTo>
                <a:lnTo>
                  <a:pt x="0" y="5979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g3f9b34f8030_3_17"/>
          <p:cNvSpPr txBox="1"/>
          <p:nvPr/>
        </p:nvSpPr>
        <p:spPr>
          <a:xfrm>
            <a:off x="1663065" y="8151495"/>
            <a:ext cx="149619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El usuario configura vehículo, dirección y horario.</a:t>
            </a:r>
            <a:endParaRPr/>
          </a:p>
        </p:txBody>
      </p:sp>
      <p:sp>
        <p:nvSpPr>
          <p:cNvPr id="1062" name="Google Shape;1062;g3f9b34f8030_3_17"/>
          <p:cNvSpPr txBox="1"/>
          <p:nvPr/>
        </p:nvSpPr>
        <p:spPr>
          <a:xfrm>
            <a:off x="1120140" y="9661207"/>
            <a:ext cx="112470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063" name="Google Shape;1063;g3f9b34f8030_3_17"/>
          <p:cNvSpPr txBox="1"/>
          <p:nvPr/>
        </p:nvSpPr>
        <p:spPr>
          <a:xfrm>
            <a:off x="15950565" y="9661207"/>
            <a:ext cx="11031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1064" name="Google Shape;1064;g3f9b34f8030_3_17"/>
          <p:cNvSpPr/>
          <p:nvPr/>
        </p:nvSpPr>
        <p:spPr>
          <a:xfrm>
            <a:off x="14446321" y="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20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0"/>
          <p:cNvSpPr txBox="1"/>
          <p:nvPr/>
        </p:nvSpPr>
        <p:spPr>
          <a:xfrm>
            <a:off x="1720215" y="788670"/>
            <a:ext cx="98183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/>
          </a:p>
        </p:txBody>
      </p:sp>
      <p:sp>
        <p:nvSpPr>
          <p:cNvPr id="1075" name="Google Shape;1075;p20"/>
          <p:cNvSpPr txBox="1"/>
          <p:nvPr/>
        </p:nvSpPr>
        <p:spPr>
          <a:xfrm>
            <a:off x="1120140" y="1322070"/>
            <a:ext cx="1410462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Confirmación y asignación</a:t>
            </a:r>
            <a:endParaRPr/>
          </a:p>
        </p:txBody>
      </p:sp>
      <p:sp>
        <p:nvSpPr>
          <p:cNvPr id="1076" name="Google Shape;1076;p20"/>
          <p:cNvSpPr txBox="1"/>
          <p:nvPr/>
        </p:nvSpPr>
        <p:spPr>
          <a:xfrm>
            <a:off x="1120140" y="2098358"/>
            <a:ext cx="15247620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Pantallas 5–6 del flujo validado para el MVP.</a:t>
            </a:r>
            <a:endParaRPr/>
          </a:p>
        </p:txBody>
      </p:sp>
      <p:sp>
        <p:nvSpPr>
          <p:cNvPr id="1077" name="Google Shape;1077;p20"/>
          <p:cNvSpPr/>
          <p:nvPr/>
        </p:nvSpPr>
        <p:spPr>
          <a:xfrm>
            <a:off x="0" y="0"/>
            <a:ext cx="18283428" cy="10284374"/>
          </a:xfrm>
          <a:custGeom>
            <a:rect b="b" l="l" r="r" t="t"/>
            <a:pathLst>
              <a:path extrusionOk="0" h="5979287" w="10629900">
                <a:moveTo>
                  <a:pt x="0" y="0"/>
                </a:moveTo>
                <a:lnTo>
                  <a:pt x="10629900" y="0"/>
                </a:lnTo>
                <a:lnTo>
                  <a:pt x="10629900" y="5979287"/>
                </a:lnTo>
                <a:lnTo>
                  <a:pt x="0" y="5979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0"/>
          <p:cNvSpPr txBox="1"/>
          <p:nvPr/>
        </p:nvSpPr>
        <p:spPr>
          <a:xfrm>
            <a:off x="1663065" y="8151495"/>
            <a:ext cx="14961870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La plataforma confirma y el lavador acepta.</a:t>
            </a:r>
            <a:endParaRPr/>
          </a:p>
        </p:txBody>
      </p:sp>
      <p:sp>
        <p:nvSpPr>
          <p:cNvPr id="1079" name="Google Shape;1079;p20"/>
          <p:cNvSpPr txBox="1"/>
          <p:nvPr/>
        </p:nvSpPr>
        <p:spPr>
          <a:xfrm>
            <a:off x="1120140" y="9661207"/>
            <a:ext cx="1124712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080" name="Google Shape;1080;p20"/>
          <p:cNvSpPr txBox="1"/>
          <p:nvPr/>
        </p:nvSpPr>
        <p:spPr>
          <a:xfrm>
            <a:off x="15950565" y="9661207"/>
            <a:ext cx="1102995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1081" name="Google Shape;1081;p20"/>
          <p:cNvSpPr/>
          <p:nvPr/>
        </p:nvSpPr>
        <p:spPr>
          <a:xfrm>
            <a:off x="14446321" y="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f9b34f8030_3_34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g3f9b34f8030_3_34"/>
          <p:cNvSpPr txBox="1"/>
          <p:nvPr/>
        </p:nvSpPr>
        <p:spPr>
          <a:xfrm>
            <a:off x="1720215" y="788670"/>
            <a:ext cx="98184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/>
          </a:p>
        </p:txBody>
      </p:sp>
      <p:sp>
        <p:nvSpPr>
          <p:cNvPr id="1092" name="Google Shape;1092;g3f9b34f8030_3_34"/>
          <p:cNvSpPr txBox="1"/>
          <p:nvPr/>
        </p:nvSpPr>
        <p:spPr>
          <a:xfrm>
            <a:off x="1120140" y="1322070"/>
            <a:ext cx="14104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Confirmación y asignación</a:t>
            </a:r>
            <a:endParaRPr/>
          </a:p>
        </p:txBody>
      </p:sp>
      <p:sp>
        <p:nvSpPr>
          <p:cNvPr id="1093" name="Google Shape;1093;g3f9b34f8030_3_34"/>
          <p:cNvSpPr txBox="1"/>
          <p:nvPr/>
        </p:nvSpPr>
        <p:spPr>
          <a:xfrm>
            <a:off x="1120140" y="2098358"/>
            <a:ext cx="15247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Pantallas 5–6 del flujo validado para el MVP.</a:t>
            </a:r>
            <a:endParaRPr/>
          </a:p>
        </p:txBody>
      </p:sp>
      <p:sp>
        <p:nvSpPr>
          <p:cNvPr id="1094" name="Google Shape;1094;g3f9b34f8030_3_34"/>
          <p:cNvSpPr/>
          <p:nvPr/>
        </p:nvSpPr>
        <p:spPr>
          <a:xfrm>
            <a:off x="0" y="0"/>
            <a:ext cx="18283428" cy="10284374"/>
          </a:xfrm>
          <a:custGeom>
            <a:rect b="b" l="l" r="r" t="t"/>
            <a:pathLst>
              <a:path extrusionOk="0" h="5979287" w="10629900">
                <a:moveTo>
                  <a:pt x="0" y="0"/>
                </a:moveTo>
                <a:lnTo>
                  <a:pt x="10629900" y="0"/>
                </a:lnTo>
                <a:lnTo>
                  <a:pt x="10629900" y="5979287"/>
                </a:lnTo>
                <a:lnTo>
                  <a:pt x="0" y="5979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g3f9b34f8030_3_34"/>
          <p:cNvSpPr txBox="1"/>
          <p:nvPr/>
        </p:nvSpPr>
        <p:spPr>
          <a:xfrm>
            <a:off x="1663065" y="8151495"/>
            <a:ext cx="149619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La plataforma confirma y el lavador acepta.</a:t>
            </a:r>
            <a:endParaRPr/>
          </a:p>
        </p:txBody>
      </p:sp>
      <p:sp>
        <p:nvSpPr>
          <p:cNvPr id="1096" name="Google Shape;1096;g3f9b34f8030_3_34"/>
          <p:cNvSpPr txBox="1"/>
          <p:nvPr/>
        </p:nvSpPr>
        <p:spPr>
          <a:xfrm>
            <a:off x="1120140" y="9661207"/>
            <a:ext cx="112470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097" name="Google Shape;1097;g3f9b34f8030_3_34"/>
          <p:cNvSpPr txBox="1"/>
          <p:nvPr/>
        </p:nvSpPr>
        <p:spPr>
          <a:xfrm>
            <a:off x="15950565" y="9661207"/>
            <a:ext cx="11031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1098" name="Google Shape;1098;g3f9b34f8030_3_34"/>
          <p:cNvSpPr/>
          <p:nvPr/>
        </p:nvSpPr>
        <p:spPr>
          <a:xfrm>
            <a:off x="14446321" y="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21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1"/>
          <p:cNvSpPr txBox="1"/>
          <p:nvPr/>
        </p:nvSpPr>
        <p:spPr>
          <a:xfrm>
            <a:off x="1720215" y="788670"/>
            <a:ext cx="98183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/>
          </a:p>
        </p:txBody>
      </p:sp>
      <p:sp>
        <p:nvSpPr>
          <p:cNvPr id="1109" name="Google Shape;1109;p21"/>
          <p:cNvSpPr txBox="1"/>
          <p:nvPr/>
        </p:nvSpPr>
        <p:spPr>
          <a:xfrm>
            <a:off x="1120140" y="1322070"/>
            <a:ext cx="1410462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Evidencia y seguimiento</a:t>
            </a:r>
            <a:endParaRPr/>
          </a:p>
        </p:txBody>
      </p:sp>
      <p:sp>
        <p:nvSpPr>
          <p:cNvPr id="1110" name="Google Shape;1110;p21"/>
          <p:cNvSpPr txBox="1"/>
          <p:nvPr/>
        </p:nvSpPr>
        <p:spPr>
          <a:xfrm>
            <a:off x="1120140" y="2098358"/>
            <a:ext cx="15247620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Pantallas 7–8 del flujo validado para el MVP.</a:t>
            </a:r>
            <a:endParaRPr/>
          </a:p>
        </p:txBody>
      </p:sp>
      <p:sp>
        <p:nvSpPr>
          <p:cNvPr id="1111" name="Google Shape;1111;p21"/>
          <p:cNvSpPr/>
          <p:nvPr/>
        </p:nvSpPr>
        <p:spPr>
          <a:xfrm>
            <a:off x="-12274" y="0"/>
            <a:ext cx="18283428" cy="10284374"/>
          </a:xfrm>
          <a:custGeom>
            <a:rect b="b" l="l" r="r" t="t"/>
            <a:pathLst>
              <a:path extrusionOk="0" h="5979287" w="10629900">
                <a:moveTo>
                  <a:pt x="0" y="0"/>
                </a:moveTo>
                <a:lnTo>
                  <a:pt x="10629900" y="0"/>
                </a:lnTo>
                <a:lnTo>
                  <a:pt x="10629900" y="5979287"/>
                </a:lnTo>
                <a:lnTo>
                  <a:pt x="0" y="5979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1"/>
          <p:cNvSpPr txBox="1"/>
          <p:nvPr/>
        </p:nvSpPr>
        <p:spPr>
          <a:xfrm>
            <a:off x="1663065" y="8151495"/>
            <a:ext cx="14961870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El lavador registra evidencia y el cliente sigue el avance.</a:t>
            </a:r>
            <a:endParaRPr/>
          </a:p>
        </p:txBody>
      </p:sp>
      <p:sp>
        <p:nvSpPr>
          <p:cNvPr id="1113" name="Google Shape;1113;p21"/>
          <p:cNvSpPr txBox="1"/>
          <p:nvPr/>
        </p:nvSpPr>
        <p:spPr>
          <a:xfrm>
            <a:off x="1120140" y="9661207"/>
            <a:ext cx="1124712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114" name="Google Shape;1114;p21"/>
          <p:cNvSpPr txBox="1"/>
          <p:nvPr/>
        </p:nvSpPr>
        <p:spPr>
          <a:xfrm>
            <a:off x="15950565" y="9661207"/>
            <a:ext cx="1102995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115" name="Google Shape;1115;p21"/>
          <p:cNvSpPr/>
          <p:nvPr/>
        </p:nvSpPr>
        <p:spPr>
          <a:xfrm>
            <a:off x="14446321" y="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f9b34f8030_3_51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g3f9b34f8030_3_51"/>
          <p:cNvSpPr txBox="1"/>
          <p:nvPr/>
        </p:nvSpPr>
        <p:spPr>
          <a:xfrm>
            <a:off x="1720215" y="788670"/>
            <a:ext cx="98184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/>
          </a:p>
        </p:txBody>
      </p:sp>
      <p:sp>
        <p:nvSpPr>
          <p:cNvPr id="1126" name="Google Shape;1126;g3f9b34f8030_3_51"/>
          <p:cNvSpPr txBox="1"/>
          <p:nvPr/>
        </p:nvSpPr>
        <p:spPr>
          <a:xfrm>
            <a:off x="1120140" y="1322070"/>
            <a:ext cx="14104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Evidencia y seguimiento</a:t>
            </a:r>
            <a:endParaRPr/>
          </a:p>
        </p:txBody>
      </p:sp>
      <p:sp>
        <p:nvSpPr>
          <p:cNvPr id="1127" name="Google Shape;1127;g3f9b34f8030_3_51"/>
          <p:cNvSpPr txBox="1"/>
          <p:nvPr/>
        </p:nvSpPr>
        <p:spPr>
          <a:xfrm>
            <a:off x="1120140" y="2098358"/>
            <a:ext cx="15247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Pantallas 7–8 del flujo validado para el MVP.</a:t>
            </a:r>
            <a:endParaRPr/>
          </a:p>
        </p:txBody>
      </p:sp>
      <p:sp>
        <p:nvSpPr>
          <p:cNvPr id="1128" name="Google Shape;1128;g3f9b34f8030_3_51"/>
          <p:cNvSpPr/>
          <p:nvPr/>
        </p:nvSpPr>
        <p:spPr>
          <a:xfrm>
            <a:off x="0" y="0"/>
            <a:ext cx="18283428" cy="10284374"/>
          </a:xfrm>
          <a:custGeom>
            <a:rect b="b" l="l" r="r" t="t"/>
            <a:pathLst>
              <a:path extrusionOk="0" h="5979287" w="10629900">
                <a:moveTo>
                  <a:pt x="0" y="0"/>
                </a:moveTo>
                <a:lnTo>
                  <a:pt x="10629900" y="0"/>
                </a:lnTo>
                <a:lnTo>
                  <a:pt x="10629900" y="5979287"/>
                </a:lnTo>
                <a:lnTo>
                  <a:pt x="0" y="5979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g3f9b34f8030_3_51"/>
          <p:cNvSpPr txBox="1"/>
          <p:nvPr/>
        </p:nvSpPr>
        <p:spPr>
          <a:xfrm>
            <a:off x="1663065" y="8151495"/>
            <a:ext cx="149619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El lavador registra evidencia y el cliente sigue el avance.</a:t>
            </a:r>
            <a:endParaRPr/>
          </a:p>
        </p:txBody>
      </p:sp>
      <p:sp>
        <p:nvSpPr>
          <p:cNvPr id="1130" name="Google Shape;1130;g3f9b34f8030_3_51"/>
          <p:cNvSpPr txBox="1"/>
          <p:nvPr/>
        </p:nvSpPr>
        <p:spPr>
          <a:xfrm>
            <a:off x="1120140" y="9661207"/>
            <a:ext cx="112470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131" name="Google Shape;1131;g3f9b34f8030_3_51"/>
          <p:cNvSpPr txBox="1"/>
          <p:nvPr/>
        </p:nvSpPr>
        <p:spPr>
          <a:xfrm>
            <a:off x="15950565" y="9661207"/>
            <a:ext cx="11031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132" name="Google Shape;1132;g3f9b34f8030_3_51"/>
          <p:cNvSpPr/>
          <p:nvPr/>
        </p:nvSpPr>
        <p:spPr>
          <a:xfrm>
            <a:off x="14446321" y="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22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2"/>
          <p:cNvSpPr txBox="1"/>
          <p:nvPr/>
        </p:nvSpPr>
        <p:spPr>
          <a:xfrm>
            <a:off x="1720215" y="788670"/>
            <a:ext cx="98183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/>
          </a:p>
        </p:txBody>
      </p:sp>
      <p:sp>
        <p:nvSpPr>
          <p:cNvPr id="1143" name="Google Shape;1143;p22"/>
          <p:cNvSpPr txBox="1"/>
          <p:nvPr/>
        </p:nvSpPr>
        <p:spPr>
          <a:xfrm>
            <a:off x="1120140" y="1322070"/>
            <a:ext cx="1410462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Cierre y calificación</a:t>
            </a:r>
            <a:endParaRPr/>
          </a:p>
        </p:txBody>
      </p:sp>
      <p:sp>
        <p:nvSpPr>
          <p:cNvPr id="1144" name="Google Shape;1144;p22"/>
          <p:cNvSpPr txBox="1"/>
          <p:nvPr/>
        </p:nvSpPr>
        <p:spPr>
          <a:xfrm>
            <a:off x="1120140" y="2098358"/>
            <a:ext cx="15247620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Pantallas 9–10 del flujo validado para el MVP.</a:t>
            </a:r>
            <a:endParaRPr/>
          </a:p>
        </p:txBody>
      </p:sp>
      <p:sp>
        <p:nvSpPr>
          <p:cNvPr id="1145" name="Google Shape;1145;p22"/>
          <p:cNvSpPr/>
          <p:nvPr/>
        </p:nvSpPr>
        <p:spPr>
          <a:xfrm>
            <a:off x="-12274" y="0"/>
            <a:ext cx="18283428" cy="10284374"/>
          </a:xfrm>
          <a:custGeom>
            <a:rect b="b" l="l" r="r" t="t"/>
            <a:pathLst>
              <a:path extrusionOk="0" h="5979287" w="10629900">
                <a:moveTo>
                  <a:pt x="0" y="0"/>
                </a:moveTo>
                <a:lnTo>
                  <a:pt x="10629900" y="0"/>
                </a:lnTo>
                <a:lnTo>
                  <a:pt x="10629900" y="5979287"/>
                </a:lnTo>
                <a:lnTo>
                  <a:pt x="0" y="5979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2"/>
          <p:cNvSpPr txBox="1"/>
          <p:nvPr/>
        </p:nvSpPr>
        <p:spPr>
          <a:xfrm>
            <a:off x="1663065" y="8151495"/>
            <a:ext cx="14961870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El servicio finaliza el pago y registra la reputación.</a:t>
            </a:r>
            <a:endParaRPr/>
          </a:p>
        </p:txBody>
      </p:sp>
      <p:sp>
        <p:nvSpPr>
          <p:cNvPr id="1147" name="Google Shape;1147;p22"/>
          <p:cNvSpPr txBox="1"/>
          <p:nvPr/>
        </p:nvSpPr>
        <p:spPr>
          <a:xfrm>
            <a:off x="1120140" y="9661207"/>
            <a:ext cx="11247120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148" name="Google Shape;1148;p22"/>
          <p:cNvSpPr txBox="1"/>
          <p:nvPr/>
        </p:nvSpPr>
        <p:spPr>
          <a:xfrm>
            <a:off x="15950565" y="9661207"/>
            <a:ext cx="1102995" cy="28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149" name="Google Shape;1149;p22"/>
          <p:cNvSpPr/>
          <p:nvPr/>
        </p:nvSpPr>
        <p:spPr>
          <a:xfrm>
            <a:off x="14446321" y="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f9b34f8030_3_68"/>
          <p:cNvSpPr/>
          <p:nvPr/>
        </p:nvSpPr>
        <p:spPr>
          <a:xfrm>
            <a:off x="1028700" y="785812"/>
            <a:ext cx="428625" cy="385762"/>
          </a:xfrm>
          <a:custGeom>
            <a:rect b="b" l="l" r="r" t="t"/>
            <a:pathLst>
              <a:path extrusionOk="0" h="514350" w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342900" y="0"/>
                </a:lnTo>
                <a:cubicBezTo>
                  <a:pt x="469138" y="0"/>
                  <a:pt x="571500" y="102362"/>
                  <a:pt x="571500" y="228600"/>
                </a:cubicBezTo>
                <a:lnTo>
                  <a:pt x="571500" y="285750"/>
                </a:lnTo>
                <a:cubicBezTo>
                  <a:pt x="571500" y="411988"/>
                  <a:pt x="469138" y="514350"/>
                  <a:pt x="342900" y="514350"/>
                </a:cubicBezTo>
                <a:lnTo>
                  <a:pt x="228600" y="514350"/>
                </a:lnTo>
                <a:cubicBezTo>
                  <a:pt x="102362" y="514350"/>
                  <a:pt x="0" y="411988"/>
                  <a:pt x="0" y="285750"/>
                </a:cubicBezTo>
                <a:close/>
              </a:path>
            </a:pathLst>
          </a:custGeom>
          <a:solidFill>
            <a:srgbClr val="0B5A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g3f9b34f8030_3_68"/>
          <p:cNvSpPr txBox="1"/>
          <p:nvPr/>
        </p:nvSpPr>
        <p:spPr>
          <a:xfrm>
            <a:off x="1720215" y="788670"/>
            <a:ext cx="98184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2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/>
          </a:p>
        </p:txBody>
      </p:sp>
      <p:sp>
        <p:nvSpPr>
          <p:cNvPr id="1160" name="Google Shape;1160;g3f9b34f8030_3_68"/>
          <p:cNvSpPr txBox="1"/>
          <p:nvPr/>
        </p:nvSpPr>
        <p:spPr>
          <a:xfrm>
            <a:off x="1120140" y="1322070"/>
            <a:ext cx="14104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102A43"/>
                </a:solidFill>
                <a:latin typeface="Calibri"/>
                <a:ea typeface="Calibri"/>
                <a:cs typeface="Calibri"/>
                <a:sym typeface="Calibri"/>
              </a:rPr>
              <a:t>Cierre y calificación</a:t>
            </a:r>
            <a:endParaRPr/>
          </a:p>
        </p:txBody>
      </p:sp>
      <p:sp>
        <p:nvSpPr>
          <p:cNvPr id="1161" name="Google Shape;1161;g3f9b34f8030_3_68"/>
          <p:cNvSpPr txBox="1"/>
          <p:nvPr/>
        </p:nvSpPr>
        <p:spPr>
          <a:xfrm>
            <a:off x="1120140" y="2098358"/>
            <a:ext cx="15247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083"/>
                </a:solidFill>
                <a:latin typeface="Calibri"/>
                <a:ea typeface="Calibri"/>
                <a:cs typeface="Calibri"/>
                <a:sym typeface="Calibri"/>
              </a:rPr>
              <a:t>Pantallas 9–10 del flujo validado para el MVP.</a:t>
            </a:r>
            <a:endParaRPr/>
          </a:p>
        </p:txBody>
      </p:sp>
      <p:sp>
        <p:nvSpPr>
          <p:cNvPr id="1162" name="Google Shape;1162;g3f9b34f8030_3_68"/>
          <p:cNvSpPr/>
          <p:nvPr/>
        </p:nvSpPr>
        <p:spPr>
          <a:xfrm>
            <a:off x="0" y="0"/>
            <a:ext cx="18283428" cy="10284374"/>
          </a:xfrm>
          <a:custGeom>
            <a:rect b="b" l="l" r="r" t="t"/>
            <a:pathLst>
              <a:path extrusionOk="0" h="5979287" w="10629900">
                <a:moveTo>
                  <a:pt x="0" y="0"/>
                </a:moveTo>
                <a:lnTo>
                  <a:pt x="10629900" y="0"/>
                </a:lnTo>
                <a:lnTo>
                  <a:pt x="10629900" y="5979287"/>
                </a:lnTo>
                <a:lnTo>
                  <a:pt x="0" y="5979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g3f9b34f8030_3_68"/>
          <p:cNvSpPr txBox="1"/>
          <p:nvPr/>
        </p:nvSpPr>
        <p:spPr>
          <a:xfrm>
            <a:off x="1663065" y="8151495"/>
            <a:ext cx="149619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7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El servicio finaliza el pago y registra la reputación.</a:t>
            </a:r>
            <a:endParaRPr/>
          </a:p>
        </p:txBody>
      </p:sp>
      <p:sp>
        <p:nvSpPr>
          <p:cNvPr id="1164" name="Google Shape;1164;g3f9b34f8030_3_68"/>
          <p:cNvSpPr txBox="1"/>
          <p:nvPr/>
        </p:nvSpPr>
        <p:spPr>
          <a:xfrm>
            <a:off x="1120140" y="9661207"/>
            <a:ext cx="112470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165" name="Google Shape;1165;g3f9b34f8030_3_68"/>
          <p:cNvSpPr txBox="1"/>
          <p:nvPr/>
        </p:nvSpPr>
        <p:spPr>
          <a:xfrm>
            <a:off x="15950565" y="9661207"/>
            <a:ext cx="11031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166" name="Google Shape;1166;g3f9b34f8030_3_68"/>
          <p:cNvSpPr/>
          <p:nvPr/>
        </p:nvSpPr>
        <p:spPr>
          <a:xfrm>
            <a:off x="14446321" y="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23"/>
          <p:cNvSpPr/>
          <p:nvPr/>
        </p:nvSpPr>
        <p:spPr>
          <a:xfrm>
            <a:off x="1234440" y="877824"/>
            <a:ext cx="466344" cy="411480"/>
          </a:xfrm>
          <a:custGeom>
            <a:rect b="b" l="l" r="r" t="t"/>
            <a:pathLst>
              <a:path extrusionOk="0" h="548640" w="621792">
                <a:moveTo>
                  <a:pt x="0" y="219456"/>
                </a:moveTo>
                <a:cubicBezTo>
                  <a:pt x="0" y="98298"/>
                  <a:pt x="98298" y="0"/>
                  <a:pt x="219456" y="0"/>
                </a:cubicBezTo>
                <a:lnTo>
                  <a:pt x="402336" y="0"/>
                </a:lnTo>
                <a:cubicBezTo>
                  <a:pt x="523494" y="0"/>
                  <a:pt x="621792" y="98298"/>
                  <a:pt x="621792" y="219456"/>
                </a:cubicBezTo>
                <a:lnTo>
                  <a:pt x="621792" y="329184"/>
                </a:lnTo>
                <a:cubicBezTo>
                  <a:pt x="621792" y="450342"/>
                  <a:pt x="523494" y="548640"/>
                  <a:pt x="402336" y="548640"/>
                </a:cubicBezTo>
                <a:lnTo>
                  <a:pt x="219456" y="548640"/>
                </a:lnTo>
                <a:cubicBezTo>
                  <a:pt x="98298" y="548640"/>
                  <a:pt x="0" y="450342"/>
                  <a:pt x="0" y="329184"/>
                </a:cubicBezTo>
                <a:close/>
              </a:path>
            </a:pathLst>
          </a:custGeom>
          <a:solidFill>
            <a:srgbClr val="164E8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6" name="Google Shape;1176;p23"/>
          <p:cNvGrpSpPr/>
          <p:nvPr/>
        </p:nvGrpSpPr>
        <p:grpSpPr>
          <a:xfrm>
            <a:off x="1865376" y="850392"/>
            <a:ext cx="8229600" cy="480060"/>
            <a:chOff x="0" y="0"/>
            <a:chExt cx="10972800" cy="640080"/>
          </a:xfrm>
        </p:grpSpPr>
        <p:sp>
          <p:nvSpPr>
            <p:cNvPr id="1177" name="Google Shape;1177;p23"/>
            <p:cNvSpPr/>
            <p:nvPr/>
          </p:nvSpPr>
          <p:spPr>
            <a:xfrm>
              <a:off x="0" y="0"/>
              <a:ext cx="10972800" cy="640080"/>
            </a:xfrm>
            <a:custGeom>
              <a:rect b="b" l="l" r="r" t="t"/>
              <a:pathLst>
                <a:path extrusionOk="0"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4046" l="0" r="0" t="-28404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23"/>
            <p:cNvSpPr txBox="1"/>
            <p:nvPr/>
          </p:nvSpPr>
          <p:spPr>
            <a:xfrm>
              <a:off x="0" y="0"/>
              <a:ext cx="109728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164E86"/>
                  </a:solidFill>
                  <a:latin typeface="Arial"/>
                  <a:ea typeface="Arial"/>
                  <a:cs typeface="Arial"/>
                  <a:sym typeface="Arial"/>
                </a:rPr>
                <a:t>EXPANSIÓN DE LA PLATAFORMA</a:t>
              </a:r>
              <a:endParaRPr/>
            </a:p>
          </p:txBody>
        </p:sp>
      </p:grpSp>
      <p:sp>
        <p:nvSpPr>
          <p:cNvPr id="1179" name="Google Shape;1179;p23"/>
          <p:cNvSpPr txBox="1"/>
          <p:nvPr/>
        </p:nvSpPr>
        <p:spPr>
          <a:xfrm>
            <a:off x="1234440" y="1389507"/>
            <a:ext cx="15773400" cy="1243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Nuevas verticales sobre una misma base</a:t>
            </a:r>
            <a:endParaRPr/>
          </a:p>
        </p:txBody>
      </p:sp>
      <p:sp>
        <p:nvSpPr>
          <p:cNvPr id="1180" name="Google Shape;1180;p23"/>
          <p:cNvSpPr/>
          <p:nvPr/>
        </p:nvSpPr>
        <p:spPr>
          <a:xfrm>
            <a:off x="1234440" y="2674620"/>
            <a:ext cx="15814549" cy="1536192"/>
          </a:xfrm>
          <a:custGeom>
            <a:rect b="b" l="l" r="r" t="t"/>
            <a:pathLst>
              <a:path extrusionOk="0" h="2048256" w="21086065">
                <a:moveTo>
                  <a:pt x="0" y="143383"/>
                </a:moveTo>
                <a:cubicBezTo>
                  <a:pt x="0" y="64135"/>
                  <a:pt x="64135" y="0"/>
                  <a:pt x="143383" y="0"/>
                </a:cubicBezTo>
                <a:lnTo>
                  <a:pt x="20942681" y="0"/>
                </a:lnTo>
                <a:cubicBezTo>
                  <a:pt x="21021929" y="0"/>
                  <a:pt x="21086065" y="64135"/>
                  <a:pt x="21086065" y="143383"/>
                </a:cubicBezTo>
                <a:lnTo>
                  <a:pt x="21086065" y="1904873"/>
                </a:lnTo>
                <a:cubicBezTo>
                  <a:pt x="21086065" y="1984121"/>
                  <a:pt x="21021929" y="2048256"/>
                  <a:pt x="20942681" y="2048256"/>
                </a:cubicBezTo>
                <a:lnTo>
                  <a:pt x="143383" y="2048256"/>
                </a:lnTo>
                <a:cubicBezTo>
                  <a:pt x="64135" y="2048256"/>
                  <a:pt x="0" y="1984121"/>
                  <a:pt x="0" y="1904873"/>
                </a:cubicBezTo>
                <a:close/>
              </a:path>
            </a:pathLst>
          </a:custGeom>
          <a:solidFill>
            <a:srgbClr val="EAF2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23"/>
          <p:cNvSpPr/>
          <p:nvPr/>
        </p:nvSpPr>
        <p:spPr>
          <a:xfrm>
            <a:off x="1234440" y="2674620"/>
            <a:ext cx="219456" cy="1536192"/>
          </a:xfrm>
          <a:custGeom>
            <a:rect b="b" l="l" r="r" t="t"/>
            <a:pathLst>
              <a:path extrusionOk="0" h="2048256" w="292608">
                <a:moveTo>
                  <a:pt x="0" y="0"/>
                </a:moveTo>
                <a:lnTo>
                  <a:pt x="292608" y="0"/>
                </a:lnTo>
                <a:lnTo>
                  <a:pt x="292608" y="2048256"/>
                </a:lnTo>
                <a:lnTo>
                  <a:pt x="0" y="2048256"/>
                </a:lnTo>
                <a:close/>
              </a:path>
            </a:pathLst>
          </a:custGeom>
          <a:solidFill>
            <a:srgbClr val="0A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2" name="Google Shape;1182;p23"/>
          <p:cNvGrpSpPr/>
          <p:nvPr/>
        </p:nvGrpSpPr>
        <p:grpSpPr>
          <a:xfrm>
            <a:off x="1714500" y="2674620"/>
            <a:ext cx="3703320" cy="1536192"/>
            <a:chOff x="0" y="0"/>
            <a:chExt cx="4937760" cy="2048256"/>
          </a:xfrm>
        </p:grpSpPr>
        <p:sp>
          <p:nvSpPr>
            <p:cNvPr id="1183" name="Google Shape;1183;p23"/>
            <p:cNvSpPr/>
            <p:nvPr/>
          </p:nvSpPr>
          <p:spPr>
            <a:xfrm>
              <a:off x="0" y="0"/>
              <a:ext cx="4937760" cy="2048256"/>
            </a:xfrm>
            <a:custGeom>
              <a:rect b="b" l="l" r="r" t="t"/>
              <a:pathLst>
                <a:path extrusionOk="0" h="204825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222" r="-322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23"/>
            <p:cNvSpPr txBox="1"/>
            <p:nvPr/>
          </p:nvSpPr>
          <p:spPr>
            <a:xfrm>
              <a:off x="0" y="0"/>
              <a:ext cx="4937760" cy="2048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0A2A4A"/>
                  </a:solidFill>
                  <a:latin typeface="Arial"/>
                  <a:ea typeface="Arial"/>
                  <a:cs typeface="Arial"/>
                  <a:sym typeface="Arial"/>
                </a:rPr>
                <a:t>Primera vertical</a:t>
              </a:r>
              <a:endParaRPr/>
            </a:p>
          </p:txBody>
        </p:sp>
      </p:grpSp>
      <p:grpSp>
        <p:nvGrpSpPr>
          <p:cNvPr id="1185" name="Google Shape;1185;p23"/>
          <p:cNvGrpSpPr/>
          <p:nvPr/>
        </p:nvGrpSpPr>
        <p:grpSpPr>
          <a:xfrm>
            <a:off x="5545455" y="3104007"/>
            <a:ext cx="3570160" cy="677418"/>
            <a:chOff x="0" y="0"/>
            <a:chExt cx="4760214" cy="903224"/>
          </a:xfrm>
        </p:grpSpPr>
        <p:sp>
          <p:nvSpPr>
            <p:cNvPr id="1186" name="Google Shape;1186;p23"/>
            <p:cNvSpPr/>
            <p:nvPr/>
          </p:nvSpPr>
          <p:spPr>
            <a:xfrm>
              <a:off x="0" y="0"/>
              <a:ext cx="4760214" cy="903224"/>
            </a:xfrm>
            <a:custGeom>
              <a:rect b="b" l="l" r="r" t="t"/>
              <a:pathLst>
                <a:path extrusionOk="0" h="903224" w="4760214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398899" y="0"/>
                  </a:lnTo>
                  <a:cubicBezTo>
                    <a:pt x="4598416" y="0"/>
                    <a:pt x="4760214" y="161798"/>
                    <a:pt x="4760214" y="361315"/>
                  </a:cubicBezTo>
                  <a:lnTo>
                    <a:pt x="4760214" y="541909"/>
                  </a:lnTo>
                  <a:cubicBezTo>
                    <a:pt x="4760214" y="741426"/>
                    <a:pt x="4598416" y="903224"/>
                    <a:pt x="4398899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23"/>
            <p:cNvSpPr txBox="1"/>
            <p:nvPr/>
          </p:nvSpPr>
          <p:spPr>
            <a:xfrm>
              <a:off x="0" y="0"/>
              <a:ext cx="4760163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Lavado de vehículos</a:t>
              </a:r>
              <a:endParaRPr/>
            </a:p>
          </p:txBody>
        </p:sp>
      </p:grpSp>
      <p:grpSp>
        <p:nvGrpSpPr>
          <p:cNvPr id="1188" name="Google Shape;1188;p23"/>
          <p:cNvGrpSpPr/>
          <p:nvPr/>
        </p:nvGrpSpPr>
        <p:grpSpPr>
          <a:xfrm>
            <a:off x="9261119" y="3104007"/>
            <a:ext cx="3570160" cy="677418"/>
            <a:chOff x="0" y="0"/>
            <a:chExt cx="4760214" cy="903224"/>
          </a:xfrm>
        </p:grpSpPr>
        <p:sp>
          <p:nvSpPr>
            <p:cNvPr id="1189" name="Google Shape;1189;p23"/>
            <p:cNvSpPr/>
            <p:nvPr/>
          </p:nvSpPr>
          <p:spPr>
            <a:xfrm>
              <a:off x="0" y="0"/>
              <a:ext cx="4760214" cy="903224"/>
            </a:xfrm>
            <a:custGeom>
              <a:rect b="b" l="l" r="r" t="t"/>
              <a:pathLst>
                <a:path extrusionOk="0" h="903224" w="4760214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398899" y="0"/>
                  </a:lnTo>
                  <a:cubicBezTo>
                    <a:pt x="4598416" y="0"/>
                    <a:pt x="4760214" y="161798"/>
                    <a:pt x="4760214" y="361315"/>
                  </a:cubicBezTo>
                  <a:lnTo>
                    <a:pt x="4760214" y="541909"/>
                  </a:lnTo>
                  <a:cubicBezTo>
                    <a:pt x="4760214" y="741426"/>
                    <a:pt x="4598416" y="903224"/>
                    <a:pt x="4398899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23"/>
            <p:cNvSpPr txBox="1"/>
            <p:nvPr/>
          </p:nvSpPr>
          <p:spPr>
            <a:xfrm>
              <a:off x="0" y="0"/>
              <a:ext cx="4760163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Operación acotada</a:t>
              </a:r>
              <a:endParaRPr/>
            </a:p>
          </p:txBody>
        </p:sp>
      </p:grpSp>
      <p:grpSp>
        <p:nvGrpSpPr>
          <p:cNvPr id="1191" name="Google Shape;1191;p23"/>
          <p:cNvGrpSpPr/>
          <p:nvPr/>
        </p:nvGrpSpPr>
        <p:grpSpPr>
          <a:xfrm>
            <a:off x="12976784" y="3104007"/>
            <a:ext cx="2669000" cy="677418"/>
            <a:chOff x="0" y="0"/>
            <a:chExt cx="3558667" cy="903224"/>
          </a:xfrm>
        </p:grpSpPr>
        <p:sp>
          <p:nvSpPr>
            <p:cNvPr id="1192" name="Google Shape;1192;p23"/>
            <p:cNvSpPr/>
            <p:nvPr/>
          </p:nvSpPr>
          <p:spPr>
            <a:xfrm>
              <a:off x="0" y="0"/>
              <a:ext cx="3558667" cy="903224"/>
            </a:xfrm>
            <a:custGeom>
              <a:rect b="b" l="l" r="r" t="t"/>
              <a:pathLst>
                <a:path extrusionOk="0" h="903224" w="3558667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3197352" y="0"/>
                  </a:lnTo>
                  <a:cubicBezTo>
                    <a:pt x="3396869" y="0"/>
                    <a:pt x="3558667" y="161798"/>
                    <a:pt x="3558667" y="361315"/>
                  </a:cubicBezTo>
                  <a:lnTo>
                    <a:pt x="3558667" y="541909"/>
                  </a:lnTo>
                  <a:cubicBezTo>
                    <a:pt x="3558667" y="741426"/>
                    <a:pt x="3396869" y="903224"/>
                    <a:pt x="3197352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23"/>
            <p:cNvSpPr txBox="1"/>
            <p:nvPr/>
          </p:nvSpPr>
          <p:spPr>
            <a:xfrm>
              <a:off x="0" y="0"/>
              <a:ext cx="3558642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Validación del modelo</a:t>
              </a:r>
              <a:endParaRPr/>
            </a:p>
          </p:txBody>
        </p:sp>
      </p:grpSp>
      <p:sp>
        <p:nvSpPr>
          <p:cNvPr id="1194" name="Google Shape;1194;p23"/>
          <p:cNvSpPr/>
          <p:nvPr/>
        </p:nvSpPr>
        <p:spPr>
          <a:xfrm>
            <a:off x="8922258" y="4183380"/>
            <a:ext cx="466344" cy="219456"/>
          </a:xfrm>
          <a:custGeom>
            <a:rect b="b" l="l" r="r" t="t"/>
            <a:pathLst>
              <a:path extrusionOk="0" h="292608" w="621792">
                <a:moveTo>
                  <a:pt x="0" y="131699"/>
                </a:moveTo>
                <a:lnTo>
                  <a:pt x="139954" y="131699"/>
                </a:lnTo>
                <a:lnTo>
                  <a:pt x="139954" y="0"/>
                </a:lnTo>
                <a:lnTo>
                  <a:pt x="481838" y="0"/>
                </a:lnTo>
                <a:lnTo>
                  <a:pt x="481838" y="131699"/>
                </a:lnTo>
                <a:lnTo>
                  <a:pt x="621792" y="131699"/>
                </a:lnTo>
                <a:lnTo>
                  <a:pt x="310896" y="292608"/>
                </a:lnTo>
                <a:close/>
              </a:path>
            </a:pathLst>
          </a:custGeom>
          <a:solidFill>
            <a:srgbClr val="6272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3"/>
          <p:cNvSpPr/>
          <p:nvPr/>
        </p:nvSpPr>
        <p:spPr>
          <a:xfrm>
            <a:off x="1234440" y="4402836"/>
            <a:ext cx="15814549" cy="1536192"/>
          </a:xfrm>
          <a:custGeom>
            <a:rect b="b" l="l" r="r" t="t"/>
            <a:pathLst>
              <a:path extrusionOk="0" h="2048256" w="21086065">
                <a:moveTo>
                  <a:pt x="0" y="143383"/>
                </a:moveTo>
                <a:cubicBezTo>
                  <a:pt x="0" y="64135"/>
                  <a:pt x="64135" y="0"/>
                  <a:pt x="143383" y="0"/>
                </a:cubicBezTo>
                <a:lnTo>
                  <a:pt x="20942681" y="0"/>
                </a:lnTo>
                <a:cubicBezTo>
                  <a:pt x="21021929" y="0"/>
                  <a:pt x="21086065" y="64135"/>
                  <a:pt x="21086065" y="143383"/>
                </a:cubicBezTo>
                <a:lnTo>
                  <a:pt x="21086065" y="1904873"/>
                </a:lnTo>
                <a:cubicBezTo>
                  <a:pt x="21086065" y="1984121"/>
                  <a:pt x="21021929" y="2048256"/>
                  <a:pt x="20942681" y="2048256"/>
                </a:cubicBezTo>
                <a:lnTo>
                  <a:pt x="143383" y="2048256"/>
                </a:lnTo>
                <a:cubicBezTo>
                  <a:pt x="64135" y="2048256"/>
                  <a:pt x="0" y="1984121"/>
                  <a:pt x="0" y="1904873"/>
                </a:cubicBezTo>
                <a:close/>
              </a:path>
            </a:pathLst>
          </a:custGeom>
          <a:solidFill>
            <a:srgbClr val="E8F5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23"/>
          <p:cNvSpPr/>
          <p:nvPr/>
        </p:nvSpPr>
        <p:spPr>
          <a:xfrm>
            <a:off x="1234440" y="4402836"/>
            <a:ext cx="219456" cy="1536192"/>
          </a:xfrm>
          <a:custGeom>
            <a:rect b="b" l="l" r="r" t="t"/>
            <a:pathLst>
              <a:path extrusionOk="0" h="2048256" w="292608">
                <a:moveTo>
                  <a:pt x="0" y="0"/>
                </a:moveTo>
                <a:lnTo>
                  <a:pt x="292608" y="0"/>
                </a:lnTo>
                <a:lnTo>
                  <a:pt x="292608" y="2048256"/>
                </a:lnTo>
                <a:lnTo>
                  <a:pt x="0" y="2048256"/>
                </a:lnTo>
                <a:close/>
              </a:path>
            </a:pathLst>
          </a:custGeom>
          <a:solidFill>
            <a:srgbClr val="1687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7" name="Google Shape;1197;p23"/>
          <p:cNvGrpSpPr/>
          <p:nvPr/>
        </p:nvGrpSpPr>
        <p:grpSpPr>
          <a:xfrm>
            <a:off x="1714500" y="4402836"/>
            <a:ext cx="3703320" cy="1536192"/>
            <a:chOff x="0" y="0"/>
            <a:chExt cx="4937760" cy="2048256"/>
          </a:xfrm>
        </p:grpSpPr>
        <p:sp>
          <p:nvSpPr>
            <p:cNvPr id="1198" name="Google Shape;1198;p23"/>
            <p:cNvSpPr/>
            <p:nvPr/>
          </p:nvSpPr>
          <p:spPr>
            <a:xfrm>
              <a:off x="0" y="0"/>
              <a:ext cx="4937760" cy="2048256"/>
            </a:xfrm>
            <a:custGeom>
              <a:rect b="b" l="l" r="r" t="t"/>
              <a:pathLst>
                <a:path extrusionOk="0" h="204825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222" r="-322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23"/>
            <p:cNvSpPr txBox="1"/>
            <p:nvPr/>
          </p:nvSpPr>
          <p:spPr>
            <a:xfrm>
              <a:off x="0" y="0"/>
              <a:ext cx="4937760" cy="2048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168763"/>
                  </a:solidFill>
                  <a:latin typeface="Arial"/>
                  <a:ea typeface="Arial"/>
                  <a:cs typeface="Arial"/>
                  <a:sym typeface="Arial"/>
                </a:rPr>
                <a:t>Hogar</a:t>
              </a:r>
              <a:endParaRPr/>
            </a:p>
          </p:txBody>
        </p:sp>
      </p:grpSp>
      <p:grpSp>
        <p:nvGrpSpPr>
          <p:cNvPr id="1200" name="Google Shape;1200;p23"/>
          <p:cNvGrpSpPr/>
          <p:nvPr/>
        </p:nvGrpSpPr>
        <p:grpSpPr>
          <a:xfrm>
            <a:off x="5545455" y="4832223"/>
            <a:ext cx="3470053" cy="677418"/>
            <a:chOff x="0" y="0"/>
            <a:chExt cx="4626737" cy="903224"/>
          </a:xfrm>
        </p:grpSpPr>
        <p:sp>
          <p:nvSpPr>
            <p:cNvPr id="1201" name="Google Shape;1201;p23"/>
            <p:cNvSpPr/>
            <p:nvPr/>
          </p:nvSpPr>
          <p:spPr>
            <a:xfrm>
              <a:off x="0" y="0"/>
              <a:ext cx="4626737" cy="903224"/>
            </a:xfrm>
            <a:custGeom>
              <a:rect b="b" l="l" r="r" t="t"/>
              <a:pathLst>
                <a:path extrusionOk="0" h="903224" w="4626737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265422" y="0"/>
                  </a:lnTo>
                  <a:cubicBezTo>
                    <a:pt x="4464939" y="0"/>
                    <a:pt x="4626737" y="161798"/>
                    <a:pt x="4626737" y="361315"/>
                  </a:cubicBezTo>
                  <a:lnTo>
                    <a:pt x="4626737" y="541909"/>
                  </a:lnTo>
                  <a:cubicBezTo>
                    <a:pt x="4626737" y="741426"/>
                    <a:pt x="4464939" y="903224"/>
                    <a:pt x="4265422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23"/>
            <p:cNvSpPr txBox="1"/>
            <p:nvPr/>
          </p:nvSpPr>
          <p:spPr>
            <a:xfrm>
              <a:off x="0" y="0"/>
              <a:ext cx="4626661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Limpieza de casas</a:t>
              </a:r>
              <a:endParaRPr/>
            </a:p>
          </p:txBody>
        </p:sp>
      </p:grpSp>
      <p:grpSp>
        <p:nvGrpSpPr>
          <p:cNvPr id="1203" name="Google Shape;1203;p23"/>
          <p:cNvGrpSpPr/>
          <p:nvPr/>
        </p:nvGrpSpPr>
        <p:grpSpPr>
          <a:xfrm>
            <a:off x="9160993" y="4832223"/>
            <a:ext cx="2568892" cy="677418"/>
            <a:chOff x="0" y="0"/>
            <a:chExt cx="3425190" cy="903224"/>
          </a:xfrm>
        </p:grpSpPr>
        <p:sp>
          <p:nvSpPr>
            <p:cNvPr id="1204" name="Google Shape;1204;p23"/>
            <p:cNvSpPr/>
            <p:nvPr/>
          </p:nvSpPr>
          <p:spPr>
            <a:xfrm>
              <a:off x="0" y="0"/>
              <a:ext cx="3425190" cy="903224"/>
            </a:xfrm>
            <a:custGeom>
              <a:rect b="b" l="l" r="r" t="t"/>
              <a:pathLst>
                <a:path extrusionOk="0" h="903224" w="3425190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3063875" y="0"/>
                  </a:lnTo>
                  <a:cubicBezTo>
                    <a:pt x="3263392" y="0"/>
                    <a:pt x="3425190" y="161798"/>
                    <a:pt x="3425190" y="361315"/>
                  </a:cubicBezTo>
                  <a:lnTo>
                    <a:pt x="3425190" y="541909"/>
                  </a:lnTo>
                  <a:cubicBezTo>
                    <a:pt x="3425190" y="741426"/>
                    <a:pt x="3263392" y="903224"/>
                    <a:pt x="3063875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23"/>
            <p:cNvSpPr txBox="1"/>
            <p:nvPr/>
          </p:nvSpPr>
          <p:spPr>
            <a:xfrm>
              <a:off x="0" y="0"/>
              <a:ext cx="3425139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Jardinería</a:t>
              </a:r>
              <a:endParaRPr/>
            </a:p>
          </p:txBody>
        </p:sp>
      </p:grpSp>
      <p:grpSp>
        <p:nvGrpSpPr>
          <p:cNvPr id="1206" name="Google Shape;1206;p23"/>
          <p:cNvGrpSpPr/>
          <p:nvPr/>
        </p:nvGrpSpPr>
        <p:grpSpPr>
          <a:xfrm>
            <a:off x="11875389" y="4832223"/>
            <a:ext cx="3722370" cy="677418"/>
            <a:chOff x="0" y="0"/>
            <a:chExt cx="4963160" cy="903224"/>
          </a:xfrm>
        </p:grpSpPr>
        <p:sp>
          <p:nvSpPr>
            <p:cNvPr id="1207" name="Google Shape;1207;p23"/>
            <p:cNvSpPr/>
            <p:nvPr/>
          </p:nvSpPr>
          <p:spPr>
            <a:xfrm>
              <a:off x="0" y="0"/>
              <a:ext cx="4963160" cy="903224"/>
            </a:xfrm>
            <a:custGeom>
              <a:rect b="b" l="l" r="r" t="t"/>
              <a:pathLst>
                <a:path extrusionOk="0" h="903224" w="4963160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601845" y="0"/>
                  </a:lnTo>
                  <a:cubicBezTo>
                    <a:pt x="4801362" y="0"/>
                    <a:pt x="4963160" y="161798"/>
                    <a:pt x="4963160" y="361315"/>
                  </a:cubicBezTo>
                  <a:lnTo>
                    <a:pt x="4963160" y="541909"/>
                  </a:lnTo>
                  <a:cubicBezTo>
                    <a:pt x="4963160" y="741426"/>
                    <a:pt x="4801362" y="903224"/>
                    <a:pt x="4601845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23"/>
            <p:cNvSpPr txBox="1"/>
            <p:nvPr/>
          </p:nvSpPr>
          <p:spPr>
            <a:xfrm>
              <a:off x="0" y="0"/>
              <a:ext cx="4963160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Limpieza especializada</a:t>
              </a:r>
              <a:endParaRPr/>
            </a:p>
          </p:txBody>
        </p:sp>
      </p:grpSp>
      <p:sp>
        <p:nvSpPr>
          <p:cNvPr id="1209" name="Google Shape;1209;p23"/>
          <p:cNvSpPr/>
          <p:nvPr/>
        </p:nvSpPr>
        <p:spPr>
          <a:xfrm>
            <a:off x="8922258" y="5911596"/>
            <a:ext cx="466344" cy="219456"/>
          </a:xfrm>
          <a:custGeom>
            <a:rect b="b" l="l" r="r" t="t"/>
            <a:pathLst>
              <a:path extrusionOk="0" h="292608" w="621792">
                <a:moveTo>
                  <a:pt x="0" y="131699"/>
                </a:moveTo>
                <a:lnTo>
                  <a:pt x="139954" y="131699"/>
                </a:lnTo>
                <a:lnTo>
                  <a:pt x="139954" y="0"/>
                </a:lnTo>
                <a:lnTo>
                  <a:pt x="481838" y="0"/>
                </a:lnTo>
                <a:lnTo>
                  <a:pt x="481838" y="131699"/>
                </a:lnTo>
                <a:lnTo>
                  <a:pt x="621792" y="131699"/>
                </a:lnTo>
                <a:lnTo>
                  <a:pt x="310896" y="292608"/>
                </a:lnTo>
                <a:close/>
              </a:path>
            </a:pathLst>
          </a:custGeom>
          <a:solidFill>
            <a:srgbClr val="6272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3"/>
          <p:cNvSpPr/>
          <p:nvPr/>
        </p:nvSpPr>
        <p:spPr>
          <a:xfrm>
            <a:off x="1234440" y="6131052"/>
            <a:ext cx="15814549" cy="1536192"/>
          </a:xfrm>
          <a:custGeom>
            <a:rect b="b" l="l" r="r" t="t"/>
            <a:pathLst>
              <a:path extrusionOk="0" h="2048256" w="21086065">
                <a:moveTo>
                  <a:pt x="0" y="143383"/>
                </a:moveTo>
                <a:cubicBezTo>
                  <a:pt x="0" y="64135"/>
                  <a:pt x="64135" y="0"/>
                  <a:pt x="143383" y="0"/>
                </a:cubicBezTo>
                <a:lnTo>
                  <a:pt x="20942681" y="0"/>
                </a:lnTo>
                <a:cubicBezTo>
                  <a:pt x="21021929" y="0"/>
                  <a:pt x="21086065" y="64135"/>
                  <a:pt x="21086065" y="143383"/>
                </a:cubicBezTo>
                <a:lnTo>
                  <a:pt x="21086065" y="1904873"/>
                </a:lnTo>
                <a:cubicBezTo>
                  <a:pt x="21086065" y="1984121"/>
                  <a:pt x="21021929" y="2048256"/>
                  <a:pt x="20942681" y="2048256"/>
                </a:cubicBezTo>
                <a:lnTo>
                  <a:pt x="143383" y="2048256"/>
                </a:lnTo>
                <a:cubicBezTo>
                  <a:pt x="64135" y="2048256"/>
                  <a:pt x="0" y="1984121"/>
                  <a:pt x="0" y="1904873"/>
                </a:cubicBezTo>
                <a:close/>
              </a:path>
            </a:pathLst>
          </a:custGeom>
          <a:solidFill>
            <a:srgbClr val="FBF2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23"/>
          <p:cNvSpPr/>
          <p:nvPr/>
        </p:nvSpPr>
        <p:spPr>
          <a:xfrm>
            <a:off x="1234440" y="6131052"/>
            <a:ext cx="219456" cy="1536192"/>
          </a:xfrm>
          <a:custGeom>
            <a:rect b="b" l="l" r="r" t="t"/>
            <a:pathLst>
              <a:path extrusionOk="0" h="2048256" w="292608">
                <a:moveTo>
                  <a:pt x="0" y="0"/>
                </a:moveTo>
                <a:lnTo>
                  <a:pt x="292608" y="0"/>
                </a:lnTo>
                <a:lnTo>
                  <a:pt x="292608" y="2048256"/>
                </a:lnTo>
                <a:lnTo>
                  <a:pt x="0" y="2048256"/>
                </a:lnTo>
                <a:close/>
              </a:path>
            </a:pathLst>
          </a:custGeom>
          <a:solidFill>
            <a:srgbClr val="B66A1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2" name="Google Shape;1212;p23"/>
          <p:cNvGrpSpPr/>
          <p:nvPr/>
        </p:nvGrpSpPr>
        <p:grpSpPr>
          <a:xfrm>
            <a:off x="1714500" y="6131052"/>
            <a:ext cx="3703320" cy="1536192"/>
            <a:chOff x="0" y="0"/>
            <a:chExt cx="4937760" cy="2048256"/>
          </a:xfrm>
        </p:grpSpPr>
        <p:sp>
          <p:nvSpPr>
            <p:cNvPr id="1213" name="Google Shape;1213;p23"/>
            <p:cNvSpPr/>
            <p:nvPr/>
          </p:nvSpPr>
          <p:spPr>
            <a:xfrm>
              <a:off x="0" y="0"/>
              <a:ext cx="4937760" cy="2048256"/>
            </a:xfrm>
            <a:custGeom>
              <a:rect b="b" l="l" r="r" t="t"/>
              <a:pathLst>
                <a:path extrusionOk="0" h="204825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222" r="-322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23"/>
            <p:cNvSpPr txBox="1"/>
            <p:nvPr/>
          </p:nvSpPr>
          <p:spPr>
            <a:xfrm>
              <a:off x="0" y="0"/>
              <a:ext cx="4937760" cy="2048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B66A11"/>
                  </a:solidFill>
                  <a:latin typeface="Arial"/>
                  <a:ea typeface="Arial"/>
                  <a:cs typeface="Arial"/>
                  <a:sym typeface="Arial"/>
                </a:rPr>
                <a:t>Mantenimiento</a:t>
              </a:r>
              <a:endParaRPr/>
            </a:p>
          </p:txBody>
        </p:sp>
      </p:grpSp>
      <p:grpSp>
        <p:nvGrpSpPr>
          <p:cNvPr id="1215" name="Google Shape;1215;p23"/>
          <p:cNvGrpSpPr/>
          <p:nvPr/>
        </p:nvGrpSpPr>
        <p:grpSpPr>
          <a:xfrm>
            <a:off x="5545455" y="6560439"/>
            <a:ext cx="1467517" cy="677418"/>
            <a:chOff x="0" y="0"/>
            <a:chExt cx="1956689" cy="903224"/>
          </a:xfrm>
        </p:grpSpPr>
        <p:sp>
          <p:nvSpPr>
            <p:cNvPr id="1216" name="Google Shape;1216;p23"/>
            <p:cNvSpPr/>
            <p:nvPr/>
          </p:nvSpPr>
          <p:spPr>
            <a:xfrm>
              <a:off x="0" y="0"/>
              <a:ext cx="1956689" cy="903224"/>
            </a:xfrm>
            <a:custGeom>
              <a:rect b="b" l="l" r="r" t="t"/>
              <a:pathLst>
                <a:path extrusionOk="0" h="903224" w="1956689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1595374" y="0"/>
                  </a:lnTo>
                  <a:cubicBezTo>
                    <a:pt x="1794891" y="0"/>
                    <a:pt x="1956689" y="161798"/>
                    <a:pt x="1956689" y="361315"/>
                  </a:cubicBezTo>
                  <a:lnTo>
                    <a:pt x="1956689" y="541909"/>
                  </a:lnTo>
                  <a:cubicBezTo>
                    <a:pt x="1956689" y="741426"/>
                    <a:pt x="1794891" y="903224"/>
                    <a:pt x="1595374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23"/>
            <p:cNvSpPr txBox="1"/>
            <p:nvPr/>
          </p:nvSpPr>
          <p:spPr>
            <a:xfrm>
              <a:off x="0" y="0"/>
              <a:ext cx="1956613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Gasfitería</a:t>
              </a:r>
              <a:endParaRPr/>
            </a:p>
          </p:txBody>
        </p:sp>
      </p:grpSp>
      <p:grpSp>
        <p:nvGrpSpPr>
          <p:cNvPr id="1218" name="Google Shape;1218;p23"/>
          <p:cNvGrpSpPr/>
          <p:nvPr/>
        </p:nvGrpSpPr>
        <p:grpSpPr>
          <a:xfrm>
            <a:off x="7158457" y="6560439"/>
            <a:ext cx="2969419" cy="677418"/>
            <a:chOff x="0" y="0"/>
            <a:chExt cx="3959225" cy="903224"/>
          </a:xfrm>
        </p:grpSpPr>
        <p:sp>
          <p:nvSpPr>
            <p:cNvPr id="1219" name="Google Shape;1219;p23"/>
            <p:cNvSpPr/>
            <p:nvPr/>
          </p:nvSpPr>
          <p:spPr>
            <a:xfrm>
              <a:off x="0" y="0"/>
              <a:ext cx="3959225" cy="903224"/>
            </a:xfrm>
            <a:custGeom>
              <a:rect b="b" l="l" r="r" t="t"/>
              <a:pathLst>
                <a:path extrusionOk="0" h="903224" w="3959225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3597910" y="0"/>
                  </a:lnTo>
                  <a:cubicBezTo>
                    <a:pt x="3797427" y="0"/>
                    <a:pt x="3959225" y="161798"/>
                    <a:pt x="3959225" y="361315"/>
                  </a:cubicBezTo>
                  <a:lnTo>
                    <a:pt x="3959225" y="541909"/>
                  </a:lnTo>
                  <a:cubicBezTo>
                    <a:pt x="3959225" y="741426"/>
                    <a:pt x="3797427" y="903224"/>
                    <a:pt x="3597910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23"/>
            <p:cNvSpPr txBox="1"/>
            <p:nvPr/>
          </p:nvSpPr>
          <p:spPr>
            <a:xfrm>
              <a:off x="0" y="0"/>
              <a:ext cx="3959149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Electricidad</a:t>
              </a:r>
              <a:endParaRPr/>
            </a:p>
          </p:txBody>
        </p:sp>
      </p:grpSp>
      <p:grpSp>
        <p:nvGrpSpPr>
          <p:cNvPr id="1221" name="Google Shape;1221;p23"/>
          <p:cNvGrpSpPr/>
          <p:nvPr/>
        </p:nvGrpSpPr>
        <p:grpSpPr>
          <a:xfrm>
            <a:off x="10273360" y="6560439"/>
            <a:ext cx="3722370" cy="677418"/>
            <a:chOff x="0" y="0"/>
            <a:chExt cx="4963160" cy="903224"/>
          </a:xfrm>
        </p:grpSpPr>
        <p:sp>
          <p:nvSpPr>
            <p:cNvPr id="1222" name="Google Shape;1222;p23"/>
            <p:cNvSpPr/>
            <p:nvPr/>
          </p:nvSpPr>
          <p:spPr>
            <a:xfrm>
              <a:off x="0" y="0"/>
              <a:ext cx="4963160" cy="903224"/>
            </a:xfrm>
            <a:custGeom>
              <a:rect b="b" l="l" r="r" t="t"/>
              <a:pathLst>
                <a:path extrusionOk="0" h="903224" w="4963160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601845" y="0"/>
                  </a:lnTo>
                  <a:cubicBezTo>
                    <a:pt x="4801362" y="0"/>
                    <a:pt x="4963160" y="161798"/>
                    <a:pt x="4963160" y="361315"/>
                  </a:cubicBezTo>
                  <a:lnTo>
                    <a:pt x="4963160" y="541909"/>
                  </a:lnTo>
                  <a:cubicBezTo>
                    <a:pt x="4963160" y="741426"/>
                    <a:pt x="4801362" y="903224"/>
                    <a:pt x="4601845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23"/>
            <p:cNvSpPr txBox="1"/>
            <p:nvPr/>
          </p:nvSpPr>
          <p:spPr>
            <a:xfrm>
              <a:off x="0" y="0"/>
              <a:ext cx="4963160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Armado y reparaciones</a:t>
              </a:r>
              <a:endParaRPr/>
            </a:p>
          </p:txBody>
        </p:sp>
      </p:grpSp>
      <p:sp>
        <p:nvSpPr>
          <p:cNvPr id="1224" name="Google Shape;1224;p23"/>
          <p:cNvSpPr/>
          <p:nvPr/>
        </p:nvSpPr>
        <p:spPr>
          <a:xfrm>
            <a:off x="8922258" y="7639812"/>
            <a:ext cx="466344" cy="219456"/>
          </a:xfrm>
          <a:custGeom>
            <a:rect b="b" l="l" r="r" t="t"/>
            <a:pathLst>
              <a:path extrusionOk="0" h="292608" w="621792">
                <a:moveTo>
                  <a:pt x="0" y="131699"/>
                </a:moveTo>
                <a:lnTo>
                  <a:pt x="139954" y="131699"/>
                </a:lnTo>
                <a:lnTo>
                  <a:pt x="139954" y="0"/>
                </a:lnTo>
                <a:lnTo>
                  <a:pt x="481838" y="0"/>
                </a:lnTo>
                <a:lnTo>
                  <a:pt x="481838" y="131699"/>
                </a:lnTo>
                <a:lnTo>
                  <a:pt x="621792" y="131699"/>
                </a:lnTo>
                <a:lnTo>
                  <a:pt x="310896" y="292608"/>
                </a:lnTo>
                <a:close/>
              </a:path>
            </a:pathLst>
          </a:custGeom>
          <a:solidFill>
            <a:srgbClr val="6272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3"/>
          <p:cNvSpPr/>
          <p:nvPr/>
        </p:nvSpPr>
        <p:spPr>
          <a:xfrm>
            <a:off x="1234440" y="7859268"/>
            <a:ext cx="15814549" cy="1536192"/>
          </a:xfrm>
          <a:custGeom>
            <a:rect b="b" l="l" r="r" t="t"/>
            <a:pathLst>
              <a:path extrusionOk="0" h="2048256" w="21086065">
                <a:moveTo>
                  <a:pt x="0" y="143383"/>
                </a:moveTo>
                <a:cubicBezTo>
                  <a:pt x="0" y="64135"/>
                  <a:pt x="64135" y="0"/>
                  <a:pt x="143383" y="0"/>
                </a:cubicBezTo>
                <a:lnTo>
                  <a:pt x="20942681" y="0"/>
                </a:lnTo>
                <a:cubicBezTo>
                  <a:pt x="21021929" y="0"/>
                  <a:pt x="21086065" y="64135"/>
                  <a:pt x="21086065" y="143383"/>
                </a:cubicBezTo>
                <a:lnTo>
                  <a:pt x="21086065" y="1904873"/>
                </a:lnTo>
                <a:cubicBezTo>
                  <a:pt x="21086065" y="1984121"/>
                  <a:pt x="21021929" y="2048256"/>
                  <a:pt x="20942681" y="2048256"/>
                </a:cubicBezTo>
                <a:lnTo>
                  <a:pt x="143383" y="2048256"/>
                </a:lnTo>
                <a:cubicBezTo>
                  <a:pt x="64135" y="2048256"/>
                  <a:pt x="0" y="1984121"/>
                  <a:pt x="0" y="1904873"/>
                </a:cubicBezTo>
                <a:close/>
              </a:path>
            </a:pathLst>
          </a:custGeom>
          <a:solidFill>
            <a:srgbClr val="F1EE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23"/>
          <p:cNvSpPr/>
          <p:nvPr/>
        </p:nvSpPr>
        <p:spPr>
          <a:xfrm>
            <a:off x="1234440" y="7859268"/>
            <a:ext cx="219456" cy="1536192"/>
          </a:xfrm>
          <a:custGeom>
            <a:rect b="b" l="l" r="r" t="t"/>
            <a:pathLst>
              <a:path extrusionOk="0" h="2048256" w="292608">
                <a:moveTo>
                  <a:pt x="0" y="0"/>
                </a:moveTo>
                <a:lnTo>
                  <a:pt x="292608" y="0"/>
                </a:lnTo>
                <a:lnTo>
                  <a:pt x="292608" y="2048256"/>
                </a:lnTo>
                <a:lnTo>
                  <a:pt x="0" y="2048256"/>
                </a:lnTo>
                <a:close/>
              </a:path>
            </a:pathLst>
          </a:custGeom>
          <a:solidFill>
            <a:srgbClr val="6551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7" name="Google Shape;1227;p23"/>
          <p:cNvGrpSpPr/>
          <p:nvPr/>
        </p:nvGrpSpPr>
        <p:grpSpPr>
          <a:xfrm>
            <a:off x="1714500" y="7859268"/>
            <a:ext cx="3703320" cy="1536192"/>
            <a:chOff x="0" y="0"/>
            <a:chExt cx="4937760" cy="2048256"/>
          </a:xfrm>
        </p:grpSpPr>
        <p:sp>
          <p:nvSpPr>
            <p:cNvPr id="1228" name="Google Shape;1228;p23"/>
            <p:cNvSpPr/>
            <p:nvPr/>
          </p:nvSpPr>
          <p:spPr>
            <a:xfrm>
              <a:off x="0" y="0"/>
              <a:ext cx="4937760" cy="2048256"/>
            </a:xfrm>
            <a:custGeom>
              <a:rect b="b" l="l" r="r" t="t"/>
              <a:pathLst>
                <a:path extrusionOk="0" h="204825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222" r="-322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23"/>
            <p:cNvSpPr txBox="1"/>
            <p:nvPr/>
          </p:nvSpPr>
          <p:spPr>
            <a:xfrm>
              <a:off x="0" y="0"/>
              <a:ext cx="4937760" cy="2048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6551A5"/>
                  </a:solidFill>
                  <a:latin typeface="Arial"/>
                  <a:ea typeface="Arial"/>
                  <a:cs typeface="Arial"/>
                  <a:sym typeface="Arial"/>
                </a:rPr>
                <a:t>Criterios de entrada</a:t>
              </a:r>
              <a:endParaRPr/>
            </a:p>
          </p:txBody>
        </p:sp>
      </p:grpSp>
      <p:grpSp>
        <p:nvGrpSpPr>
          <p:cNvPr id="1230" name="Google Shape;1230;p23"/>
          <p:cNvGrpSpPr/>
          <p:nvPr/>
        </p:nvGrpSpPr>
        <p:grpSpPr>
          <a:xfrm>
            <a:off x="5545455" y="8288655"/>
            <a:ext cx="2568892" cy="677418"/>
            <a:chOff x="0" y="0"/>
            <a:chExt cx="3425190" cy="903224"/>
          </a:xfrm>
        </p:grpSpPr>
        <p:sp>
          <p:nvSpPr>
            <p:cNvPr id="1231" name="Google Shape;1231;p23"/>
            <p:cNvSpPr/>
            <p:nvPr/>
          </p:nvSpPr>
          <p:spPr>
            <a:xfrm>
              <a:off x="0" y="0"/>
              <a:ext cx="3425190" cy="903224"/>
            </a:xfrm>
            <a:custGeom>
              <a:rect b="b" l="l" r="r" t="t"/>
              <a:pathLst>
                <a:path extrusionOk="0" h="903224" w="3425190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3063875" y="0"/>
                  </a:lnTo>
                  <a:cubicBezTo>
                    <a:pt x="3263392" y="0"/>
                    <a:pt x="3425190" y="161798"/>
                    <a:pt x="3425190" y="361315"/>
                  </a:cubicBezTo>
                  <a:lnTo>
                    <a:pt x="3425190" y="541909"/>
                  </a:lnTo>
                  <a:cubicBezTo>
                    <a:pt x="3425190" y="741426"/>
                    <a:pt x="3263392" y="903224"/>
                    <a:pt x="3063875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23"/>
            <p:cNvSpPr txBox="1"/>
            <p:nvPr/>
          </p:nvSpPr>
          <p:spPr>
            <a:xfrm>
              <a:off x="0" y="0"/>
              <a:ext cx="3425139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Demanda recurrente</a:t>
              </a:r>
              <a:endParaRPr/>
            </a:p>
          </p:txBody>
        </p:sp>
      </p:grpSp>
      <p:grpSp>
        <p:nvGrpSpPr>
          <p:cNvPr id="1233" name="Google Shape;1233;p23"/>
          <p:cNvGrpSpPr/>
          <p:nvPr/>
        </p:nvGrpSpPr>
        <p:grpSpPr>
          <a:xfrm>
            <a:off x="8259851" y="8288655"/>
            <a:ext cx="1867967" cy="677418"/>
            <a:chOff x="0" y="0"/>
            <a:chExt cx="2490622" cy="903224"/>
          </a:xfrm>
        </p:grpSpPr>
        <p:sp>
          <p:nvSpPr>
            <p:cNvPr id="1234" name="Google Shape;1234;p23"/>
            <p:cNvSpPr/>
            <p:nvPr/>
          </p:nvSpPr>
          <p:spPr>
            <a:xfrm>
              <a:off x="0" y="0"/>
              <a:ext cx="2490597" cy="903224"/>
            </a:xfrm>
            <a:custGeom>
              <a:rect b="b" l="l" r="r" t="t"/>
              <a:pathLst>
                <a:path extrusionOk="0" h="903224" w="2490597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2129282" y="0"/>
                  </a:lnTo>
                  <a:cubicBezTo>
                    <a:pt x="2328799" y="0"/>
                    <a:pt x="2490597" y="161798"/>
                    <a:pt x="2490597" y="361315"/>
                  </a:cubicBezTo>
                  <a:lnTo>
                    <a:pt x="2490597" y="541909"/>
                  </a:lnTo>
                  <a:cubicBezTo>
                    <a:pt x="2490597" y="741426"/>
                    <a:pt x="2328799" y="903224"/>
                    <a:pt x="2129282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23"/>
            <p:cNvSpPr txBox="1"/>
            <p:nvPr/>
          </p:nvSpPr>
          <p:spPr>
            <a:xfrm>
              <a:off x="0" y="0"/>
              <a:ext cx="2490622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Prestadores verificables</a:t>
              </a:r>
              <a:endParaRPr/>
            </a:p>
          </p:txBody>
        </p:sp>
      </p:grpSp>
      <p:grpSp>
        <p:nvGrpSpPr>
          <p:cNvPr id="1236" name="Google Shape;1236;p23"/>
          <p:cNvGrpSpPr/>
          <p:nvPr/>
        </p:nvGrpSpPr>
        <p:grpSpPr>
          <a:xfrm>
            <a:off x="10273360" y="8288655"/>
            <a:ext cx="3722370" cy="677418"/>
            <a:chOff x="0" y="0"/>
            <a:chExt cx="4963160" cy="903224"/>
          </a:xfrm>
        </p:grpSpPr>
        <p:sp>
          <p:nvSpPr>
            <p:cNvPr id="1237" name="Google Shape;1237;p23"/>
            <p:cNvSpPr/>
            <p:nvPr/>
          </p:nvSpPr>
          <p:spPr>
            <a:xfrm>
              <a:off x="0" y="0"/>
              <a:ext cx="4963160" cy="903224"/>
            </a:xfrm>
            <a:custGeom>
              <a:rect b="b" l="l" r="r" t="t"/>
              <a:pathLst>
                <a:path extrusionOk="0" h="903224" w="4963160">
                  <a:moveTo>
                    <a:pt x="0" y="361315"/>
                  </a:moveTo>
                  <a:cubicBezTo>
                    <a:pt x="0" y="161798"/>
                    <a:pt x="161798" y="0"/>
                    <a:pt x="361315" y="0"/>
                  </a:cubicBezTo>
                  <a:lnTo>
                    <a:pt x="4601845" y="0"/>
                  </a:lnTo>
                  <a:cubicBezTo>
                    <a:pt x="4801362" y="0"/>
                    <a:pt x="4963160" y="161798"/>
                    <a:pt x="4963160" y="361315"/>
                  </a:cubicBezTo>
                  <a:lnTo>
                    <a:pt x="4963160" y="541909"/>
                  </a:lnTo>
                  <a:cubicBezTo>
                    <a:pt x="4963160" y="741426"/>
                    <a:pt x="4801362" y="903224"/>
                    <a:pt x="4601845" y="903224"/>
                  </a:cubicBezTo>
                  <a:lnTo>
                    <a:pt x="361315" y="903224"/>
                  </a:lnTo>
                  <a:cubicBezTo>
                    <a:pt x="161798" y="903224"/>
                    <a:pt x="0" y="741426"/>
                    <a:pt x="0" y="541909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23"/>
            <p:cNvSpPr txBox="1"/>
            <p:nvPr/>
          </p:nvSpPr>
          <p:spPr>
            <a:xfrm>
              <a:off x="0" y="0"/>
              <a:ext cx="4963160" cy="903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26364A"/>
                  </a:solidFill>
                  <a:latin typeface="Arial"/>
                  <a:ea typeface="Arial"/>
                  <a:cs typeface="Arial"/>
                  <a:sym typeface="Arial"/>
                </a:rPr>
                <a:t>Servicio trazable</a:t>
              </a:r>
              <a:endParaRPr/>
            </a:p>
          </p:txBody>
        </p:sp>
      </p:grpSp>
      <p:grpSp>
        <p:nvGrpSpPr>
          <p:cNvPr id="1239" name="Google Shape;1239;p23"/>
          <p:cNvGrpSpPr/>
          <p:nvPr/>
        </p:nvGrpSpPr>
        <p:grpSpPr>
          <a:xfrm>
            <a:off x="1234440" y="9628632"/>
            <a:ext cx="10972800" cy="411480"/>
            <a:chOff x="0" y="0"/>
            <a:chExt cx="14630400" cy="548640"/>
          </a:xfrm>
        </p:grpSpPr>
        <p:sp>
          <p:nvSpPr>
            <p:cNvPr id="1240" name="Google Shape;1240;p23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23"/>
            <p:cNvSpPr txBox="1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Splash  ·  Capstone PTY4614  ·  Propuesta de proyecto</a:t>
              </a:r>
              <a:endParaRPr/>
            </a:p>
          </p:txBody>
        </p:sp>
      </p:grpSp>
      <p:grpSp>
        <p:nvGrpSpPr>
          <p:cNvPr id="1242" name="Google Shape;1242;p23"/>
          <p:cNvGrpSpPr/>
          <p:nvPr/>
        </p:nvGrpSpPr>
        <p:grpSpPr>
          <a:xfrm>
            <a:off x="15636240" y="9628632"/>
            <a:ext cx="1412748" cy="411480"/>
            <a:chOff x="0" y="0"/>
            <a:chExt cx="1883664" cy="548640"/>
          </a:xfrm>
        </p:grpSpPr>
        <p:sp>
          <p:nvSpPr>
            <p:cNvPr id="1243" name="Google Shape;1243;p23"/>
            <p:cNvSpPr/>
            <p:nvPr/>
          </p:nvSpPr>
          <p:spPr>
            <a:xfrm>
              <a:off x="0" y="0"/>
              <a:ext cx="1883664" cy="548640"/>
            </a:xfrm>
            <a:custGeom>
              <a:rect b="b" l="l" r="r" t="t"/>
              <a:pathLst>
                <a:path extrusionOk="0" h="548640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899" l="0" r="0" t="-1689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23"/>
            <p:cNvSpPr txBox="1"/>
            <p:nvPr/>
          </p:nvSpPr>
          <p:spPr>
            <a:xfrm>
              <a:off x="0" y="0"/>
              <a:ext cx="18836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199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25">
                  <a:solidFill>
                    <a:srgbClr val="627287"/>
                  </a:solidFill>
                  <a:latin typeface="Arial"/>
                  <a:ea typeface="Arial"/>
                  <a:cs typeface="Arial"/>
                  <a:sym typeface="Arial"/>
                </a:rPr>
                <a:t>23</a:t>
              </a:r>
              <a:endParaRPr/>
            </a:p>
          </p:txBody>
        </p:sp>
      </p:grpSp>
      <p:sp>
        <p:nvSpPr>
          <p:cNvPr id="1245" name="Google Shape;1245;p23"/>
          <p:cNvSpPr/>
          <p:nvPr/>
        </p:nvSpPr>
        <p:spPr>
          <a:xfrm>
            <a:off x="13886021" y="567652"/>
            <a:ext cx="3500438" cy="954310"/>
          </a:xfrm>
          <a:custGeom>
            <a:rect b="b" l="l" r="r" t="t"/>
            <a:pathLst>
              <a:path extrusionOk="0" h="1272413" w="4667250">
                <a:moveTo>
                  <a:pt x="0" y="0"/>
                </a:moveTo>
                <a:lnTo>
                  <a:pt x="4667250" y="0"/>
                </a:lnTo>
                <a:lnTo>
                  <a:pt x="4667250" y="1272413"/>
                </a:lnTo>
                <a:lnTo>
                  <a:pt x="0" y="1272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24"/>
          <p:cNvSpPr txBox="1"/>
          <p:nvPr/>
        </p:nvSpPr>
        <p:spPr>
          <a:xfrm>
            <a:off x="1238250" y="847725"/>
            <a:ext cx="476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0">
                <a:solidFill>
                  <a:srgbClr val="0B5A91"/>
                </a:solidFill>
                <a:latin typeface="Calibri"/>
                <a:ea typeface="Calibri"/>
                <a:cs typeface="Calibri"/>
                <a:sym typeface="Calibri"/>
              </a:rPr>
              <a:t>CONCLUSIÓN Y PROYECCIÓN</a:t>
            </a:r>
            <a:endParaRPr/>
          </a:p>
        </p:txBody>
      </p:sp>
      <p:sp>
        <p:nvSpPr>
          <p:cNvPr id="1251" name="Google Shape;1251;p24"/>
          <p:cNvSpPr txBox="1"/>
          <p:nvPr/>
        </p:nvSpPr>
        <p:spPr>
          <a:xfrm>
            <a:off x="1238250" y="1238250"/>
            <a:ext cx="1333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Splash valida un modelo de intermediación escalable</a:t>
            </a:r>
            <a:endParaRPr/>
          </a:p>
        </p:txBody>
      </p:sp>
      <p:sp>
        <p:nvSpPr>
          <p:cNvPr id="1252" name="Google Shape;1252;p24"/>
          <p:cNvSpPr txBox="1"/>
          <p:nvPr/>
        </p:nvSpPr>
        <p:spPr>
          <a:xfrm>
            <a:off x="1238250" y="1647825"/>
            <a:ext cx="114300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El lavado de vehículos es la primera vertical, no el límite de la plataforma.</a:t>
            </a:r>
            <a:endParaRPr/>
          </a:p>
        </p:txBody>
      </p:sp>
      <p:grpSp>
        <p:nvGrpSpPr>
          <p:cNvPr id="1253" name="Google Shape;1253;p24"/>
          <p:cNvGrpSpPr/>
          <p:nvPr/>
        </p:nvGrpSpPr>
        <p:grpSpPr>
          <a:xfrm>
            <a:off x="1238250" y="2162175"/>
            <a:ext cx="5143500" cy="3648075"/>
            <a:chOff x="0" y="-38100"/>
            <a:chExt cx="6858000" cy="4864100"/>
          </a:xfrm>
        </p:grpSpPr>
        <p:sp>
          <p:nvSpPr>
            <p:cNvPr id="1254" name="Google Shape;1254;p24"/>
            <p:cNvSpPr/>
            <p:nvPr/>
          </p:nvSpPr>
          <p:spPr>
            <a:xfrm>
              <a:off x="0" y="0"/>
              <a:ext cx="6858000" cy="4826000"/>
            </a:xfrm>
            <a:custGeom>
              <a:rect b="b" l="l" r="r" t="t"/>
              <a:pathLst>
                <a:path extrusionOk="0" h="4826000" w="6858000">
                  <a:moveTo>
                    <a:pt x="482600" y="0"/>
                  </a:moveTo>
                  <a:lnTo>
                    <a:pt x="6375400" y="0"/>
                  </a:lnTo>
                  <a:cubicBezTo>
                    <a:pt x="6641933" y="0"/>
                    <a:pt x="6858000" y="216067"/>
                    <a:pt x="6858000" y="482600"/>
                  </a:cubicBezTo>
                  <a:lnTo>
                    <a:pt x="6858000" y="4343400"/>
                  </a:lnTo>
                  <a:cubicBezTo>
                    <a:pt x="6858000" y="4609933"/>
                    <a:pt x="6641933" y="4826000"/>
                    <a:pt x="63754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24"/>
            <p:cNvSpPr txBox="1"/>
            <p:nvPr/>
          </p:nvSpPr>
          <p:spPr>
            <a:xfrm>
              <a:off x="0" y="-38100"/>
              <a:ext cx="6858000" cy="48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6" name="Google Shape;1256;p24"/>
          <p:cNvGrpSpPr/>
          <p:nvPr/>
        </p:nvGrpSpPr>
        <p:grpSpPr>
          <a:xfrm>
            <a:off x="1238250" y="2162175"/>
            <a:ext cx="5143500" cy="371475"/>
            <a:chOff x="0" y="-38100"/>
            <a:chExt cx="6858000" cy="495300"/>
          </a:xfrm>
        </p:grpSpPr>
        <p:sp>
          <p:nvSpPr>
            <p:cNvPr id="1257" name="Google Shape;1257;p24"/>
            <p:cNvSpPr/>
            <p:nvPr/>
          </p:nvSpPr>
          <p:spPr>
            <a:xfrm>
              <a:off x="0" y="0"/>
              <a:ext cx="6858000" cy="457200"/>
            </a:xfrm>
            <a:custGeom>
              <a:rect b="b" l="l" r="r" t="t"/>
              <a:pathLst>
                <a:path extrusionOk="0" h="457200" w="6858000">
                  <a:moveTo>
                    <a:pt x="45720" y="0"/>
                  </a:moveTo>
                  <a:lnTo>
                    <a:pt x="6812280" y="0"/>
                  </a:lnTo>
                  <a:cubicBezTo>
                    <a:pt x="6837531" y="0"/>
                    <a:pt x="6858000" y="20470"/>
                    <a:pt x="6858000" y="45720"/>
                  </a:cubicBezTo>
                  <a:lnTo>
                    <a:pt x="6858000" y="411480"/>
                  </a:lnTo>
                  <a:cubicBezTo>
                    <a:pt x="6858000" y="436730"/>
                    <a:pt x="6837531" y="457200"/>
                    <a:pt x="68122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24"/>
            <p:cNvSpPr txBox="1"/>
            <p:nvPr/>
          </p:nvSpPr>
          <p:spPr>
            <a:xfrm>
              <a:off x="0" y="-38100"/>
              <a:ext cx="6858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9" name="Google Shape;1259;p24"/>
          <p:cNvSpPr txBox="1"/>
          <p:nvPr/>
        </p:nvSpPr>
        <p:spPr>
          <a:xfrm>
            <a:off x="1333500" y="224790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OPORTUNIDAD</a:t>
            </a:r>
            <a:endParaRPr/>
          </a:p>
        </p:txBody>
      </p:sp>
      <p:sp>
        <p:nvSpPr>
          <p:cNvPr id="1260" name="Google Shape;1260;p24"/>
          <p:cNvSpPr txBox="1"/>
          <p:nvPr/>
        </p:nvSpPr>
        <p:spPr>
          <a:xfrm>
            <a:off x="1428750" y="2619375"/>
            <a:ext cx="47625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Muchos servicios a domicilio aún se coordinan de forma informal.</a:t>
            </a:r>
            <a:endParaRPr/>
          </a:p>
        </p:txBody>
      </p:sp>
      <p:sp>
        <p:nvSpPr>
          <p:cNvPr id="1261" name="Google Shape;1261;p24"/>
          <p:cNvSpPr txBox="1"/>
          <p:nvPr/>
        </p:nvSpPr>
        <p:spPr>
          <a:xfrm>
            <a:off x="1428750" y="300037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·  Oferta fragmentada</a:t>
            </a:r>
            <a:endParaRPr/>
          </a:p>
        </p:txBody>
      </p:sp>
      <p:sp>
        <p:nvSpPr>
          <p:cNvPr id="1262" name="Google Shape;1262;p24"/>
          <p:cNvSpPr txBox="1"/>
          <p:nvPr/>
        </p:nvSpPr>
        <p:spPr>
          <a:xfrm>
            <a:off x="1428750" y="317182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·  Baja trazabilidad</a:t>
            </a:r>
            <a:endParaRPr/>
          </a:p>
        </p:txBody>
      </p:sp>
      <p:sp>
        <p:nvSpPr>
          <p:cNvPr id="1263" name="Google Shape;1263;p24"/>
          <p:cNvSpPr txBox="1"/>
          <p:nvPr/>
        </p:nvSpPr>
        <p:spPr>
          <a:xfrm>
            <a:off x="1428750" y="334327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·  Calidad difícil de verificar</a:t>
            </a:r>
            <a:endParaRPr/>
          </a:p>
        </p:txBody>
      </p:sp>
      <p:sp>
        <p:nvSpPr>
          <p:cNvPr id="1264" name="Google Shape;1264;p24"/>
          <p:cNvSpPr txBox="1"/>
          <p:nvPr/>
        </p:nvSpPr>
        <p:spPr>
          <a:xfrm>
            <a:off x="1428750" y="351472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·  Pagos poco estandarizados</a:t>
            </a:r>
            <a:endParaRPr/>
          </a:p>
        </p:txBody>
      </p:sp>
      <p:sp>
        <p:nvSpPr>
          <p:cNvPr id="1265" name="Google Shape;1265;p24"/>
          <p:cNvSpPr txBox="1"/>
          <p:nvPr/>
        </p:nvSpPr>
        <p:spPr>
          <a:xfrm>
            <a:off x="1428750" y="3771900"/>
            <a:ext cx="4762500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4"/>
          <p:cNvSpPr txBox="1"/>
          <p:nvPr/>
        </p:nvSpPr>
        <p:spPr>
          <a:xfrm>
            <a:off x="1428750" y="399097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24"/>
          <p:cNvSpPr txBox="1"/>
          <p:nvPr/>
        </p:nvSpPr>
        <p:spPr>
          <a:xfrm>
            <a:off x="1428750" y="416242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4"/>
          <p:cNvSpPr txBox="1"/>
          <p:nvPr/>
        </p:nvSpPr>
        <p:spPr>
          <a:xfrm>
            <a:off x="1428750" y="433387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4"/>
          <p:cNvSpPr txBox="1"/>
          <p:nvPr/>
        </p:nvSpPr>
        <p:spPr>
          <a:xfrm>
            <a:off x="1428750" y="450532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24"/>
          <p:cNvSpPr txBox="1"/>
          <p:nvPr/>
        </p:nvSpPr>
        <p:spPr>
          <a:xfrm>
            <a:off x="1428750" y="467677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24"/>
          <p:cNvSpPr txBox="1"/>
          <p:nvPr/>
        </p:nvSpPr>
        <p:spPr>
          <a:xfrm>
            <a:off x="1428750" y="484822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2" name="Google Shape;1272;p24"/>
          <p:cNvGrpSpPr/>
          <p:nvPr/>
        </p:nvGrpSpPr>
        <p:grpSpPr>
          <a:xfrm>
            <a:off x="1428750" y="5305425"/>
            <a:ext cx="4762500" cy="409575"/>
            <a:chOff x="0" y="-38100"/>
            <a:chExt cx="6350000" cy="546100"/>
          </a:xfrm>
        </p:grpSpPr>
        <p:sp>
          <p:nvSpPr>
            <p:cNvPr id="1273" name="Google Shape;1273;p24"/>
            <p:cNvSpPr/>
            <p:nvPr/>
          </p:nvSpPr>
          <p:spPr>
            <a:xfrm>
              <a:off x="0" y="0"/>
              <a:ext cx="6350000" cy="508000"/>
            </a:xfrm>
            <a:custGeom>
              <a:rect b="b" l="l" r="r" t="t"/>
              <a:pathLst>
                <a:path extrusionOk="0" h="508000" w="6350000">
                  <a:moveTo>
                    <a:pt x="50800" y="0"/>
                  </a:moveTo>
                  <a:lnTo>
                    <a:pt x="6299200" y="0"/>
                  </a:lnTo>
                  <a:cubicBezTo>
                    <a:pt x="6327256" y="0"/>
                    <a:pt x="6350000" y="22744"/>
                    <a:pt x="6350000" y="50800"/>
                  </a:cubicBezTo>
                  <a:lnTo>
                    <a:pt x="6350000" y="457200"/>
                  </a:lnTo>
                  <a:cubicBezTo>
                    <a:pt x="6350000" y="485256"/>
                    <a:pt x="6327256" y="508000"/>
                    <a:pt x="6299200" y="508000"/>
                  </a:cubicBezTo>
                  <a:lnTo>
                    <a:pt x="50800" y="508000"/>
                  </a:lnTo>
                  <a:cubicBezTo>
                    <a:pt x="22744" y="508000"/>
                    <a:pt x="0" y="485256"/>
                    <a:pt x="0" y="457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24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5" name="Google Shape;1275;p24"/>
          <p:cNvSpPr txBox="1"/>
          <p:nvPr/>
        </p:nvSpPr>
        <p:spPr>
          <a:xfrm>
            <a:off x="1504950" y="5429250"/>
            <a:ext cx="461010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64E86"/>
                </a:solidFill>
                <a:latin typeface="Arial"/>
                <a:ea typeface="Arial"/>
                <a:cs typeface="Arial"/>
                <a:sym typeface="Arial"/>
              </a:rPr>
              <a:t>Centralizar la relación entre cliente y prestador.</a:t>
            </a:r>
            <a:endParaRPr/>
          </a:p>
        </p:txBody>
      </p:sp>
      <p:grpSp>
        <p:nvGrpSpPr>
          <p:cNvPr id="1276" name="Google Shape;1276;p24"/>
          <p:cNvGrpSpPr/>
          <p:nvPr/>
        </p:nvGrpSpPr>
        <p:grpSpPr>
          <a:xfrm>
            <a:off x="6572250" y="2162175"/>
            <a:ext cx="5143500" cy="3648075"/>
            <a:chOff x="0" y="-38100"/>
            <a:chExt cx="6858000" cy="4864100"/>
          </a:xfrm>
        </p:grpSpPr>
        <p:sp>
          <p:nvSpPr>
            <p:cNvPr id="1277" name="Google Shape;1277;p24"/>
            <p:cNvSpPr/>
            <p:nvPr/>
          </p:nvSpPr>
          <p:spPr>
            <a:xfrm>
              <a:off x="0" y="0"/>
              <a:ext cx="6858000" cy="4826000"/>
            </a:xfrm>
            <a:custGeom>
              <a:rect b="b" l="l" r="r" t="t"/>
              <a:pathLst>
                <a:path extrusionOk="0" h="4826000" w="6858000">
                  <a:moveTo>
                    <a:pt x="482600" y="0"/>
                  </a:moveTo>
                  <a:lnTo>
                    <a:pt x="6375400" y="0"/>
                  </a:lnTo>
                  <a:cubicBezTo>
                    <a:pt x="6641933" y="0"/>
                    <a:pt x="6858000" y="216067"/>
                    <a:pt x="6858000" y="482600"/>
                  </a:cubicBezTo>
                  <a:lnTo>
                    <a:pt x="6858000" y="4343400"/>
                  </a:lnTo>
                  <a:cubicBezTo>
                    <a:pt x="6858000" y="4609933"/>
                    <a:pt x="6641933" y="4826000"/>
                    <a:pt x="63754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24"/>
            <p:cNvSpPr txBox="1"/>
            <p:nvPr/>
          </p:nvSpPr>
          <p:spPr>
            <a:xfrm>
              <a:off x="0" y="-38100"/>
              <a:ext cx="6858000" cy="48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9" name="Google Shape;1279;p24"/>
          <p:cNvGrpSpPr/>
          <p:nvPr/>
        </p:nvGrpSpPr>
        <p:grpSpPr>
          <a:xfrm>
            <a:off x="6572250" y="2162175"/>
            <a:ext cx="5143500" cy="371475"/>
            <a:chOff x="0" y="-38100"/>
            <a:chExt cx="6858000" cy="495300"/>
          </a:xfrm>
        </p:grpSpPr>
        <p:sp>
          <p:nvSpPr>
            <p:cNvPr id="1280" name="Google Shape;1280;p24"/>
            <p:cNvSpPr/>
            <p:nvPr/>
          </p:nvSpPr>
          <p:spPr>
            <a:xfrm>
              <a:off x="0" y="0"/>
              <a:ext cx="6858000" cy="457200"/>
            </a:xfrm>
            <a:custGeom>
              <a:rect b="b" l="l" r="r" t="t"/>
              <a:pathLst>
                <a:path extrusionOk="0" h="457200" w="6858000">
                  <a:moveTo>
                    <a:pt x="45720" y="0"/>
                  </a:moveTo>
                  <a:lnTo>
                    <a:pt x="6812280" y="0"/>
                  </a:lnTo>
                  <a:cubicBezTo>
                    <a:pt x="6837531" y="0"/>
                    <a:pt x="6858000" y="20470"/>
                    <a:pt x="6858000" y="45720"/>
                  </a:cubicBezTo>
                  <a:lnTo>
                    <a:pt x="6858000" y="411480"/>
                  </a:lnTo>
                  <a:cubicBezTo>
                    <a:pt x="6858000" y="436730"/>
                    <a:pt x="6837531" y="457200"/>
                    <a:pt x="68122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64E8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24"/>
            <p:cNvSpPr txBox="1"/>
            <p:nvPr/>
          </p:nvSpPr>
          <p:spPr>
            <a:xfrm>
              <a:off x="0" y="-38100"/>
              <a:ext cx="6858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2" name="Google Shape;1282;p24"/>
          <p:cNvSpPr txBox="1"/>
          <p:nvPr/>
        </p:nvSpPr>
        <p:spPr>
          <a:xfrm>
            <a:off x="6667500" y="224790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VALIDACIÓN DEL MVP</a:t>
            </a:r>
            <a:endParaRPr/>
          </a:p>
        </p:txBody>
      </p:sp>
      <p:sp>
        <p:nvSpPr>
          <p:cNvPr id="1283" name="Google Shape;1283;p24"/>
          <p:cNvSpPr txBox="1"/>
          <p:nvPr/>
        </p:nvSpPr>
        <p:spPr>
          <a:xfrm>
            <a:off x="6762750" y="2619375"/>
            <a:ext cx="47625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El MVP comprueba el ciclo completo de intermediación digital.</a:t>
            </a:r>
            <a:endParaRPr/>
          </a:p>
        </p:txBody>
      </p:sp>
      <p:sp>
        <p:nvSpPr>
          <p:cNvPr id="1284" name="Google Shape;1284;p24"/>
          <p:cNvSpPr txBox="1"/>
          <p:nvPr/>
        </p:nvSpPr>
        <p:spPr>
          <a:xfrm>
            <a:off x="6762750" y="3067050"/>
            <a:ext cx="4762500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Debe validar:</a:t>
            </a:r>
            <a:endParaRPr/>
          </a:p>
        </p:txBody>
      </p:sp>
      <p:sp>
        <p:nvSpPr>
          <p:cNvPr id="1285" name="Google Shape;1285;p24"/>
          <p:cNvSpPr txBox="1"/>
          <p:nvPr/>
        </p:nvSpPr>
        <p:spPr>
          <a:xfrm>
            <a:off x="6762750" y="328612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✓  Registro</a:t>
            </a:r>
            <a:endParaRPr/>
          </a:p>
        </p:txBody>
      </p:sp>
      <p:sp>
        <p:nvSpPr>
          <p:cNvPr id="1286" name="Google Shape;1286;p24"/>
          <p:cNvSpPr txBox="1"/>
          <p:nvPr/>
        </p:nvSpPr>
        <p:spPr>
          <a:xfrm>
            <a:off x="6762750" y="345757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✓  Solicitud</a:t>
            </a:r>
            <a:endParaRPr/>
          </a:p>
        </p:txBody>
      </p:sp>
      <p:sp>
        <p:nvSpPr>
          <p:cNvPr id="1287" name="Google Shape;1287;p24"/>
          <p:cNvSpPr txBox="1"/>
          <p:nvPr/>
        </p:nvSpPr>
        <p:spPr>
          <a:xfrm>
            <a:off x="6762750" y="362902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✓  Asignación</a:t>
            </a:r>
            <a:endParaRPr/>
          </a:p>
        </p:txBody>
      </p:sp>
      <p:sp>
        <p:nvSpPr>
          <p:cNvPr id="1288" name="Google Shape;1288;p24"/>
          <p:cNvSpPr txBox="1"/>
          <p:nvPr/>
        </p:nvSpPr>
        <p:spPr>
          <a:xfrm>
            <a:off x="6762750" y="380047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✓  Ejecución</a:t>
            </a:r>
            <a:endParaRPr/>
          </a:p>
        </p:txBody>
      </p:sp>
      <p:sp>
        <p:nvSpPr>
          <p:cNvPr id="1289" name="Google Shape;1289;p24"/>
          <p:cNvSpPr txBox="1"/>
          <p:nvPr/>
        </p:nvSpPr>
        <p:spPr>
          <a:xfrm>
            <a:off x="6762750" y="397192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✓  Seguimiento</a:t>
            </a:r>
            <a:endParaRPr/>
          </a:p>
        </p:txBody>
      </p:sp>
      <p:sp>
        <p:nvSpPr>
          <p:cNvPr id="1290" name="Google Shape;1290;p24"/>
          <p:cNvSpPr txBox="1"/>
          <p:nvPr/>
        </p:nvSpPr>
        <p:spPr>
          <a:xfrm>
            <a:off x="6762750" y="414337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✓  Pago</a:t>
            </a:r>
            <a:endParaRPr/>
          </a:p>
        </p:txBody>
      </p:sp>
      <p:sp>
        <p:nvSpPr>
          <p:cNvPr id="1291" name="Google Shape;1291;p24"/>
          <p:cNvSpPr txBox="1"/>
          <p:nvPr/>
        </p:nvSpPr>
        <p:spPr>
          <a:xfrm>
            <a:off x="6762750" y="431482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627287"/>
                </a:solidFill>
                <a:latin typeface="Arial"/>
                <a:ea typeface="Arial"/>
                <a:cs typeface="Arial"/>
                <a:sym typeface="Arial"/>
              </a:rPr>
              <a:t>✓  Calificación</a:t>
            </a:r>
            <a:endParaRPr/>
          </a:p>
        </p:txBody>
      </p:sp>
      <p:sp>
        <p:nvSpPr>
          <p:cNvPr id="1292" name="Google Shape;1292;p24"/>
          <p:cNvSpPr txBox="1"/>
          <p:nvPr/>
        </p:nvSpPr>
        <p:spPr>
          <a:xfrm>
            <a:off x="6762750" y="4486275"/>
            <a:ext cx="47625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3" name="Google Shape;1293;p24"/>
          <p:cNvGrpSpPr/>
          <p:nvPr/>
        </p:nvGrpSpPr>
        <p:grpSpPr>
          <a:xfrm>
            <a:off x="6762750" y="5305425"/>
            <a:ext cx="4762500" cy="409575"/>
            <a:chOff x="0" y="-38100"/>
            <a:chExt cx="6350000" cy="546100"/>
          </a:xfrm>
        </p:grpSpPr>
        <p:sp>
          <p:nvSpPr>
            <p:cNvPr id="1294" name="Google Shape;1294;p24"/>
            <p:cNvSpPr/>
            <p:nvPr/>
          </p:nvSpPr>
          <p:spPr>
            <a:xfrm>
              <a:off x="0" y="0"/>
              <a:ext cx="6350000" cy="508000"/>
            </a:xfrm>
            <a:custGeom>
              <a:rect b="b" l="l" r="r" t="t"/>
              <a:pathLst>
                <a:path extrusionOk="0" h="508000" w="6350000">
                  <a:moveTo>
                    <a:pt x="50800" y="0"/>
                  </a:moveTo>
                  <a:lnTo>
                    <a:pt x="6299200" y="0"/>
                  </a:lnTo>
                  <a:cubicBezTo>
                    <a:pt x="6327256" y="0"/>
                    <a:pt x="6350000" y="22744"/>
                    <a:pt x="6350000" y="50800"/>
                  </a:cubicBezTo>
                  <a:lnTo>
                    <a:pt x="6350000" y="457200"/>
                  </a:lnTo>
                  <a:cubicBezTo>
                    <a:pt x="6350000" y="485256"/>
                    <a:pt x="6327256" y="508000"/>
                    <a:pt x="6299200" y="508000"/>
                  </a:cubicBezTo>
                  <a:lnTo>
                    <a:pt x="50800" y="508000"/>
                  </a:lnTo>
                  <a:cubicBezTo>
                    <a:pt x="22744" y="508000"/>
                    <a:pt x="0" y="485256"/>
                    <a:pt x="0" y="457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AF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24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6" name="Google Shape;1296;p24"/>
          <p:cNvSpPr txBox="1"/>
          <p:nvPr/>
        </p:nvSpPr>
        <p:spPr>
          <a:xfrm>
            <a:off x="6838950" y="5429250"/>
            <a:ext cx="4610100" cy="159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64E86"/>
                </a:solidFill>
                <a:latin typeface="Arial"/>
                <a:ea typeface="Arial"/>
                <a:cs typeface="Arial"/>
                <a:sym typeface="Arial"/>
              </a:rPr>
              <a:t>Validar el modelo, no solo el lavado.</a:t>
            </a:r>
            <a:endParaRPr/>
          </a:p>
        </p:txBody>
      </p:sp>
      <p:grpSp>
        <p:nvGrpSpPr>
          <p:cNvPr id="1297" name="Google Shape;1297;p24"/>
          <p:cNvGrpSpPr/>
          <p:nvPr/>
        </p:nvGrpSpPr>
        <p:grpSpPr>
          <a:xfrm>
            <a:off x="11906250" y="2162175"/>
            <a:ext cx="5143500" cy="3648075"/>
            <a:chOff x="0" y="-38100"/>
            <a:chExt cx="6858000" cy="4864100"/>
          </a:xfrm>
        </p:grpSpPr>
        <p:sp>
          <p:nvSpPr>
            <p:cNvPr id="1298" name="Google Shape;1298;p24"/>
            <p:cNvSpPr/>
            <p:nvPr/>
          </p:nvSpPr>
          <p:spPr>
            <a:xfrm>
              <a:off x="0" y="0"/>
              <a:ext cx="6858000" cy="4826000"/>
            </a:xfrm>
            <a:custGeom>
              <a:rect b="b" l="l" r="r" t="t"/>
              <a:pathLst>
                <a:path extrusionOk="0" h="4826000" w="6858000">
                  <a:moveTo>
                    <a:pt x="482600" y="0"/>
                  </a:moveTo>
                  <a:lnTo>
                    <a:pt x="6375400" y="0"/>
                  </a:lnTo>
                  <a:cubicBezTo>
                    <a:pt x="6641933" y="0"/>
                    <a:pt x="6858000" y="216067"/>
                    <a:pt x="6858000" y="482600"/>
                  </a:cubicBezTo>
                  <a:lnTo>
                    <a:pt x="6858000" y="4343400"/>
                  </a:lnTo>
                  <a:cubicBezTo>
                    <a:pt x="6858000" y="4609933"/>
                    <a:pt x="6641933" y="4826000"/>
                    <a:pt x="6375400" y="4826000"/>
                  </a:cubicBezTo>
                  <a:lnTo>
                    <a:pt x="482600" y="4826000"/>
                  </a:lnTo>
                  <a:cubicBezTo>
                    <a:pt x="216067" y="4826000"/>
                    <a:pt x="0" y="4609933"/>
                    <a:pt x="0" y="4343400"/>
                  </a:cubicBezTo>
                  <a:lnTo>
                    <a:pt x="0" y="482600"/>
                  </a:lnTo>
                  <a:cubicBezTo>
                    <a:pt x="0" y="216067"/>
                    <a:pt x="216067" y="0"/>
                    <a:pt x="482600" y="0"/>
                  </a:cubicBezTo>
                  <a:close/>
                </a:path>
              </a:pathLst>
            </a:custGeom>
            <a:solidFill>
              <a:srgbClr val="F5F8FC"/>
            </a:solidFill>
            <a:ln cap="sq" cmpd="sng" w="9525">
              <a:solidFill>
                <a:srgbClr val="DCE5E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24"/>
            <p:cNvSpPr txBox="1"/>
            <p:nvPr/>
          </p:nvSpPr>
          <p:spPr>
            <a:xfrm>
              <a:off x="0" y="-38100"/>
              <a:ext cx="6858000" cy="48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0" name="Google Shape;1300;p24"/>
          <p:cNvGrpSpPr/>
          <p:nvPr/>
        </p:nvGrpSpPr>
        <p:grpSpPr>
          <a:xfrm>
            <a:off x="11906250" y="2162175"/>
            <a:ext cx="5143500" cy="371475"/>
            <a:chOff x="0" y="-38100"/>
            <a:chExt cx="6858000" cy="495300"/>
          </a:xfrm>
        </p:grpSpPr>
        <p:sp>
          <p:nvSpPr>
            <p:cNvPr id="1301" name="Google Shape;1301;p24"/>
            <p:cNvSpPr/>
            <p:nvPr/>
          </p:nvSpPr>
          <p:spPr>
            <a:xfrm>
              <a:off x="0" y="0"/>
              <a:ext cx="6858000" cy="457200"/>
            </a:xfrm>
            <a:custGeom>
              <a:rect b="b" l="l" r="r" t="t"/>
              <a:pathLst>
                <a:path extrusionOk="0" h="457200" w="6858000">
                  <a:moveTo>
                    <a:pt x="45720" y="0"/>
                  </a:moveTo>
                  <a:lnTo>
                    <a:pt x="6812280" y="0"/>
                  </a:lnTo>
                  <a:cubicBezTo>
                    <a:pt x="6837531" y="0"/>
                    <a:pt x="6858000" y="20470"/>
                    <a:pt x="6858000" y="45720"/>
                  </a:cubicBezTo>
                  <a:lnTo>
                    <a:pt x="6858000" y="411480"/>
                  </a:lnTo>
                  <a:cubicBezTo>
                    <a:pt x="6858000" y="436730"/>
                    <a:pt x="6837531" y="457200"/>
                    <a:pt x="6812280" y="457200"/>
                  </a:cubicBezTo>
                  <a:lnTo>
                    <a:pt x="45720" y="457200"/>
                  </a:lnTo>
                  <a:cubicBezTo>
                    <a:pt x="20470" y="457200"/>
                    <a:pt x="0" y="436730"/>
                    <a:pt x="0" y="4114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687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24"/>
            <p:cNvSpPr txBox="1"/>
            <p:nvPr/>
          </p:nvSpPr>
          <p:spPr>
            <a:xfrm>
              <a:off x="0" y="-38100"/>
              <a:ext cx="6858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3" name="Google Shape;1303;p24"/>
          <p:cNvSpPr txBox="1"/>
          <p:nvPr/>
        </p:nvSpPr>
        <p:spPr>
          <a:xfrm>
            <a:off x="12001500" y="224790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PROYECCIÓN</a:t>
            </a:r>
            <a:endParaRPr/>
          </a:p>
        </p:txBody>
      </p:sp>
      <p:grpSp>
        <p:nvGrpSpPr>
          <p:cNvPr id="1304" name="Google Shape;1304;p24"/>
          <p:cNvGrpSpPr/>
          <p:nvPr/>
        </p:nvGrpSpPr>
        <p:grpSpPr>
          <a:xfrm>
            <a:off x="12096750" y="2671763"/>
            <a:ext cx="4762500" cy="280988"/>
            <a:chOff x="0" y="-19050"/>
            <a:chExt cx="6350000" cy="374650"/>
          </a:xfrm>
        </p:grpSpPr>
        <p:sp>
          <p:nvSpPr>
            <p:cNvPr id="1305" name="Google Shape;1305;p24"/>
            <p:cNvSpPr/>
            <p:nvPr/>
          </p:nvSpPr>
          <p:spPr>
            <a:xfrm>
              <a:off x="0" y="0"/>
              <a:ext cx="6350000" cy="355600"/>
            </a:xfrm>
            <a:custGeom>
              <a:rect b="b" l="l" r="r" t="t"/>
              <a:pathLst>
                <a:path extrusionOk="0" h="355600" w="6350000">
                  <a:moveTo>
                    <a:pt x="6172200" y="0"/>
                  </a:moveTo>
                  <a:cubicBezTo>
                    <a:pt x="6270396" y="0"/>
                    <a:pt x="6350000" y="79604"/>
                    <a:pt x="6350000" y="177800"/>
                  </a:cubicBezTo>
                  <a:cubicBezTo>
                    <a:pt x="6350000" y="275996"/>
                    <a:pt x="6270396" y="355600"/>
                    <a:pt x="6172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B5A9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24"/>
            <p:cNvSpPr txBox="1"/>
            <p:nvPr/>
          </p:nvSpPr>
          <p:spPr>
            <a:xfrm>
              <a:off x="0" y="-19050"/>
              <a:ext cx="6350000" cy="37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Lavado de vehículos</a:t>
              </a:r>
              <a:endParaRPr/>
            </a:p>
          </p:txBody>
        </p:sp>
      </p:grpSp>
      <p:sp>
        <p:nvSpPr>
          <p:cNvPr id="1307" name="Google Shape;1307;p24"/>
          <p:cNvSpPr txBox="1"/>
          <p:nvPr/>
        </p:nvSpPr>
        <p:spPr>
          <a:xfrm>
            <a:off x="14335125" y="300990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1308" name="Google Shape;1308;p24"/>
          <p:cNvGrpSpPr/>
          <p:nvPr/>
        </p:nvGrpSpPr>
        <p:grpSpPr>
          <a:xfrm>
            <a:off x="12096750" y="3148013"/>
            <a:ext cx="4762500" cy="280988"/>
            <a:chOff x="0" y="-19050"/>
            <a:chExt cx="6350000" cy="374650"/>
          </a:xfrm>
        </p:grpSpPr>
        <p:sp>
          <p:nvSpPr>
            <p:cNvPr id="1309" name="Google Shape;1309;p24"/>
            <p:cNvSpPr/>
            <p:nvPr/>
          </p:nvSpPr>
          <p:spPr>
            <a:xfrm>
              <a:off x="0" y="0"/>
              <a:ext cx="6350000" cy="355600"/>
            </a:xfrm>
            <a:custGeom>
              <a:rect b="b" l="l" r="r" t="t"/>
              <a:pathLst>
                <a:path extrusionOk="0" h="355600" w="6350000">
                  <a:moveTo>
                    <a:pt x="6172200" y="0"/>
                  </a:moveTo>
                  <a:cubicBezTo>
                    <a:pt x="6270396" y="0"/>
                    <a:pt x="6350000" y="79604"/>
                    <a:pt x="6350000" y="177800"/>
                  </a:cubicBezTo>
                  <a:cubicBezTo>
                    <a:pt x="6350000" y="275996"/>
                    <a:pt x="6270396" y="355600"/>
                    <a:pt x="6172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64E8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24"/>
            <p:cNvSpPr txBox="1"/>
            <p:nvPr/>
          </p:nvSpPr>
          <p:spPr>
            <a:xfrm>
              <a:off x="0" y="-19050"/>
              <a:ext cx="6350000" cy="37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Modelo validado</a:t>
              </a:r>
              <a:endParaRPr/>
            </a:p>
          </p:txBody>
        </p:sp>
      </p:grpSp>
      <p:sp>
        <p:nvSpPr>
          <p:cNvPr id="1311" name="Google Shape;1311;p24"/>
          <p:cNvSpPr txBox="1"/>
          <p:nvPr/>
        </p:nvSpPr>
        <p:spPr>
          <a:xfrm>
            <a:off x="14335125" y="34861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grpSp>
        <p:nvGrpSpPr>
          <p:cNvPr id="1312" name="Google Shape;1312;p24"/>
          <p:cNvGrpSpPr/>
          <p:nvPr/>
        </p:nvGrpSpPr>
        <p:grpSpPr>
          <a:xfrm>
            <a:off x="12096750" y="3624263"/>
            <a:ext cx="4762500" cy="280988"/>
            <a:chOff x="0" y="-19050"/>
            <a:chExt cx="6350000" cy="374650"/>
          </a:xfrm>
        </p:grpSpPr>
        <p:sp>
          <p:nvSpPr>
            <p:cNvPr id="1313" name="Google Shape;1313;p24"/>
            <p:cNvSpPr/>
            <p:nvPr/>
          </p:nvSpPr>
          <p:spPr>
            <a:xfrm>
              <a:off x="0" y="0"/>
              <a:ext cx="6350000" cy="355600"/>
            </a:xfrm>
            <a:custGeom>
              <a:rect b="b" l="l" r="r" t="t"/>
              <a:pathLst>
                <a:path extrusionOk="0" h="355600" w="6350000">
                  <a:moveTo>
                    <a:pt x="6172200" y="0"/>
                  </a:moveTo>
                  <a:cubicBezTo>
                    <a:pt x="6270396" y="0"/>
                    <a:pt x="6350000" y="79604"/>
                    <a:pt x="6350000" y="177800"/>
                  </a:cubicBezTo>
                  <a:cubicBezTo>
                    <a:pt x="6350000" y="275996"/>
                    <a:pt x="6270396" y="355600"/>
                    <a:pt x="6172200" y="355600"/>
                  </a:cubicBezTo>
                  <a:lnTo>
                    <a:pt x="177800" y="355600"/>
                  </a:lnTo>
                  <a:cubicBezTo>
                    <a:pt x="79604" y="355600"/>
                    <a:pt x="0" y="275996"/>
                    <a:pt x="0" y="177800"/>
                  </a:cubicBez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687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24"/>
            <p:cNvSpPr txBox="1"/>
            <p:nvPr/>
          </p:nvSpPr>
          <p:spPr>
            <a:xfrm>
              <a:off x="0" y="-19050"/>
              <a:ext cx="6350000" cy="37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Plataforma Splash</a:t>
              </a:r>
              <a:endParaRPr/>
            </a:p>
          </p:txBody>
        </p:sp>
      </p:grpSp>
      <p:sp>
        <p:nvSpPr>
          <p:cNvPr id="1315" name="Google Shape;1315;p24"/>
          <p:cNvSpPr txBox="1"/>
          <p:nvPr/>
        </p:nvSpPr>
        <p:spPr>
          <a:xfrm>
            <a:off x="14335125" y="3981450"/>
            <a:ext cx="285750" cy="1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316" name="Google Shape;1316;p24"/>
          <p:cNvSpPr txBox="1"/>
          <p:nvPr/>
        </p:nvSpPr>
        <p:spPr>
          <a:xfrm>
            <a:off x="12096750" y="4143375"/>
            <a:ext cx="23431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🐾  Mascotas</a:t>
            </a:r>
            <a:endParaRPr/>
          </a:p>
        </p:txBody>
      </p:sp>
      <p:sp>
        <p:nvSpPr>
          <p:cNvPr id="1317" name="Google Shape;1317;p24"/>
          <p:cNvSpPr txBox="1"/>
          <p:nvPr/>
        </p:nvSpPr>
        <p:spPr>
          <a:xfrm>
            <a:off x="14478000" y="4143375"/>
            <a:ext cx="23431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🏠  Limpieza</a:t>
            </a:r>
            <a:endParaRPr/>
          </a:p>
        </p:txBody>
      </p:sp>
      <p:sp>
        <p:nvSpPr>
          <p:cNvPr id="1318" name="Google Shape;1318;p24"/>
          <p:cNvSpPr txBox="1"/>
          <p:nvPr/>
        </p:nvSpPr>
        <p:spPr>
          <a:xfrm>
            <a:off x="12096750" y="4352925"/>
            <a:ext cx="23431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🔧  Mantenimiento</a:t>
            </a:r>
            <a:endParaRPr/>
          </a:p>
        </p:txBody>
      </p:sp>
      <p:sp>
        <p:nvSpPr>
          <p:cNvPr id="1319" name="Google Shape;1319;p24"/>
          <p:cNvSpPr txBox="1"/>
          <p:nvPr/>
        </p:nvSpPr>
        <p:spPr>
          <a:xfrm>
            <a:off x="14478000" y="4352925"/>
            <a:ext cx="23431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🛠  Reparaciones</a:t>
            </a:r>
            <a:endParaRPr/>
          </a:p>
        </p:txBody>
      </p:sp>
      <p:sp>
        <p:nvSpPr>
          <p:cNvPr id="1320" name="Google Shape;1320;p24"/>
          <p:cNvSpPr txBox="1"/>
          <p:nvPr/>
        </p:nvSpPr>
        <p:spPr>
          <a:xfrm>
            <a:off x="12096750" y="4562475"/>
            <a:ext cx="23431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➕  Otros</a:t>
            </a:r>
            <a:endParaRPr/>
          </a:p>
        </p:txBody>
      </p:sp>
      <p:sp>
        <p:nvSpPr>
          <p:cNvPr id="1321" name="Google Shape;1321;p24"/>
          <p:cNvSpPr txBox="1"/>
          <p:nvPr/>
        </p:nvSpPr>
        <p:spPr>
          <a:xfrm>
            <a:off x="14478000" y="4562475"/>
            <a:ext cx="23431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24"/>
          <p:cNvSpPr txBox="1"/>
          <p:nvPr/>
        </p:nvSpPr>
        <p:spPr>
          <a:xfrm>
            <a:off x="12096750" y="4772025"/>
            <a:ext cx="23431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24"/>
          <p:cNvSpPr txBox="1"/>
          <p:nvPr/>
        </p:nvSpPr>
        <p:spPr>
          <a:xfrm>
            <a:off x="14478000" y="4772025"/>
            <a:ext cx="23431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4" name="Google Shape;1324;p24"/>
          <p:cNvGrpSpPr/>
          <p:nvPr/>
        </p:nvGrpSpPr>
        <p:grpSpPr>
          <a:xfrm>
            <a:off x="1238250" y="5972175"/>
            <a:ext cx="15811500" cy="1171575"/>
            <a:chOff x="0" y="-38100"/>
            <a:chExt cx="21082000" cy="1562100"/>
          </a:xfrm>
        </p:grpSpPr>
        <p:sp>
          <p:nvSpPr>
            <p:cNvPr id="1325" name="Google Shape;1325;p24"/>
            <p:cNvSpPr/>
            <p:nvPr/>
          </p:nvSpPr>
          <p:spPr>
            <a:xfrm>
              <a:off x="0" y="0"/>
              <a:ext cx="21082000" cy="1524000"/>
            </a:xfrm>
            <a:custGeom>
              <a:rect b="b" l="l" r="r" t="t"/>
              <a:pathLst>
                <a:path extrusionOk="0" h="1524000" w="21082000">
                  <a:moveTo>
                    <a:pt x="152400" y="0"/>
                  </a:moveTo>
                  <a:lnTo>
                    <a:pt x="20929600" y="0"/>
                  </a:lnTo>
                  <a:cubicBezTo>
                    <a:pt x="21013769" y="0"/>
                    <a:pt x="21082000" y="68232"/>
                    <a:pt x="21082000" y="152400"/>
                  </a:cubicBezTo>
                  <a:lnTo>
                    <a:pt x="21082000" y="1371600"/>
                  </a:lnTo>
                  <a:cubicBezTo>
                    <a:pt x="21082000" y="1455768"/>
                    <a:pt x="21013769" y="1524000"/>
                    <a:pt x="20929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F5EF"/>
            </a:solidFill>
            <a:ln cap="sq" cmpd="sng" w="9525">
              <a:solidFill>
                <a:srgbClr val="B8DFC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24"/>
            <p:cNvSpPr txBox="1"/>
            <p:nvPr/>
          </p:nvSpPr>
          <p:spPr>
            <a:xfrm>
              <a:off x="0" y="-38100"/>
              <a:ext cx="21082000" cy="15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7" name="Google Shape;1327;p24"/>
          <p:cNvSpPr txBox="1"/>
          <p:nvPr/>
        </p:nvSpPr>
        <p:spPr>
          <a:xfrm>
            <a:off x="1524000" y="6105525"/>
            <a:ext cx="15240000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32238"/>
                </a:solidFill>
                <a:latin typeface="Arial"/>
                <a:ea typeface="Arial"/>
                <a:cs typeface="Arial"/>
                <a:sym typeface="Arial"/>
              </a:rPr>
              <a:t>El lavado de vehículos valida la operación inicial. Si el MVP demuestra adopción y viabilidad, la misma base tecnológica puede reutilizarse para nuevas categorías de servicios a domicilio.</a:t>
            </a:r>
            <a:endParaRPr/>
          </a:p>
        </p:txBody>
      </p:sp>
      <p:sp>
        <p:nvSpPr>
          <p:cNvPr id="1328" name="Google Shape;1328;p24"/>
          <p:cNvSpPr txBox="1"/>
          <p:nvPr/>
        </p:nvSpPr>
        <p:spPr>
          <a:xfrm>
            <a:off x="6286500" y="68770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68763"/>
                </a:solidFill>
                <a:latin typeface="Arial"/>
                <a:ea typeface="Arial"/>
                <a:cs typeface="Arial"/>
                <a:sym typeface="Arial"/>
              </a:rPr>
              <a:t>Una plataforma. Múltiples servicios.</a:t>
            </a:r>
            <a:endParaRPr/>
          </a:p>
        </p:txBody>
      </p:sp>
      <p:sp>
        <p:nvSpPr>
          <p:cNvPr id="1329" name="Google Shape;1329;p24"/>
          <p:cNvSpPr txBox="1"/>
          <p:nvPr/>
        </p:nvSpPr>
        <p:spPr>
          <a:xfrm>
            <a:off x="1123950" y="9658350"/>
            <a:ext cx="11249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Splash  ·  Capstone PTY4614  ·  Propuesta de proyecto</a:t>
            </a:r>
            <a:endParaRPr/>
          </a:p>
        </p:txBody>
      </p:sp>
      <p:sp>
        <p:nvSpPr>
          <p:cNvPr id="1330" name="Google Shape;1330;p24"/>
          <p:cNvSpPr txBox="1"/>
          <p:nvPr/>
        </p:nvSpPr>
        <p:spPr>
          <a:xfrm>
            <a:off x="15954375" y="9658350"/>
            <a:ext cx="1104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70809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