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f58f66ebd641e6" /><Relationship Type="http://schemas.openxmlformats.org/officeDocument/2006/relationships/extended-properties" Target="/docProps/app.xml" Id="R1a9e776505df4680" /><Relationship Type="http://schemas.openxmlformats.org/officeDocument/2006/relationships/officeDocument" Target="/ppt/presentation.xml" Id="R4c469d92c5ec4c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25f34fef444976"/>
  </p:sldMasterIdLst>
  <p:notesMasterIdLst>
    <p:notesMasterId xmlns:r="http://schemas.openxmlformats.org/officeDocument/2006/relationships" r:id="Re52c27afe31d43b5"/>
  </p:notesMasterIdLst>
  <p:sldIdLst>
    <p:sldId xmlns:r="http://schemas.openxmlformats.org/officeDocument/2006/relationships" id="256" r:id="Rc8079b04c2904932"/>
    <p:sldId xmlns:r="http://schemas.openxmlformats.org/officeDocument/2006/relationships" id="257" r:id="R8572bdbe7f244f4e"/>
    <p:sldId xmlns:r="http://schemas.openxmlformats.org/officeDocument/2006/relationships" id="258" r:id="R2b25c8d314514926"/>
    <p:sldId xmlns:r="http://schemas.openxmlformats.org/officeDocument/2006/relationships" id="259" r:id="R811a9fe6edeb4f53"/>
    <p:sldId xmlns:r="http://schemas.openxmlformats.org/officeDocument/2006/relationships" id="260" r:id="R3b0a9062a53a4db6"/>
    <p:sldId xmlns:r="http://schemas.openxmlformats.org/officeDocument/2006/relationships" id="261" r:id="R1fc5c49286364e1c"/>
    <p:sldId xmlns:r="http://schemas.openxmlformats.org/officeDocument/2006/relationships" id="262" r:id="Rfa556bf0f13e4cc7"/>
    <p:sldId xmlns:r="http://schemas.openxmlformats.org/officeDocument/2006/relationships" id="263" r:id="Rc0b3c9e889d54ca3"/>
    <p:sldId xmlns:r="http://schemas.openxmlformats.org/officeDocument/2006/relationships" id="264" r:id="Ra84fd3850b0b48a6"/>
    <p:sldId xmlns:r="http://schemas.openxmlformats.org/officeDocument/2006/relationships" id="265" r:id="R2a9f4a0a18354ec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cb38cf3ec74a1a" /><Relationship Type="http://schemas.openxmlformats.org/officeDocument/2006/relationships/slideMaster" Target="/ppt/slideMasters/slideMaster1.xml" Id="R3825f34fef444976" /><Relationship Type="http://schemas.openxmlformats.org/officeDocument/2006/relationships/notesMaster" Target="/ppt/notesMasters/notesMaster1.xml" Id="Re52c27afe31d43b5" /><Relationship Type="http://schemas.openxmlformats.org/officeDocument/2006/relationships/presProps" Target="/ppt/presProps.xml" Id="R539cd583cb694980" /><Relationship Type="http://schemas.openxmlformats.org/officeDocument/2006/relationships/viewProps" Target="/ppt/viewProps.xml" Id="Rb3ce10a458ee4399" /><Relationship Type="http://schemas.openxmlformats.org/officeDocument/2006/relationships/tableStyles" Target="/ppt/tableStyles.xml" Id="R823e95fed569488d" /><Relationship Type="http://schemas.openxmlformats.org/officeDocument/2006/relationships/slide" Target="/ppt/slides/slide1.xml" Id="Rc8079b04c2904932" /><Relationship Type="http://schemas.openxmlformats.org/officeDocument/2006/relationships/slide" Target="/ppt/slides/slide2.xml" Id="R8572bdbe7f244f4e" /><Relationship Type="http://schemas.openxmlformats.org/officeDocument/2006/relationships/slide" Target="/ppt/slides/slide3.xml" Id="R2b25c8d314514926" /><Relationship Type="http://schemas.openxmlformats.org/officeDocument/2006/relationships/slide" Target="/ppt/slides/slide4.xml" Id="R811a9fe6edeb4f53" /><Relationship Type="http://schemas.openxmlformats.org/officeDocument/2006/relationships/slide" Target="/ppt/slides/slide5.xml" Id="R3b0a9062a53a4db6" /><Relationship Type="http://schemas.openxmlformats.org/officeDocument/2006/relationships/slide" Target="/ppt/slides/slide6.xml" Id="R1fc5c49286364e1c" /><Relationship Type="http://schemas.openxmlformats.org/officeDocument/2006/relationships/slide" Target="/ppt/slides/slide7.xml" Id="Rfa556bf0f13e4cc7" /><Relationship Type="http://schemas.openxmlformats.org/officeDocument/2006/relationships/slide" Target="/ppt/slides/slide8.xml" Id="Rc0b3c9e889d54ca3" /><Relationship Type="http://schemas.openxmlformats.org/officeDocument/2006/relationships/slide" Target="/ppt/slides/slide9.xml" Id="Ra84fd3850b0b48a6" /><Relationship Type="http://schemas.openxmlformats.org/officeDocument/2006/relationships/slide" Target="/ppt/slides/slide10.xml" Id="R2a9f4a0a1835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3f475014984e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18a9e87f5a445a" /><Relationship Type="http://schemas.openxmlformats.org/officeDocument/2006/relationships/notesMaster" Target="/ppt/notesMasters/notesMaster1.xml" Id="R93eaee8d24b949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d02162a4c1461b" /><Relationship Type="http://schemas.openxmlformats.org/officeDocument/2006/relationships/notesMaster" Target="/ppt/notesMasters/notesMaster1.xml" Id="R60805278451346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dc76f595bd40d2" /><Relationship Type="http://schemas.openxmlformats.org/officeDocument/2006/relationships/notesMaster" Target="/ppt/notesMasters/notesMaster1.xml" Id="Rc25739e7761740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a6b44a011f4d34" /><Relationship Type="http://schemas.openxmlformats.org/officeDocument/2006/relationships/notesMaster" Target="/ppt/notesMasters/notesMaster1.xml" Id="Rab34270c6fae49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dd656bab4e4bc9" /><Relationship Type="http://schemas.openxmlformats.org/officeDocument/2006/relationships/notesMaster" Target="/ppt/notesMasters/notesMaster1.xml" Id="R7ddc43171d2748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b62937a8544ac1" /><Relationship Type="http://schemas.openxmlformats.org/officeDocument/2006/relationships/notesMaster" Target="/ppt/notesMasters/notesMaster1.xml" Id="R694862ca3ea940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c3ff1ac52b4012" /><Relationship Type="http://schemas.openxmlformats.org/officeDocument/2006/relationships/notesMaster" Target="/ppt/notesMasters/notesMaster1.xml" Id="R06b7ffb1397f43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d256de80434d52" /><Relationship Type="http://schemas.openxmlformats.org/officeDocument/2006/relationships/notesMaster" Target="/ppt/notesMasters/notesMaster1.xml" Id="Rc9e96336a11544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2591fbf6746d2" /><Relationship Type="http://schemas.openxmlformats.org/officeDocument/2006/relationships/notesMaster" Target="/ppt/notesMasters/notesMaster1.xml" Id="R00691a19d71a44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0d5e404c364878" /><Relationship Type="http://schemas.openxmlformats.org/officeDocument/2006/relationships/notesMaster" Target="/ppt/notesMasters/notesMaster1.xml" Id="R700ae8d82dbe4f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Portada. Presentar el proyecto: Splash, plataforma para gestionar y solicitar lavados de vehículos a domicilio. Recordar completar Integrantes y Fecha. Contexto: Capstone PTY4614, Fase 1 – Definición del Proyecto APT.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Problema. Hoy solicitar un lavado implica trasladarse a un local, esperar disponibilidad o coordinar por canales informales (llamadas/WhatsApp), sin registro ni trazabilidad. Splash digitaliza y centraliza el proceso: necesidad → solicitud digital → lavador disponible → servicio realizado.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Qué es Splash. Ecosistema de 2 apps móviles (cliente y lavador) + panel admin web, conectados por una API con tiempo real. Funciones YA implementadas (verificadas en el repo): registro/login con JWT, registro y selección de vehículos, direcciones guardadas, tipos de lavado con precio diferenciado por vehículo, solicitud inmediata o programada, asignación de lavador, seguimiento GPS, fotos antes/después, billetera con escrow, historial y calificaciones. PROYECTADO: pagos reales con pasarela (hoy la billetera es interna/simulada).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Flujo real. Basado en la máquina de estados del backend: el cliente se registra, agrega vehículo, elige servicio y solicita; el sistema notifica a los lavadores por WebSocket; un lavador acepta y el servicio pasa por EN_CAMINO, EN_PROCESO, COMPLETADO y CONFIRMADO, quedando en el historial. Estados reales: PENDIENTE, ACEPTADO, EN_CAMINO, EN_PROCESO, COMPLETADO, CONFIRMADO (además CANCELADO y DISPUTADO).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Relevancia. Splash no es solo UI: integra desarrollo, apps móviles/web, APIs, base de datos, autenticación/seguridad, lógica de negocio (precios, comisión, escrow), UX, pruebas, integración de componentes y gestión de proyecto. Cubre el rango completo de la carrera.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Competencias del perfil de egreso (clave para la evaluación). (1) Pruebas y validación: probar auth, vehículos, solicitudes, precios, estados y cancelaciones. (2) Gestión de proyectos: requerimientos, priorización, seguimiento. (3) Modelos de datos: modelo relacional de 12 entidades en Prisma. (4) Desarrollo de software: apps + API REST + WebSocket + panel web integrados. Se demuestran al menos 3 (aquí 4).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y tecnologías REALES (no inventar). Frontend: React Native 0.83 + Expo SDK 55 + TypeScript + expo-router; librerías expo-location (GPS), expo-image-picker (cámara), expo-notifications (push), MapLibre (mapas), socket.io-client. Backend: Node.js + Express 5 + TypeScript, Socket.io, Prisma 7 ORM, SQLite (dev), JWT + bcrypt, validación con Zod, seguridad con Helmet/CORS/rate-limit. Servicios: Expo Push, MapLibre, GPS. Panel admin en HTML. PostgreSQL y hosting quedan como proyectado para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Factibilidad. Tiempo: base ya construida, se avanza por etapas priorizando lo crítico. Recursos: equipos, repositorio y stack de bajo costo ya en uso. Estado actual: gran parte del núcleo ya opera (auth, solicitudes, estados, tracking, fotos, billetera, panel admin). Riesgos y mitigación: pagos reales (empezar con billetera simulada y modelar la integración), mapa visual (usar MapLibre/placeholder y activar mapa real por etapas), notificaciones (Expo Push, probar en dispositivos), estados (validación exhaustiva), compatibilidad de pantallas (diseño responsive ya aplicado).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Alcance de Capstone. Incluido: consolidar auth y roles, flujo de solicitud y estados, tracking + evidencia, billetera/escrow y precios/comisión, calificaciones/disputas/notificaciones, responsive y pruebas de funciones críticas. Fuera del alcance / futuro: pagos reales con pasarela, mapa visual de producción, suscripciones, catálogo de productos, verificación formal de antecedentes, migración a PostgreSQL y despliegue. Alcance acotado y realista para un semestre.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Cierre. Reforzar el mensaje final: Splash moderniza la solicitud y gestión de lavados integrando desarrollo, datos, pruebas y gestión de proyectos. Abrir a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ce48a966946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b5b157f124f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a9d899f4947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a6c97a3844a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5cfa985ba742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56b4db5f740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942b7167d4cf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d85bda1c84f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8d622aa8c47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a4e4825d7449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db09add54448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08CA00-1B9A-4494-9407-B5337561C84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D8C68E8-1246-45E3-8001-4E96440FB4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2B3D56-292F-4922-97AE-D7670DB3F5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F91977-F644-4BB4-B3A9-3249BE144D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147927-FC66-4B1A-914D-2B443D8108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91BF5A-4830-40BE-B6CD-CA16FD51D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12528A-2A60-4096-8721-464BAA5D07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CBB48BA-E108-4CC1-AC3A-A5C39A5A45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1FDA0F-E9B0-482B-A2B7-D4B057BA16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21B8B3-686C-4981-95AA-A0C11CE7A4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708F15-3E59-49B8-8A84-1A6B5B539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3C9D395-9235-4EAE-9D37-7DA532A24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776B16-B88A-4515-ABC4-B6B12EE8E2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6CAD86-6814-4FA0-8854-A016FCF032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18F917-443A-4F69-A6AE-CBFDF11CC9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08A4CA-C87B-4DF8-80BF-35DF34E32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81B395-D20B-4AC5-BB44-40BF6A025B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BB3A13-498B-4947-AC70-3A923D3335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20D1599-148A-4360-9723-73CF6719EB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803B12-361A-4D1E-8D0F-0B3CB16814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729B2BC-D580-4702-8741-ADDE739793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79FFDD-298C-4DF9-9B21-BBB1B821B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75B56F-DC96-42E7-B8B4-68F014919C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DB5F741-BFFE-49BA-A2EC-F63B1855522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5CB8EBB-21F2-434F-9A67-43BCD707A2A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E70C22F-8FDE-4FE5-9E06-46E136F4924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44C9CF1-CC53-4C09-9A77-A70B9FD43E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B5D68E1-6FA8-4F22-AAFA-713EC42C56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BFBE638-C78E-403D-B6BA-4F137C7ECA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BC5F96-CDC1-4043-83AD-18E6FA9F65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C6F1FD9-43C0-4B09-B0BD-67997D0BAF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D0CEDA-D723-4061-8EAE-076785431C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EE01142-83A6-4320-828A-CF2323AA28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E1DA0BC-C5B9-48F2-AD20-380F45A0F5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7263CE6-1903-4B6E-B87A-B83B32C422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9EA1B73-823D-420B-9413-182E945FD5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6E36DB-B846-4420-9643-1FA30FA14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24F661-82E3-473A-BE0A-6A0732E762E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A85E894-1100-4B51-AB32-D22179DF8E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B48D95-2CD8-432A-B625-0B84B62732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2524124-9CBD-4DD7-8C65-61253F1352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3B61CB-6585-4103-B3C9-8E47983200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A7889A-E8A0-4658-9093-A5F450517E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D915747-17C4-4197-805C-2C0C9A6757A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BBFD43-B0AE-4843-95F5-5E8D660D61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09E114D-F2F3-426C-BE2A-BEDEB3CD2C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0631F45-AC07-48B7-BDF8-35EB752A42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D29A7DE-432F-4088-B0AE-1BFD90B211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359A0F-A1D5-42BD-98D7-2EF9719BAE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D9B5A4-3C7F-400C-92AA-865527BB90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17B967-A32C-4F97-AB98-A92FD90A01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C5560C-26C1-44AB-BBAA-09F89012E4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09B402-AC40-4718-BD34-00AE33053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DBA31D2-5195-4CBE-A79C-A18305B475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5D0AC2-C90B-40D4-9E41-AED0FE52FD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10BB21-11D0-4BDD-8A53-93618BC520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BDC41B-DA8B-4A40-85C9-288A992FD2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599C4A-A00F-44F6-B27F-67C6D51573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a3c46b859843ae" /><Relationship Type="http://schemas.openxmlformats.org/officeDocument/2006/relationships/slideLayout" Target="/ppt/slideLayouts/slideLayout1.xml" Id="Rd9d628cfc6724e02" /><Relationship Type="http://schemas.openxmlformats.org/officeDocument/2006/relationships/slideLayout" Target="/ppt/slideLayouts/slideLayout2.xml" Id="Re86da6a9596c452d" /><Relationship Type="http://schemas.openxmlformats.org/officeDocument/2006/relationships/slideLayout" Target="/ppt/slideLayouts/slideLayout3.xml" Id="R79c733b39619404f" /><Relationship Type="http://schemas.openxmlformats.org/officeDocument/2006/relationships/slideLayout" Target="/ppt/slideLayouts/slideLayout4.xml" Id="R2121b3b6e57c47fc" /><Relationship Type="http://schemas.openxmlformats.org/officeDocument/2006/relationships/slideLayout" Target="/ppt/slideLayouts/slideLayout5.xml" Id="R10c6e2668b984263" /><Relationship Type="http://schemas.openxmlformats.org/officeDocument/2006/relationships/slideLayout" Target="/ppt/slideLayouts/slideLayout6.xml" Id="Rb31ec3351ab7476d" /><Relationship Type="http://schemas.openxmlformats.org/officeDocument/2006/relationships/slideLayout" Target="/ppt/slideLayouts/slideLayout7.xml" Id="Red6c5de102de4955" /><Relationship Type="http://schemas.openxmlformats.org/officeDocument/2006/relationships/slideLayout" Target="/ppt/slideLayouts/slideLayout8.xml" Id="R77facc8a61bb4307" /><Relationship Type="http://schemas.openxmlformats.org/officeDocument/2006/relationships/slideLayout" Target="/ppt/slideLayouts/slideLayout9.xml" Id="R0d78082c4fc44ee3" /><Relationship Type="http://schemas.openxmlformats.org/officeDocument/2006/relationships/slideLayout" Target="/ppt/slideLayouts/slideLayout10.xml" Id="R612b2a71702c406f" /><Relationship Type="http://schemas.openxmlformats.org/officeDocument/2006/relationships/slideLayout" Target="/ppt/slideLayouts/slideLayout11.xml" Id="R754821c8240f479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025CFCA-5B5B-4076-9A3C-4C4FB6AEF1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884756-9816-48E3-AFBA-6D1A03E5EB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E9D38C-540D-4232-95C1-58D2FE2FFDE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BC5B12-18DE-4824-9B4F-D30175B9B7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455A69-6C77-477D-B13C-519D338176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d628cfc6724e02"/>
    <p:sldLayoutId xmlns:r="http://schemas.openxmlformats.org/officeDocument/2006/relationships" id="2147483650" r:id="Re86da6a9596c452d"/>
    <p:sldLayoutId xmlns:r="http://schemas.openxmlformats.org/officeDocument/2006/relationships" id="2147483651" r:id="R79c733b39619404f"/>
    <p:sldLayoutId xmlns:r="http://schemas.openxmlformats.org/officeDocument/2006/relationships" id="2147483652" r:id="R2121b3b6e57c47fc"/>
    <p:sldLayoutId xmlns:r="http://schemas.openxmlformats.org/officeDocument/2006/relationships" id="2147483653" r:id="R10c6e2668b984263"/>
    <p:sldLayoutId xmlns:r="http://schemas.openxmlformats.org/officeDocument/2006/relationships" id="2147483654" r:id="Rb31ec3351ab7476d"/>
    <p:sldLayoutId xmlns:r="http://schemas.openxmlformats.org/officeDocument/2006/relationships" id="2147483655" r:id="Red6c5de102de4955"/>
    <p:sldLayoutId xmlns:r="http://schemas.openxmlformats.org/officeDocument/2006/relationships" id="2147483656" r:id="R77facc8a61bb4307"/>
    <p:sldLayoutId xmlns:r="http://schemas.openxmlformats.org/officeDocument/2006/relationships" id="2147483657" r:id="R0d78082c4fc44ee3"/>
    <p:sldLayoutId xmlns:r="http://schemas.openxmlformats.org/officeDocument/2006/relationships" id="2147483658" r:id="R612b2a71702c406f"/>
    <p:sldLayoutId xmlns:r="http://schemas.openxmlformats.org/officeDocument/2006/relationships" id="2147483659" r:id="R754821c8240f479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00a1f9b2904079" /><Relationship Type="http://schemas.openxmlformats.org/officeDocument/2006/relationships/image" Target="/ppt/media/image.png" Id="R03a5051697684942" /><Relationship Type="http://schemas.openxmlformats.org/officeDocument/2006/relationships/notesSlide" Target="/ppt/notesSlides/notesSlide1.xml" Id="R6a21f9d0bd0445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516099c5ff466f" /><Relationship Type="http://schemas.openxmlformats.org/officeDocument/2006/relationships/notesSlide" Target="/ppt/notesSlides/notesSlide2.xml" Id="Rc1c320dbe4314c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373021051545ce" /><Relationship Type="http://schemas.openxmlformats.org/officeDocument/2006/relationships/notesSlide" Target="/ppt/notesSlides/notesSlide3.xml" Id="Rafa5bcc1be1e42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b855d79aaf4152" /><Relationship Type="http://schemas.openxmlformats.org/officeDocument/2006/relationships/notesSlide" Target="/ppt/notesSlides/notesSlide4.xml" Id="R83a84ca80b0747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a4db4364b2470e" /><Relationship Type="http://schemas.openxmlformats.org/officeDocument/2006/relationships/notesSlide" Target="/ppt/notesSlides/notesSlide5.xml" Id="Rfaa832c51803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5b309c3c344647" /><Relationship Type="http://schemas.openxmlformats.org/officeDocument/2006/relationships/notesSlide" Target="/ppt/notesSlides/notesSlide6.xml" Id="R56861d71a4554b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42633931da4f9b" /><Relationship Type="http://schemas.openxmlformats.org/officeDocument/2006/relationships/notesSlide" Target="/ppt/notesSlides/notesSlide7.xml" Id="Rc6b8608878ad4d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85df81bd7b4606" /><Relationship Type="http://schemas.openxmlformats.org/officeDocument/2006/relationships/notesSlide" Target="/ppt/notesSlides/notesSlide8.xml" Id="Rc1039b73168943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fa4ea007404cfa" /><Relationship Type="http://schemas.openxmlformats.org/officeDocument/2006/relationships/notesSlide" Target="/ppt/notesSlides/notesSlide9.xml" Id="Rdc7d50dc074f44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fb5660804c4f18" /><Relationship Type="http://schemas.openxmlformats.org/officeDocument/2006/relationships/image" Target="/ppt/media/image.png" Id="R056c0beae0f54454" /><Relationship Type="http://schemas.openxmlformats.org/officeDocument/2006/relationships/notesSlide" Target="/ppt/notesSlides/notesSlide10.xml" Id="R622af52abc6e4b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4E8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D2321EE-7399-4038-8AEC-6D13E4F6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-2011680"/>
            <a:ext cx="5943600" cy="594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8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644931B-A5CC-449F-93EA-D76E63D9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3566160"/>
            <a:ext cx="4206240" cy="420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8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12D86167-680A-45DD-9611-223E9BB5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63040" y="4206240"/>
            <a:ext cx="3840480" cy="3840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50516976849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777240"/>
            <a:ext cx="1371600" cy="13716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101765C-197C-42CA-81B6-0D3C5FDD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960120"/>
            <a:ext cx="5486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EAF2FA"/>
                </a:solidFill>
                <a:latin typeface="Aptos Display"/>
                <a:ea typeface="Aptos Display"/>
                <a:cs typeface="Aptos Display"/>
              </a:rPr>
              <a:t>PROYECTO APT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4C211E5-BDF2-44B4-973C-00C65807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100584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Splash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16456DB-C488-469B-995D-ABD7C1E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1880"/>
            <a:ext cx="87782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2100" b="0">
                <a:solidFill>
                  <a:srgbClr val="EAF2FA"/>
                </a:solidFill>
                <a:latin typeface="Aptos"/>
                <a:ea typeface="Aptos"/>
                <a:cs typeface="Aptos"/>
              </a:rPr>
              <a:t>Plataforma digital para la gestión y solicitud de servicios de lavado de vehículos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0AEBC0-ADBA-4150-B65A-2F18D1AA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92040"/>
            <a:ext cx="233172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Ingeniería en Informática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739AE54-246C-4AAF-92C4-5879A998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4892040"/>
            <a:ext cx="214884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Capstone – PTY4614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364B264-A761-4EBB-9943-EB37C581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4892040"/>
            <a:ext cx="2514600" cy="384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78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Fase 1 · Definición Proyecto APT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A15D3CB-B7ED-44BE-A6F9-D989891D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806440"/>
            <a:ext cx="4754880" cy="182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4D9AD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0FFF9FC-5085-412A-9BB0-459F5FB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94360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EAF2FA"/>
                </a:solidFill>
                <a:latin typeface="Aptos"/>
                <a:ea typeface="Aptos"/>
                <a:cs typeface="Aptos"/>
              </a:rPr>
              <a:t>Integrantes:  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7E3C0BB-35AA-454B-8235-A1453C97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94360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[Integrantes]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4316797-7D1C-41D7-B721-458FB3E5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6327648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EAF2FA"/>
                </a:solidFill>
                <a:latin typeface="Aptos"/>
                <a:ea typeface="Aptos"/>
                <a:cs typeface="Aptos"/>
              </a:rPr>
              <a:t>Fecha: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5F27877-CE0C-4341-8841-F01BBBFB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632764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[Fecha]</a:t>
            </a:r>
          </a:p>
        </p:txBody>
      </p:sp>
    </p:spTree>
    <p:extLst>
      <p:ext uri="{BB962C8B-B14F-4D97-AF65-F5344CB8AC3E}">
        <p14:creationId xmlns:p14="http://schemas.microsoft.com/office/powerpoint/2010/main" val="256817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E503FF31-2AB2-4256-B9CE-EF6E19B6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"/>
            <a:ext cx="310896" cy="27432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F645F37-490F-4F96-AEAE-04A5994D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6692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EL PROBLEMA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885F7A5-A577-49F8-B515-6E9A9674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32688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30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Solicitar un lavado hoy es lento y poco centralizado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303D0BF-2DA1-497C-BF67-BB83B7EF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10424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5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El cliente suele trasladarse hasta un local, esperar disponibilidad o coordinar el servicio por canales informales (llamadas, redes sociales, boca a boca).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B7A1650-6C7E-4ED6-9F19-66725275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3410712" cy="1371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D79D26-B82E-475F-8395-649FA3B3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🚗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1DA79B7-A363-437E-9139-1E44AF1F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724912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Traslado del cliente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9491E75-A39A-4AB2-8B93-2F7DD7D4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46120"/>
            <a:ext cx="2880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0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Debe llevar el vehículo hasta el local.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B38F3ED-2698-4688-AAE3-67D5E2B1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514600"/>
            <a:ext cx="3410712" cy="1371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2D384A-6963-4E9D-9295-B112803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9748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⏳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1E75775-1D09-4D85-9A1B-9770B9B0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724912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Esperas y disponibilidad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9B24D2-8760-42E0-B346-E324425F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46120"/>
            <a:ext cx="2880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0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Sin visibilidad de tiempos ni cupos.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4E82A1C-AA90-456D-A6D3-F8BEB7EB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2514600"/>
            <a:ext cx="3410712" cy="13716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DCEA897-69A2-4077-A576-8B56FE41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9748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6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💬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6A1F6C5-DAA5-4A86-BE9F-67CB806D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24912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5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Coordinación informal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D97B116-ED22-4787-93E0-2F96EBC8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46120"/>
            <a:ext cx="2880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0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WhatsApp, llamadas, sin registro ni respaldo.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FC3F43B-9028-40E9-AB75-38310C69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9768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La propuesta de Splash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510E44A-1E73-4BE1-BF1D-CE0B6898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0"/>
            <a:ext cx="2331720" cy="105156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50" b="1">
                <a:solidFill>
                  <a:srgbClr val="164E86"/>
                </a:solidFill>
                <a:latin typeface="Aptos"/>
                <a:ea typeface="Aptos"/>
                <a:cs typeface="Aptos"/>
              </a:rPr>
              <a:t>Necesidad del cliente</a:t>
            </a:r>
          </a:p>
        </p:txBody>
      </p:sp>
      <p:sp>
        <p:nvSpPr>
          <p:cNvPr id="20" name="Right Arrow 19">
            <a:extLst xmlns:a="http://schemas.openxmlformats.org/drawingml/2006/main">
              <a:ext uri="{FF2B5EF4-FFF2-40B4-BE49-F238E27FC236}">
                <a16:creationId xmlns:a16="http://schemas.microsoft.com/office/drawing/2014/main" id="{C8FBC0EE-9600-4D7F-8D67-C6623BB3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1" y="5148072"/>
            <a:ext cx="38404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D2F81089-C7C4-4938-8EF3-1A2655E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54880"/>
            <a:ext cx="2331720" cy="105156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Solicitud digital</a:t>
            </a:r>
          </a:p>
        </p:txBody>
      </p:sp>
      <p:sp>
        <p:nvSpPr>
          <p:cNvPr id="22" name="Right Arrow 21">
            <a:extLst xmlns:a="http://schemas.openxmlformats.org/drawingml/2006/main">
              <a:ext uri="{FF2B5EF4-FFF2-40B4-BE49-F238E27FC236}">
                <a16:creationId xmlns:a16="http://schemas.microsoft.com/office/drawing/2014/main" id="{DC065AFB-19DF-4063-9DDB-38A5D3AE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592" y="5148072"/>
            <a:ext cx="38404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B90E585-C2B6-48D5-A63F-FB5492EA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59" y="4754880"/>
            <a:ext cx="2331720" cy="105156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50" b="1">
                <a:solidFill>
                  <a:srgbClr val="164E86"/>
                </a:solidFill>
                <a:latin typeface="Aptos"/>
                <a:ea typeface="Aptos"/>
                <a:cs typeface="Aptos"/>
              </a:rPr>
              <a:t>Lavador disponible</a:t>
            </a:r>
          </a:p>
        </p:txBody>
      </p:sp>
      <p:sp>
        <p:nvSpPr>
          <p:cNvPr id="24" name="Right Arrow 23">
            <a:extLst xmlns:a="http://schemas.openxmlformats.org/drawingml/2006/main">
              <a:ext uri="{FF2B5EF4-FFF2-40B4-BE49-F238E27FC236}">
                <a16:creationId xmlns:a16="http://schemas.microsoft.com/office/drawing/2014/main" id="{8A85DA39-77C0-48E1-AFCA-09637B83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5148072"/>
            <a:ext cx="38404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B3597F7-3489-41B7-80D8-BF6B913A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59" y="4754880"/>
            <a:ext cx="2331720" cy="105156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Servicio realizado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5A41B29-C12F-4CFA-9D40-AE8D397D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Splash  ·  Capstone PTY4614  ·  Fase 1 – Definición Proyecto APT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4BF0F53-CC94-4C3D-B094-064CABD0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1908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8852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51B3161B-E4B1-4C7E-A6B5-5DA7469E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"/>
            <a:ext cx="310896" cy="27432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8E6A610-BC2F-4C0F-AA40-8B0FFE56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6692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¿QUÉ ES SPLASH?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9152FC5-3F13-440A-8A0A-B032AF59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9906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Una solución de lavado de autos a domicilio, gestionada por app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8492677-4127-49E1-A008-6A2CF75C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9810750" cy="4949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Ecosistema con dos apps móviles (cliente y lavador) y un panel de administración web, conectados por una API con seguimiento en tiempo real.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21FE636-99F7-485D-A0B9-CFE0A971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95728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27AF57D-170B-46AD-B8CF-07F950C9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496312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28BFA88-A191-4B62-961B-32D0FE05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395728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Registro e inicio de sesión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6D6246E-582B-40E0-B9FF-B4B364A2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395728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9B32783-D170-4107-90EC-F99C9E17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496312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D6CF28A-00DB-4181-B8C0-C7B9AF7F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2395728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Registro de vehículos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4569813-7AF6-40C5-BAD5-B1577717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26664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60509E0-CEB9-4161-822B-0D6E23D0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127248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ECB307-09B7-44DA-9066-FB54C40D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026664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Selección de vehículo y dirección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BA176D8-144A-446A-8ABE-28733C16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3026664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4C1A457-527C-4F2C-B85E-24D6E988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127248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C208087-EB96-4896-9C2D-E8FEB13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3026664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Tipos de lavado y precio diferenciado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19868BB-4DB5-48DF-BB56-B3FC050E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9513EBE-436B-422C-8764-B11F8B73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58184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121DC01-C7C2-4134-A3A4-CF45E178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3657600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Solicitud (inmediata o programada)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3499F2B-C4A4-4D87-927A-1308F03F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3657600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2253F9A-167F-492C-BC43-BC45149D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758184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C608903-9DEC-402C-91EA-0C8D50EB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3657600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Búsqueda y asignación de lavador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1D47D5B-0332-4717-87E2-E7FA2F8E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88536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659E7C4-012F-4507-8767-4FFD9F2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7CC046E-5A62-4CD2-9A0F-9312CDDB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288536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Aceptación del servicio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C3AEF00-50BD-40CD-9857-D351060D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4288536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B269AA6-966E-4231-A726-A4AC5659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4389120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EEEBD63-E550-45E3-94C6-2124BF78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4288536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Seguimiento en tiempo real (GPS)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751B45D-6BD9-4D43-90BB-DBBEA08D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19472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816860B6-C53C-4417-98CA-663FB41C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020056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9870C16-54C2-4605-97F7-AABF2845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919472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Fotos antes / después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4F6284AB-9EAD-47C2-823C-87E21EBD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4919472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1B40378A-F70B-4958-8C38-768A4C6D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5020056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515B2D5-C9D8-42C9-BB7D-C9909E0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4919472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Historial y calificaciones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2A9677E5-BC4F-48E2-87E6-B063CC91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50408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1133EDB-274B-41F4-AA8A-01986486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650992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0D2CBAA3-BB05-4836-9B21-768CDB60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5550408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Billetera con escrow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A46545BB-8EA6-4D62-940A-E8354045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5550408"/>
            <a:ext cx="3703320" cy="512064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B386C7F2-30BF-4695-B823-125BE375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5650992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B66A11"/>
                </a:solidFill>
                <a:latin typeface="Aptos"/>
                <a:ea typeface="Aptos"/>
                <a:cs typeface="Aptos"/>
              </a:rPr>
              <a:t>◷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5F2FB5E-DFC8-43BD-A8C0-8CC290A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5550408"/>
            <a:ext cx="309981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Pagos reales (pasarela)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1CA49C49-0058-4734-9EFC-C6948458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395728"/>
            <a:ext cx="2542032" cy="1874519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6F9640B4-0B73-4046-879D-56B8A49D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560320"/>
            <a:ext cx="2194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00" b="1">
                <a:solidFill>
                  <a:srgbClr val="0A2A4A"/>
                </a:solidFill>
                <a:latin typeface="Aptos Display"/>
                <a:ea typeface="Aptos Display"/>
                <a:cs typeface="Aptos Display"/>
              </a:rPr>
              <a:t>Leyenda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92EFB019-DB82-46B5-B8CC-F272DB1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999232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B9EDB4F-2197-4EB5-AD6E-07894C42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99232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Implementado</a:t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05D2317C-B9C9-4173-BC52-180BF655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456432"/>
            <a:ext cx="310896" cy="31089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00" b="1">
                <a:solidFill>
                  <a:srgbClr val="B66A11"/>
                </a:solidFill>
                <a:latin typeface="Aptos"/>
                <a:ea typeface="Aptos"/>
                <a:cs typeface="Aptos"/>
              </a:rPr>
              <a:t>◷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5C958AF5-A039-4BED-9CEE-D69E05C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456432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Proyectado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0B803641-FE3B-42C1-84F2-1877954D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877056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100" b="0">
                <a:solidFill>
                  <a:srgbClr val="0A2A4A"/>
                </a:solidFill>
                <a:latin typeface="Aptos"/>
                <a:ea typeface="Aptos"/>
                <a:cs typeface="Aptos"/>
              </a:rPr>
              <a:t>11 funciones ya operativas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EB468556-BC6A-4939-9D40-4D79DFF9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Splash  ·  Capstone PTY4614  ·  Fase 1 – Definición Proyecto APT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0CFA9098-D39C-44F6-A96C-B03695E1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1908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6493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D65A0A22-79B1-41A0-B62B-91091D57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"/>
            <a:ext cx="310896" cy="27432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E000DCA-5F65-4272-AC2B-EAF04293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6692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FUNCIONAMIENTO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1F98F8-5602-41AA-B6B9-2F0EDD85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09650"/>
            <a:ext cx="6858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238"/>
                </a:solidFill>
              </a:defRPr>
            </a:pPr>
            <a:r>
              <a:rPr sz="255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Del pedido al servicio: flujo real de Splash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B5E3E5A-D007-452B-ADAC-0AC980E7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051560"/>
            <a:ext cx="1554480" cy="36576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0A2A4A"/>
                </a:solidFill>
                <a:latin typeface="Aptos"/>
                <a:ea typeface="Aptos"/>
                <a:cs typeface="Aptos"/>
              </a:rPr>
              <a:t>Cliente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1DD673C-01E2-49A9-84E4-9E3DC9A2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051560"/>
            <a:ext cx="1783080" cy="36576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Sistema / Lavador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6146908-9B8A-4B2E-A4C1-C6FFB43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1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FE14B04-FDFC-40DB-B5ED-B37D5F93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020824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055BD9B-72FA-49F2-8572-2F79340A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78024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Registro / Login</a:t>
            </a: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D9BCE5F2-7853-4B6B-AEDF-FCABA411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2322576"/>
            <a:ext cx="29260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235C381-24C7-4D65-90E0-3391A06E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187451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1B39FD7-B88C-4893-A5BF-00FDF219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2020824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B839532-F41C-4B4A-89A9-D3A8DAD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2478024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Registra vehículo</a:t>
            </a:r>
          </a:p>
        </p:txBody>
      </p:sp>
      <p:sp>
        <p:nvSpPr>
          <p:cNvPr id="14" name="Right Arrow 13">
            <a:extLst xmlns:a="http://schemas.openxmlformats.org/drawingml/2006/main">
              <a:ext uri="{FF2B5EF4-FFF2-40B4-BE49-F238E27FC236}">
                <a16:creationId xmlns:a16="http://schemas.microsoft.com/office/drawing/2014/main" id="{58D9DB95-EECF-4F2B-AFAA-C5DA604F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2322576"/>
            <a:ext cx="29260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BE04C4C-8A12-4702-AE3B-0CF22F68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187451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D4AE201-C7B4-4A29-9AD2-9E6A856F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2020824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C1FFA4E-B5A6-4D6F-B17B-C276270F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2478024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Selecciona servicio</a:t>
            </a:r>
          </a:p>
        </p:txBody>
      </p:sp>
      <p:sp>
        <p:nvSpPr>
          <p:cNvPr id="18" name="Right Arrow 17">
            <a:extLst xmlns:a="http://schemas.openxmlformats.org/drawingml/2006/main">
              <a:ext uri="{FF2B5EF4-FFF2-40B4-BE49-F238E27FC236}">
                <a16:creationId xmlns:a16="http://schemas.microsoft.com/office/drawing/2014/main" id="{E6E806E9-177B-4655-BDB5-BB49E8E3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2322576"/>
            <a:ext cx="29260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3729C67-3F45-4B7E-822E-9E95F046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87451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31BFDB1-51FF-406C-B14E-A4DD8B9C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2020824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D9EA29A-E9B3-4561-AAA7-FAEDD9C0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59" y="2478024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Solicita lavado</a:t>
            </a:r>
          </a:p>
        </p:txBody>
      </p:sp>
      <p:sp>
        <p:nvSpPr>
          <p:cNvPr id="22" name="Right Arrow 21">
            <a:extLst xmlns:a="http://schemas.openxmlformats.org/drawingml/2006/main">
              <a:ext uri="{FF2B5EF4-FFF2-40B4-BE49-F238E27FC236}">
                <a16:creationId xmlns:a16="http://schemas.microsoft.com/office/drawing/2014/main" id="{30CF80B5-3646-4BE6-99FF-115F3E84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2322576"/>
            <a:ext cx="29260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70835E9F-7D96-470A-BF37-B10B7909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187451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0CEA83C-FC79-409F-A0BF-0DE2DBF5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020824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001BC06-90CA-42DB-930B-DE8A6FA6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2478024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Sistema busca lavador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226C64C2-42F5-4E20-8AB3-0E8DCF2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7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CB4BC0C1-D315-4B5F-BB6F-CCC28034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758183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9536096-8A20-4509-A1C5-0B2D54A9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3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Lavador acepta</a:t>
            </a:r>
          </a:p>
        </p:txBody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9E575ED1-3E42-4D08-84AA-2EA091AF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4059935"/>
            <a:ext cx="29260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138B700D-3D45-43A2-9840-275767F1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361187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D0481E1C-BBDA-42D8-A6B4-C79BDDD4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3758183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B0E39985-1044-4BE4-AEF0-20C1F66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4215383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En camino</a:t>
            </a:r>
          </a:p>
        </p:txBody>
      </p:sp>
      <p:sp>
        <p:nvSpPr>
          <p:cNvPr id="33" name="Right Arrow 32">
            <a:extLst xmlns:a="http://schemas.openxmlformats.org/drawingml/2006/main">
              <a:ext uri="{FF2B5EF4-FFF2-40B4-BE49-F238E27FC236}">
                <a16:creationId xmlns:a16="http://schemas.microsoft.com/office/drawing/2014/main" id="{3C5BF640-B169-40DB-A232-EE7F8427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4059935"/>
            <a:ext cx="29260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33D8A90-FCA4-432A-A013-589CEA22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61187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AE1D1288-577D-4173-8CD1-912F9CB9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3758183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80653FC-E504-4413-8B15-EED8187B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4215383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En proceso</a:t>
            </a:r>
          </a:p>
        </p:txBody>
      </p:sp>
      <p:sp>
        <p:nvSpPr>
          <p:cNvPr id="37" name="Right Arrow 36">
            <a:extLst xmlns:a="http://schemas.openxmlformats.org/drawingml/2006/main">
              <a:ext uri="{FF2B5EF4-FFF2-40B4-BE49-F238E27FC236}">
                <a16:creationId xmlns:a16="http://schemas.microsoft.com/office/drawing/2014/main" id="{5323CE07-20A6-4780-BB85-32D341D5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4059935"/>
            <a:ext cx="29260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A510CA1D-438E-4C87-9EC9-C31D1078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61187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C116211F-DB83-4074-ABBC-307F916F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536" y="3758183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8B113D0E-D8CF-4A2B-9F6F-D5F0F9F8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59" y="4215383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Completado</a:t>
            </a:r>
          </a:p>
        </p:txBody>
      </p:sp>
      <p:sp>
        <p:nvSpPr>
          <p:cNvPr id="41" name="Right Arrow 40">
            <a:extLst xmlns:a="http://schemas.openxmlformats.org/drawingml/2006/main">
              <a:ext uri="{FF2B5EF4-FFF2-40B4-BE49-F238E27FC236}">
                <a16:creationId xmlns:a16="http://schemas.microsoft.com/office/drawing/2014/main" id="{EF07C8E4-B026-474C-A2C5-4E0ACB0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4059935"/>
            <a:ext cx="292608" cy="274320"/>
          </a:xfrm>
          <a:prstGeom xmlns:a="http://schemas.openxmlformats.org/drawingml/2006/main" prst="right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FD4810D6-5127-4F70-B82F-9603DB9F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3611879"/>
            <a:ext cx="1993392" cy="1170432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88E30778-4F8F-48FA-BD94-5178168A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3758183"/>
            <a:ext cx="402336" cy="40233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795064E-A4D6-4E30-B1FD-3394C83A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215383"/>
            <a:ext cx="17739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</a:pPr>
            <a:r>
              <a:rPr sz="13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Confirmado + Historial</a:t>
            </a:r>
          </a:p>
        </p:txBody>
      </p:sp>
      <p:sp>
        <p:nvSpPr>
          <p:cNvPr id="45" name="Down Arrow 44">
            <a:extLst xmlns:a="http://schemas.openxmlformats.org/drawingml/2006/main">
              <a:ext uri="{FF2B5EF4-FFF2-40B4-BE49-F238E27FC236}">
                <a16:creationId xmlns:a16="http://schemas.microsoft.com/office/drawing/2014/main" id="{281D7819-EF77-48A4-B01D-E468F673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92" y="3099816"/>
            <a:ext cx="274320" cy="457200"/>
          </a:xfrm>
          <a:prstGeom xmlns:a="http://schemas.openxmlformats.org/drawingml/2006/main" prst="down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72AD0DF-D224-4E07-8D10-463D778E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120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Estados reales del servicio:  PENDIENTE → ACEPTADO → EN_CAMINO → EN_PROCESO → COMPLETADO → CONFIRMADO   ·   seguimiento por WebSocket (Socket.io).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746C90FE-6329-4951-8A71-E9DD2C86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Splash  ·  Capstone PTY4614  ·  Fase 1 – Definición Proyecto APT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425B33AB-3564-4499-9925-8AB4569F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1908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1639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EAE0105-7C38-4A67-8E5E-281D6805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"/>
            <a:ext cx="310896" cy="27432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0F16A9-3C6F-495E-B555-AB9F5418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6692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RELEVANCIA PARA LA CARRERA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A807B0-A42E-47B9-BA4A-6F1030CC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104775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132238"/>
                </a:solidFill>
              </a:defRPr>
            </a:pPr>
            <a:r>
              <a:rPr sz="2625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No es solo una interfaz: es una solución informática integral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EE5E83E-3D21-4AE6-9EDA-66D387C4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C77A1E-B04B-4B12-8710-AE7C5796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47672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💻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16A4A1-181A-4D7F-929A-5DEB1EBC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6312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Desarrollo de software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816328F-DBD9-4CBB-BED0-FEB67622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1783080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F7FA44-2D8D-400D-87F5-323089AB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1947672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📱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577E166-5EF7-458E-85DD-C9CF9FDF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496312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Apps móviles / web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0FA162F-B768-4380-A452-622BF63D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1783080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9E01712-7157-4251-9821-7A928974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1947672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🔗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013FECA-7DDA-479C-8E66-C88A212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96312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APIs y servicios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BE766D9-9113-40DE-9095-2479012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783080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9408AC2-3EA8-4FC8-B477-71DC3465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1947672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🗄️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61D5010-864D-4E94-BB88-D6F69376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1" y="2496312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Bases de datos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35B8721-341F-4ED1-91D4-91F2071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1783080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CA50C43-A3B1-4347-AA96-302A75A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1947672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🔐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D0D5EAB-26C5-4733-B831-F8D26606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496312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Autenticación y seguridad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8D7760BA-BBC0-4273-BE2E-896C0668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73552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FB21B56-97DF-4765-9E96-E609A5A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38144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⚙️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B34C07C-8C87-492A-A28F-23FE84B8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6784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Lógica de negocio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C27333A0-75B4-453C-B5D2-0FA08281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3273552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3F65BA9-5A14-45A2-BC8A-1309228F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3438144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🎨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EA2641F-F470-40AB-952A-83AD288E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986784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Experiencia de usuario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B1FA3F4A-0CA3-4687-8DAC-299A8CD0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273552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B5A5F0E-7284-46F3-B094-E0318349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438144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13FC45D-4253-4414-94EA-EC3A2C7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986784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Pruebas de software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C54B662-757C-4FD6-A57B-5250E1BF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273552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2F8B047-9880-457C-A879-A30E300E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231" y="3438144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🧩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918454C-B52F-46BB-90E5-232BB5D4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1" y="3986784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Integración de componentes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90B95FF3-13B3-471F-B03B-31C4C5D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3273552"/>
            <a:ext cx="1993392" cy="12344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A9F0E24-6EB5-4ABE-9B09-FD6BDEB6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56" y="3438144"/>
            <a:ext cx="19933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5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📋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A00492E-6977-4A77-AE07-DF93D295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3986784"/>
            <a:ext cx="18105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</a:pPr>
            <a:r>
              <a:rPr sz="1200" b="1">
                <a:solidFill>
                  <a:srgbClr val="26364A"/>
                </a:solidFill>
                <a:latin typeface="Aptos Display"/>
                <a:ea typeface="Aptos Display"/>
                <a:cs typeface="Aptos Display"/>
              </a:rPr>
              <a:t>Gestión de proyecto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2F213B9-9221-4D14-BD2A-198E213A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543032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Splash integra frontend, backend, datos, tiempo real, seguridad y gestión: el rango completo de competencias de Ingeniería en Informática.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F831BCF-B22C-48CC-92BF-A65DE14E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Splash  ·  Capstone PTY4614  ·  Fase 1 – Definición Proyecto APT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E52FCC3-E242-485F-BB6C-3B46C20D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1908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41864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8794B1E3-4F43-42C9-80D7-CC0F71D4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"/>
            <a:ext cx="310896" cy="27432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56BD716-C363-4290-B04A-E79321C7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6692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PERFIL DE EGRESO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F7EDC8B-7B20-466E-95DC-1A09E478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32688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30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Cuatro competencias de especialidad integradas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FCF1D39-B98F-4982-A5CB-F2BE341E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5138928" cy="196596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CD9D814-737C-4919-8D08-FBD675F7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128016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93D9BFF-B01C-4BDB-86DD-12BD0264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075688"/>
            <a:ext cx="658368" cy="65836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4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✅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2F7308-15D7-4B8E-92F5-24B7560D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093976"/>
            <a:ext cx="37673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155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Pruebas y validación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4D946FD-8035-4014-B24E-8A97F844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862072"/>
            <a:ext cx="45354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18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Diseño y ejecución de pruebas sobre funciones críticas: autenticación, vehículos, solicitudes, precios, estados y cancelaciones.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C64CEF4-58BC-4718-866B-DB7E4CA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783080"/>
            <a:ext cx="5138928" cy="196596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5BC8348-CFE9-40C6-AC03-F2059AB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783080"/>
            <a:ext cx="128016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AE078E2-523D-4517-87B0-3FB171DC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075688"/>
            <a:ext cx="658368" cy="65836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4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📋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2C27480-11EC-48CF-9D83-D9D5D317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093976"/>
            <a:ext cx="37673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155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Gestión de proyectos informáticos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FB60A63-6A43-4F9C-9DB0-167C227E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45354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18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Levantamiento de requerimientos, priorización, planificación y seguimiento del desarrollo durante el semestre.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A0F1D09-414B-4B36-9034-829936F6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05072"/>
            <a:ext cx="5138928" cy="196596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2D36588-0241-4545-9225-B671CB45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05072"/>
            <a:ext cx="128016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F804B40-1BA9-49E3-8E47-C7C76C8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297680"/>
            <a:ext cx="658368" cy="65836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4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🗄️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26F8050-AB56-4B33-9135-59047F1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315968"/>
            <a:ext cx="37673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155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Modelos de datos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12E9C78-53A1-429E-B663-A5388364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5084064"/>
            <a:ext cx="45354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18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Diseño del modelo relacional (12 entidades) con Prisma: usuarios, vehículos, lavados, billetera, calificaciones y más.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9AB9B890-11B4-4B89-A0A0-A9263392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05072"/>
            <a:ext cx="5138928" cy="196596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77F776A-523A-4169-975D-018BFD1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4005072"/>
            <a:ext cx="128016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2748DCE-2C0B-4DB6-8966-F85768B3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297680"/>
            <a:ext cx="658368" cy="65836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4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💻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F478A08-239B-4A8A-8AF8-76927BE4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4315968"/>
            <a:ext cx="37673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</a:pPr>
            <a:r>
              <a:rPr sz="155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Desarrollo de software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4555824-B7F7-4E78-89C2-5E4DDD8F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84064"/>
            <a:ext cx="45354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18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Construcción e integración de apps móviles, API REST, WebSocket y panel web como una solución completa.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1E360B8-6A14-4B86-BB4A-B41016F6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Splash  ·  Capstone PTY4614  ·  Fase 1 – Definición Proyecto APT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DDCFBF7-560D-4EA7-8F18-4594AA74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1908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1576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14348A54-73BC-4D6B-91B7-EB8DA053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"/>
            <a:ext cx="310896" cy="27432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81B1556-B742-44ED-BE69-0754AD08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6692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ARQUITECTURA Y TECNOLOGÍAS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914E886-600D-4267-90FF-09D8D6EF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32688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30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Arquitectura real de Splash, de la app a los datos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4D31666-3881-431D-A04B-D2C8E6B1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10543032" cy="1024128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44A7AAA-493F-47A1-9EAF-C5C73F5A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146304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6DAC724-F1C1-46F9-9E18-CA55EF09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83080"/>
            <a:ext cx="246888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0A2A4A"/>
                </a:solidFill>
                <a:latin typeface="Aptos Display"/>
                <a:ea typeface="Aptos Display"/>
                <a:cs typeface="Aptos Display"/>
              </a:rPr>
              <a:t>Aplicaciones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472A890-F60B-49BE-BA42-628912A3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075687"/>
            <a:ext cx="2367381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App Cliente · React Native + Expo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D37CCD-5D90-4E57-B4C1-4DBFD849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29" y="2075687"/>
            <a:ext cx="2367381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App Lavador · React Native + Expo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6CB625A-EBDC-4DD1-9072-131C491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539" y="2075687"/>
            <a:ext cx="1766620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Panel Admin · Web (HTML)</a:t>
            </a:r>
          </a:p>
        </p:txBody>
      </p:sp>
      <p:sp>
        <p:nvSpPr>
          <p:cNvPr id="11" name="Down Arrow 10">
            <a:extLst xmlns:a="http://schemas.openxmlformats.org/drawingml/2006/main">
              <a:ext uri="{FF2B5EF4-FFF2-40B4-BE49-F238E27FC236}">
                <a16:creationId xmlns:a16="http://schemas.microsoft.com/office/drawing/2014/main" id="{F04B4A51-C7BD-425A-8F65-441B6FA8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172" y="2788920"/>
            <a:ext cx="310896" cy="146304"/>
          </a:xfrm>
          <a:prstGeom xmlns:a="http://schemas.openxmlformats.org/drawingml/2006/main" prst="down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627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E3DDFB8-5803-4D14-A985-F401E7EB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35224"/>
            <a:ext cx="10543032" cy="1024128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68202C-EDB1-41A4-B57A-53771C30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35224"/>
            <a:ext cx="146304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C97C4FA-AA50-40D6-AD23-8AEE944D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5224"/>
            <a:ext cx="246888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168763"/>
                </a:solidFill>
                <a:latin typeface="Aptos Display"/>
                <a:ea typeface="Aptos Display"/>
                <a:cs typeface="Aptos Display"/>
              </a:rPr>
              <a:t>API / Backend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25DD74E-E238-4B4E-89FC-6C915C0A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227832"/>
            <a:ext cx="2300630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Node.js + Express 5 · TypeScript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304910B-19E4-4E3E-AA0C-99532F8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78" y="3227832"/>
            <a:ext cx="1699869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Socket.io (tiempo real)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FD6EC43-4C7D-4C12-9016-AFC3BA1C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75" y="3227832"/>
            <a:ext cx="2468880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JWT · bcrypt · Zod · Helmet · Rate limit</a:t>
            </a:r>
          </a:p>
        </p:txBody>
      </p:sp>
      <p:sp>
        <p:nvSpPr>
          <p:cNvPr id="18" name="Down Arrow 17">
            <a:extLst xmlns:a="http://schemas.openxmlformats.org/drawingml/2006/main">
              <a:ext uri="{FF2B5EF4-FFF2-40B4-BE49-F238E27FC236}">
                <a16:creationId xmlns:a16="http://schemas.microsoft.com/office/drawing/2014/main" id="{6BE52A9E-BDF2-43C6-8FB2-4DC84440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172" y="3941064"/>
            <a:ext cx="310896" cy="146304"/>
          </a:xfrm>
          <a:prstGeom xmlns:a="http://schemas.openxmlformats.org/drawingml/2006/main" prst="down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627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508F0E-1446-4802-8CA2-47E494CE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87368"/>
            <a:ext cx="10543032" cy="1024128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FD47098-14AC-4A18-8175-5C25CEE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87368"/>
            <a:ext cx="146304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1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A7B312E-207B-449C-855C-39C5E65D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87368"/>
            <a:ext cx="246888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B66A11"/>
                </a:solidFill>
                <a:latin typeface="Aptos Display"/>
                <a:ea typeface="Aptos Display"/>
                <a:cs typeface="Aptos Display"/>
              </a:rPr>
              <a:t>Datos (ORM + BD)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2D477B0-196E-48A5-B96B-F5A1A18F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379975"/>
            <a:ext cx="965606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Prisma ORM 7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CF41913-36C0-429B-B1BD-72413FC5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654" y="4379975"/>
            <a:ext cx="1966874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SQLite (dev) · 12 entidades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7279321-F202-49C8-91D0-9A97E772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256" y="4379975"/>
            <a:ext cx="2468880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→ PostgreSQL (producción, proyectado)</a:t>
            </a:r>
          </a:p>
        </p:txBody>
      </p:sp>
      <p:sp>
        <p:nvSpPr>
          <p:cNvPr id="25" name="Down Arrow 24">
            <a:extLst xmlns:a="http://schemas.openxmlformats.org/drawingml/2006/main">
              <a:ext uri="{FF2B5EF4-FFF2-40B4-BE49-F238E27FC236}">
                <a16:creationId xmlns:a16="http://schemas.microsoft.com/office/drawing/2014/main" id="{0329BDBB-910E-42F5-B3FA-4EAE9E36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172" y="5093208"/>
            <a:ext cx="310896" cy="146304"/>
          </a:xfrm>
          <a:prstGeom xmlns:a="http://schemas.openxmlformats.org/drawingml/2006/main" prst="downArrow">
            <a:avLst>
              <a:gd name="adj1" fmla="val 55000"/>
              <a:gd name="adj2" fmla="val 55000"/>
            </a:avLst>
          </a:prstGeom>
          <a:solidFill xmlns:a="http://schemas.openxmlformats.org/drawingml/2006/main">
            <a:srgbClr val="627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7B3D8EA-B139-4E6A-AFED-4A499656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39512"/>
            <a:ext cx="10543032" cy="1024128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1EE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B2AF971-6935-42B9-B33F-4BFCD6D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39512"/>
            <a:ext cx="146304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1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F09CB9D-F845-487F-8DFA-CFB0595B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9512"/>
            <a:ext cx="246888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6551A5"/>
                </a:solidFill>
                <a:latin typeface="Aptos Display"/>
                <a:ea typeface="Aptos Display"/>
                <a:cs typeface="Aptos Display"/>
              </a:rPr>
              <a:t>Servicios integrados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579BE4AF-2F32-4576-B6F2-E6EFB115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532119"/>
            <a:ext cx="1699869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Expo Push Notifications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3B79AD3-C297-467B-9E13-68DBDEB0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917" y="5532119"/>
            <a:ext cx="1232611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MapLibre (mapas)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EF9FFF0D-2456-4A15-B6B6-F85F53B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256" y="5532119"/>
            <a:ext cx="2468880" cy="438912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Geolocalización GPS (expo-location)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A772443-E4D8-4900-A18C-BB13122B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Splash  ·  Capstone PTY4614  ·  Fase 1 – Definición Proyecto APT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C7D7297-7AF9-48BD-BE89-321A4178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1908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65093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A896C1E4-E6D8-4799-9C92-676CD75E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"/>
            <a:ext cx="310896" cy="27432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CC1781-E5BF-42DA-A650-1B99A2E9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6692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FACTIBILIDAD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EDD27F3-3309-4EA8-98CE-08F59F3F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32688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30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Desarrollable en un semestre de Capstone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6E999D4-D9BF-4EF5-8B39-DEA28D07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5138928" cy="1938528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751D97E-E184-4C47-8035-ADDBB643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057400"/>
            <a:ext cx="658368" cy="65836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⏱️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73E8756-5DBC-4F64-9942-224A7317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2093976"/>
            <a:ext cx="38587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Tiempo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78E718E-5B78-43EC-A613-52CAA207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2843784"/>
            <a:ext cx="453542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20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Base ya construida; se avanza por etapas priorizando funciones críticas dentro del semestre.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48E946E-4059-4B07-9FB7-F17D656E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783080"/>
            <a:ext cx="5138928" cy="1938528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8DA81E6-FA4F-4FE4-AF7D-A9D158FF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057400"/>
            <a:ext cx="658368" cy="65836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🧰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B1AC724-DB36-4019-B92C-2C22C81E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2093976"/>
            <a:ext cx="38587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168763"/>
                </a:solidFill>
                <a:latin typeface="Aptos Display"/>
                <a:ea typeface="Aptos Display"/>
                <a:cs typeface="Aptos Display"/>
              </a:rPr>
              <a:t>Recursos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948D270-DFB8-453E-B09E-7EB3D584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43784"/>
            <a:ext cx="453542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20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Equipos, herramientas de desarrollo, repositorio y stack (Expo, Node, Prisma) ya en uso, de bajo costo.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57E22C7-9A3D-41B7-9A80-75D2CAAE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59352"/>
            <a:ext cx="5138928" cy="1938528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FC6661D-09FD-4E3C-839D-59497C55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233672"/>
            <a:ext cx="658368" cy="65836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📊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81BB3AA-807A-4931-A8ED-EDB031BC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4270248"/>
            <a:ext cx="38587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B66A11"/>
                </a:solidFill>
                <a:latin typeface="Aptos Display"/>
                <a:ea typeface="Aptos Display"/>
                <a:cs typeface="Aptos Display"/>
              </a:rPr>
              <a:t>Estado actual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C4254C8-21C1-4EAD-917A-ABBD7BA5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5020056"/>
            <a:ext cx="453542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20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Auth, vehículos, solicitudes, estados, tracking, fotos, billetera y panel admin ya operativos.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3E28213-2E18-4E9B-A767-724FAF36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3959352"/>
            <a:ext cx="5138928" cy="1938528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982BFA3-25F6-4C90-8297-4625E31D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233672"/>
            <a:ext cx="658368" cy="658368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30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⚠️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5E15859-7090-4108-B38E-1E368DF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4270248"/>
            <a:ext cx="3858768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C84545"/>
                </a:solidFill>
                <a:latin typeface="Aptos Display"/>
                <a:ea typeface="Aptos Display"/>
                <a:cs typeface="Aptos Display"/>
              </a:rPr>
              <a:t>Riesgos y mitigación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1F7044C-E428-48D7-825E-74709E2A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020056"/>
            <a:ext cx="453542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</a:pPr>
            <a:r>
              <a:rPr sz="120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Pagos, mapas visuales, notificaciones y compatibilidad de dispositivos → abordados por etapas.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8AFCD3-0932-4F21-B364-7C2ED89C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Splash  ·  Capstone PTY4614  ·  Fase 1 – Definición Proyecto APT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9319058-3F1D-42EF-BE05-BD850971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1908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3242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A0CF77DE-4E25-48AF-8296-AD70ACA4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"/>
            <a:ext cx="310896" cy="27432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8D7D27-0C54-42EF-9AF2-7B23515C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56692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50" b="1">
                <a:solidFill>
                  <a:srgbClr val="164E86"/>
                </a:solidFill>
                <a:latin typeface="Aptos Display"/>
                <a:ea typeface="Aptos Display"/>
                <a:cs typeface="Aptos Display"/>
              </a:rPr>
              <a:t>ALCANCE DE CAPSTONE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A4AFE47-2458-460F-958E-27773553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32688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300" b="1">
                <a:solidFill>
                  <a:srgbClr val="132238"/>
                </a:solidFill>
                <a:latin typeface="Aptos Display"/>
                <a:ea typeface="Aptos Display"/>
                <a:cs typeface="Aptos Display"/>
              </a:rPr>
              <a:t>Un alcance realista para el semestre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279DD28-D874-45BF-BD01-F8F54E3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5138928" cy="41605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4AEB49-B6D4-4FAC-82A2-3E8C09B7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5138928" cy="685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6876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  Incluido en el alcance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64F158A-5A95-4D98-83F2-452D2E25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97DCA76-3392-42D9-8AA5-FF96E0F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97480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Consolidar autenticación y roles (cliente / lavador / admin)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EC06A0-3C21-44E1-B9B1-95E967FC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32404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57E34E4-3BDE-4D3E-82FA-2C880196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2404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Flujo completo de solicitud y máquina de estados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5DA885-8B8D-47AA-A5E6-7088F99F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67328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21E5968-F6F5-46F9-B17E-0D17B9A8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67328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Seguimiento en tiempo real y evidencia con fotos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0564C63-11E8-4EDB-86FE-1DA8711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302252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F01B18E-F09C-4ED3-8326-03F75441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2252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Billetera con escrow y cálculo de precios/comisión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2AFFABC-A549-432C-9EE6-2AE8928D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37176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D68F959-9589-4728-95B5-24415E73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37176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Calificaciones, disputas y notificaciones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F3CBD53-618D-4863-A514-07BB0207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37210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1687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949D1CF-7D5E-4F34-ABC2-C3BDF1DD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72100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Diseño responsive y pruebas de funciones críticas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81CD550-C697-4F34-915C-45D5B496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783080"/>
            <a:ext cx="5138928" cy="41605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2700">
            <a:solidFill>
              <a:srgbClr val="DCE5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A1004324-BB8C-4DDE-B60A-2C7F15BC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783080"/>
            <a:ext cx="5138928" cy="6858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62728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tIns="36576" bIns="36576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→  Fuera del alcance / futuro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8F53593-4C90-4C16-AF2A-CB9086B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269748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5B2E13F-F84B-45ED-B70F-A4A29449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2697480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Pagos reales con pasarela (WebPay / Transbank)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91A18D7-0E71-4C65-B69C-A3AEF9A8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3232404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684D0A0-13FF-45DC-A5F1-035682C2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3232404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Mapa visual en vivo de nivel producción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12E2FB8-3B2A-474C-8AE8-0B32C111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3767328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7969004-7E32-4B07-A786-0B3495FE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3767328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Planes de suscripción (SPLASH / SPLASH_PRO)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82ED436-90DC-44BE-8456-69753DBB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4302252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DB6913-9D57-4851-A2D7-7521836F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4302252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Catálogo de productos aprobados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6A17F33-B838-467E-96D1-72CEDBAE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4837176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47D132E-506F-4428-A997-FF52A79B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4837176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Verificación formal de antecedentes de lavadores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8C0FF8D-FD0A-4DCF-8CC8-4F2C1F2A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372100"/>
            <a:ext cx="365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0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1849C4C-6489-41B9-8827-F90A4B67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5372100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</a:pPr>
            <a:r>
              <a:rPr sz="1250" b="0">
                <a:solidFill>
                  <a:srgbClr val="26364A"/>
                </a:solidFill>
                <a:latin typeface="Aptos"/>
                <a:ea typeface="Aptos"/>
                <a:cs typeface="Aptos"/>
              </a:rPr>
              <a:t>Migración a PostgreSQL y despliegue / hosting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17D301D-8A75-4F3B-A94A-35E2D432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1908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50" b="0">
                <a:solidFill>
                  <a:srgbClr val="627287"/>
                </a:solidFill>
                <a:latin typeface="Aptos"/>
                <a:ea typeface="Aptos"/>
                <a:cs typeface="Aptos"/>
              </a:rPr>
              <a:t>Splash  ·  Capstone PTY4614  ·  Fase 1 – Definición Proyecto APT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8662D07-424E-4E41-A75A-7DDCDEA9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1908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50" b="1">
                <a:solidFill>
                  <a:srgbClr val="62728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18881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4E8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5AC37471-502B-44C7-BED7-E39965C2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-2194560"/>
            <a:ext cx="6035040" cy="6035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8C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359851DE-1269-48C1-A46A-A9A86E35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45920" y="4023360"/>
            <a:ext cx="4023360" cy="402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c0beae0f5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41848" y="1051560"/>
            <a:ext cx="1463040" cy="146304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6BF106-9F42-4CF1-B01D-BA2255AB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104241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6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Splash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26923F-5B6A-452A-8807-9E583140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886200"/>
            <a:ext cx="907999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1700" b="0">
                <a:solidFill>
                  <a:srgbClr val="EAF2FA"/>
                </a:solidFill>
                <a:latin typeface="Aptos"/>
                <a:ea typeface="Aptos"/>
                <a:cs typeface="Aptos"/>
              </a:rPr>
              <a:t>Una solución digital que moderniza la forma en que los usuarios solicitan y gestionan servicios de lavado de vehículos, integrando desarrollo de software, gestión de datos, pruebas y gestión de proyectos.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358691-D4FF-4502-BA0F-0F1D95A1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1042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250" b="1">
                <a:solidFill>
                  <a:srgbClr val="B9D7F2"/>
                </a:solidFill>
                <a:latin typeface="Aptos"/>
                <a:ea typeface="Aptos"/>
                <a:cs typeface="Aptos"/>
              </a:rPr>
              <a:t>Proyecto APT  ·  Capstone PTY4614  ·  Fase 1</a:t>
            </a:r>
          </a:p>
        </p:txBody>
      </p:sp>
    </p:spTree>
    <p:extLst>
      <p:ext uri="{BB962C8B-B14F-4D97-AF65-F5344CB8AC3E}">
        <p14:creationId xmlns:p14="http://schemas.microsoft.com/office/powerpoint/2010/main" val="8577434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2026-08-18T00:07:29.1880000Z</dcterms:created>
  <dcterms:modified xsi:type="dcterms:W3CDTF">2026-08-18T00:07:29.1880000Z</dcterms:modified>
</coreProperties>
</file>